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25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E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pPr indent="0" marL="0">
              <a:buNone/>
            </a:pPr>
            <a:r>
              <a:rPr lang="en-US" sz="2000" b="1" dirty="0">
                <a:solidFill>
                  <a:srgbClr val="D98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buNone/>
            </a:pPr>
            <a:r>
              <a:rPr lang="en-US" sz="2000" b="1" dirty="0">
                <a:solidFill>
                  <a:srgbClr val="DCE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148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 &amp; Finance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AFC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Meeting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58368" y="42519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3D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 ·  Financing  ·  Structure  ·  Expectations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58368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FC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— grounded in current numbers. Nothing sugar-coated.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WE’RE ANSWERING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meeting decides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249424"/>
            <a:ext cx="402336" cy="402336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02996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554480" y="243230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it, where it stands, the bug to fix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182880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84848" y="2249424"/>
            <a:ext cx="402336" cy="402336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1" name="Text 9"/>
          <p:cNvSpPr/>
          <p:nvPr/>
        </p:nvSpPr>
        <p:spPr>
          <a:xfrm>
            <a:off x="6784848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06640" y="202996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ACH problem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06640" y="243230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verification, not the fee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3712464"/>
            <a:ext cx="402336" cy="402336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349300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media attack plan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554480" y="389534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· TikTok · YouTube · Facebook + worker ads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92240" y="329184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84848" y="3712464"/>
            <a:ext cx="402336" cy="402336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21" name="Text 19"/>
          <p:cNvSpPr/>
          <p:nvPr/>
        </p:nvSpPr>
        <p:spPr>
          <a:xfrm>
            <a:off x="6784848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06640" y="349300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Year 1 budget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406640" y="389534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spend, and what we need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75488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32688" y="5175504"/>
            <a:ext cx="402336" cy="402336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5175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54480" y="495604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&amp; target dates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1554480" y="535838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what, and by when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92240" y="475488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84848" y="5175504"/>
            <a:ext cx="402336" cy="402336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31" name="Text 29"/>
          <p:cNvSpPr/>
          <p:nvPr/>
        </p:nvSpPr>
        <p:spPr>
          <a:xfrm>
            <a:off x="6784848" y="5175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406640" y="495604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Expectations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7406640" y="535838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“good” looks like in 90 days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10412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STRIPE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Stripe — it isn’t “just a card rail”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29384"/>
            <a:ext cx="146304" cy="146304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28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engine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05840" y="217627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billing, proration, card-on-file, auto-retry on failed cards.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825496"/>
            <a:ext cx="146304" cy="146304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72491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webhook is our access control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05840" y="307238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succeeds → plan unlocks. Payment state IS entitlement.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721608"/>
            <a:ext cx="146304" cy="146304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62102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scope near-zero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05840" y="3968496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checkout — we never touch a card number. No compliance burden.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4617720"/>
            <a:ext cx="146304" cy="146304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51713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Updater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05840" y="486460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Reissued/expiring cards update automatically. Silent retention.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03720" y="1828800"/>
            <a:ext cx="4663440" cy="3794760"/>
          </a:xfrm>
          <a:prstGeom prst="roundRect">
            <a:avLst>
              <a:gd name="adj" fmla="val 2169"/>
            </a:avLst>
          </a:prstGeom>
          <a:solidFill>
            <a:srgbClr val="FBF4EF"/>
          </a:solidFill>
          <a:ln w="12700">
            <a:solidFill>
              <a:srgbClr val="EBD9CD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7804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bug nobody flagged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78040" y="248716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once Stripe is set up, checkout will not work correctly.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78040" y="320040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 functions still reference dead tier names 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(SOLO, PRACTICE_PLUS, FIRM_PLUS)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never wire Surge. A firm could land on the wrong plan or fail checkout.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178040" y="489204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contained code fix — but it’s the gap between “set up” and “a firm can actually pay.”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10412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STRIPE / PAYMENTS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just ACH / wire?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are the sales instrument. ACH &amp; wire are the savings instrument. Each is pointed at what it’s good at.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611880" cy="365760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31720"/>
            <a:ext cx="3611880" cy="566928"/>
          </a:xfrm>
          <a:prstGeom prst="roundRect">
            <a:avLst>
              <a:gd name="adj" fmla="val 14516"/>
            </a:avLst>
          </a:prstGeom>
          <a:solidFill>
            <a:srgbClr val="42574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3172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3108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approval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31089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36758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Self-serve, ~2 min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367588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424281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Automatable recurring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424281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6112" y="48097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BEFORE delivery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4809744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112" y="53766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payer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0" y="5376672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07992" y="2331720"/>
            <a:ext cx="3611880" cy="365760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07992" y="2331720"/>
            <a:ext cx="3611880" cy="566928"/>
          </a:xfrm>
          <a:prstGeom prst="roundRect">
            <a:avLst>
              <a:gd name="adj" fmla="val 14516"/>
            </a:avLst>
          </a:prstGeom>
          <a:solidFill>
            <a:srgbClr val="8A7A5E"/>
          </a:solidFill>
          <a:ln/>
        </p:spPr>
      </p:sp>
      <p:sp>
        <p:nvSpPr>
          <p:cNvPr id="20" name="Text 18"/>
          <p:cNvSpPr/>
          <p:nvPr/>
        </p:nvSpPr>
        <p:spPr>
          <a:xfrm>
            <a:off x="4507992" y="233172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64024" y="3108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approval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68312" y="31089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64024" y="36758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68312" y="367588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64024" y="424281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Automatable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68312" y="424281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verify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64024" y="48097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days AFTER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68312" y="4809744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64024" y="53766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payer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68312" y="5376672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75904" y="2331720"/>
            <a:ext cx="3611880" cy="365760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75904" y="2331720"/>
            <a:ext cx="3611880" cy="566928"/>
          </a:xfrm>
          <a:prstGeom prst="roundRect">
            <a:avLst>
              <a:gd name="adj" fmla="val 14516"/>
            </a:avLst>
          </a:prstGeom>
          <a:solidFill>
            <a:srgbClr val="A8512B"/>
          </a:solidFill>
          <a:ln/>
        </p:spPr>
      </p:sp>
      <p:sp>
        <p:nvSpPr>
          <p:cNvPr id="33" name="Text 31"/>
          <p:cNvSpPr/>
          <p:nvPr/>
        </p:nvSpPr>
        <p:spPr>
          <a:xfrm>
            <a:off x="8375904" y="233172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31936" y="3108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approval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936224" y="31089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631936" y="36758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936224" y="367588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631936" y="424281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Automatable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936224" y="424281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631936" y="48097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initiates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936224" y="4809744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631936" y="53766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payer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936224" y="5376672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$15–35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10412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THE ACH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It’s verification — not the fee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83280" cy="3657600"/>
          </a:xfrm>
          <a:prstGeom prst="roundRect">
            <a:avLst>
              <a:gd name="adj" fmla="val 2432"/>
            </a:avLst>
          </a:prstGeom>
          <a:solidFill>
            <a:srgbClr val="42574E"/>
          </a:solidFill>
          <a:ln/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Annual, by ACH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~$5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firm / year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~$191 by card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D3D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~$186 saved / firm — ~$9.3K/yr at 50 firms.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0" y="18745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friction (why it stalls):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43400" y="2377440"/>
            <a:ext cx="128016" cy="128016"/>
          </a:xfrm>
          <a:prstGeom prst="ellipse">
            <a:avLst/>
          </a:prstGeom>
          <a:solidFill>
            <a:srgbClr val="A8512B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240280"/>
            <a:ext cx="6903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is the killer — Stripe ACH makes the firm log into its bank in a vendor screen. Law firms refuse.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43400" y="3035808"/>
            <a:ext cx="128016" cy="128016"/>
          </a:xfrm>
          <a:prstGeom prst="ellipse">
            <a:avLst/>
          </a:prstGeom>
          <a:solidFill>
            <a:srgbClr val="A8512B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898648"/>
            <a:ext cx="6903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fails LATE — a return lands days after you already unlocked the plan.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43400" y="3694176"/>
            <a:ext cx="128016" cy="128016"/>
          </a:xfrm>
          <a:prstGeom prst="ellipse">
            <a:avLst/>
          </a:prstGeom>
          <a:solidFill>
            <a:srgbClr val="A8512B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3557016"/>
            <a:ext cx="6903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vs push — many firms’ policy only allows pushing payment, not being debited.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43400" y="4352544"/>
            <a:ext cx="128016" cy="128016"/>
          </a:xfrm>
          <a:prstGeom prst="ellipse">
            <a:avLst/>
          </a:prstGeom>
          <a:solidFill>
            <a:srgbClr val="A8512B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4215384"/>
            <a:ext cx="6903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can’t receive ACH at all until the entity + business bank account exist.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297680" y="5029200"/>
            <a:ext cx="7269480" cy="777240"/>
          </a:xfrm>
          <a:prstGeom prst="roundRect">
            <a:avLst>
              <a:gd name="adj" fmla="val 10588"/>
            </a:avLst>
          </a:prstGeom>
          <a:solidFill>
            <a:srgbClr val="E7EDE8"/>
          </a:solidFill>
          <a:ln w="12700">
            <a:solidFill>
              <a:srgbClr val="95AB9B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26280" y="50292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cohort: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force ACH pull. Invoice annual firms and let them push ACH or send a check. Skips the bank-login objection entirely.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10412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CARD COST — FOR PEOPLE WHO KNOW INTERCHANGE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Taking cards without paying so much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53212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7510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rate is fine for us — for now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commercial CREDIT (law-firm cards), 2.9% is at-or-near cost; Amex is a bargain. On debit it’s punitive — but firms don’t pay by debit. The usual “get off flat rate” advice doesn’t apply yet.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553212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32095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L2/L3 data saves nothing on flat rate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Interchange optimization only pays on interchange-plus, at volume. Do IC+ AND pass Level 2/3 data — together, later. Either alone leaves money on the table.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828800"/>
            <a:ext cx="5212080" cy="1097280"/>
          </a:xfrm>
          <a:prstGeom prst="roundRect">
            <a:avLst>
              <a:gd name="adj" fmla="val 7500"/>
            </a:avLst>
          </a:prstGeom>
          <a:solidFill>
            <a:srgbClr val="FBF4EF"/>
          </a:solidFill>
          <a:ln w="12700">
            <a:solidFill>
              <a:srgbClr val="EBD9CD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82880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discount, not the surcharge.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margin, far less regulatory surface — and it reads as a reward, not a penalty.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55080" y="3154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 we already control: annual billing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355080" y="3611880"/>
            <a:ext cx="521208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3611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by card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0" y="3611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~$195 / yr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5080" y="4178808"/>
            <a:ext cx="521208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41788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by card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01200" y="41788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~$191 / yr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4745736"/>
            <a:ext cx="5212080" cy="457200"/>
          </a:xfrm>
          <a:prstGeom prst="roundRect">
            <a:avLst>
              <a:gd name="adj" fmla="val 18000"/>
            </a:avLst>
          </a:prstGeom>
          <a:solidFill>
            <a:srgbClr val="42574E"/>
          </a:solidFill>
          <a:ln/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0" y="474573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by ACH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601200" y="474573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 / yr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5440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cards to close the deal — then incentivize annual-by-ACH with a real discount.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10412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SOCIAL MEDIA ATTACK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is the wedge — and it’s already working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3794760"/>
          </a:xfrm>
          <a:prstGeom prst="roundRect">
            <a:avLst>
              <a:gd name="adj" fmla="val 2169"/>
            </a:avLst>
          </a:prstGeom>
          <a:solidFill>
            <a:srgbClr val="42574E"/>
          </a:solidFill>
          <a:ln/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487168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real worker came from a personal Facebook post.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68680" y="352044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3D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spent. Organic. Someone in pain saw it, reached out, consented, and asked to be prepared for a consultation. The whole flywheel — from one post.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89204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isn’t a channel to test. It’s a proven wedge to scale.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349240" cy="3794760"/>
          </a:xfrm>
          <a:prstGeom prst="roundRect">
            <a:avLst>
              <a:gd name="adj" fmla="val 2169"/>
            </a:avLst>
          </a:prstGeom>
          <a:solidFill>
            <a:srgbClr val="E7EDE8"/>
          </a:solidFill>
          <a:ln w="12700">
            <a:solidFill>
              <a:srgbClr val="95AB9B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demand is already showing up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254203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are commenting on employment posts saying they want to use it — and some are out of state.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46520" y="36576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You’re handling it exactly right:  </a:t>
            </a:r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“Right now we serve California employees.”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45262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out-of-state interest on a waitlist — it costs nothing and becomes free proof of demand for the raise.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10412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SOCIAL MEDIA ATTACK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channels — and what each one is for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406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146304" cy="822960"/>
          </a:xfrm>
          <a:prstGeom prst="roundRect">
            <a:avLst>
              <a:gd name="adj" fmla="val 12500"/>
            </a:avLst>
          </a:prstGeom>
          <a:solidFill>
            <a:srgbClr val="A8512B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0482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Facebook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7008" y="24323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· relational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88720" y="272491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already works. Personal posts, community &amp; employment groups, DMs. Workers in pain trust a person, not a brand.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54406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56832" y="2084832"/>
            <a:ext cx="146304" cy="822960"/>
          </a:xfrm>
          <a:prstGeom prst="roundRect">
            <a:avLst>
              <a:gd name="adj" fmla="val 12500"/>
            </a:avLst>
          </a:prstGeom>
          <a:solidFill>
            <a:srgbClr val="42574E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20482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TikTok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67728" y="24323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· discovery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949440" y="272491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vertical video. The algorithm finds hurt workers you could never target by hand. Founder-on-camera beats polish.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54406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4096512"/>
            <a:ext cx="146304" cy="822960"/>
          </a:xfrm>
          <a:prstGeom prst="roundRect">
            <a:avLst>
              <a:gd name="adj" fmla="val 12500"/>
            </a:avLst>
          </a:prstGeom>
          <a:solidFill>
            <a:srgbClr val="8A7A5E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40599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YouTube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07008" y="44439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· search + trust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88720" y="473659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 &amp; searchable. “How to request your California employment records.” Ranks for exactly what workers Google.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840480"/>
            <a:ext cx="54406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56832" y="4096512"/>
            <a:ext cx="146304" cy="822960"/>
          </a:xfrm>
          <a:prstGeom prst="roundRect">
            <a:avLst>
              <a:gd name="adj" fmla="val 12500"/>
            </a:avLst>
          </a:prstGeom>
          <a:solidFill>
            <a:srgbClr val="50808E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40599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67728" y="44439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· credibility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49440" y="473659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firm side. A standalone company page that reaches attorneys and builds trust — not a worker channel.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10412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SOCIAL MEDIA ATTACK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LinkedIn that stands on its own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160520" cy="3749040"/>
          </a:xfrm>
          <a:prstGeom prst="roundRect">
            <a:avLst>
              <a:gd name="adj" fmla="val 2195"/>
            </a:avLst>
          </a:prstGeom>
          <a:solidFill>
            <a:srgbClr val="FBF4EF"/>
          </a:solidFill>
          <a:ln w="12700">
            <a:solidFill>
              <a:srgbClr val="EBD9CD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542032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 presence rides on a personal profile — the brand sits on one person’s account and leaves with them.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448056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8B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needs a human to CREATE a page — but the page is owned by the org, not the creator.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0" y="1874520"/>
            <a:ext cx="6537960" cy="822960"/>
          </a:xfrm>
          <a:prstGeom prst="roundRect">
            <a:avLst>
              <a:gd name="adj" fmla="val 10000"/>
            </a:avLst>
          </a:prstGeom>
          <a:solidFill>
            <a:srgbClr val="FAFBF9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230368" y="2084832"/>
            <a:ext cx="402336" cy="402336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0" name="Text 8"/>
          <p:cNvSpPr/>
          <p:nvPr/>
        </p:nvSpPr>
        <p:spPr>
          <a:xfrm>
            <a:off x="5230368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06440" y="199339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Company Page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06440" y="230428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a separate entity from any person — it posts as one3seven, not as an individual.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2825496"/>
            <a:ext cx="6537960" cy="822960"/>
          </a:xfrm>
          <a:prstGeom prst="roundRect">
            <a:avLst>
              <a:gd name="adj" fmla="val 10000"/>
            </a:avLst>
          </a:prstGeom>
          <a:solidFill>
            <a:srgbClr val="F1F3E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230368" y="3035808"/>
            <a:ext cx="402336" cy="402336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5" name="Text 13"/>
          <p:cNvSpPr/>
          <p:nvPr/>
        </p:nvSpPr>
        <p:spPr>
          <a:xfrm>
            <a:off x="5230368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806440" y="294436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it with a company email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06440" y="325526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Create/verify it under admin@one3seven.com + the domain, not a personal login.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0" y="3776472"/>
            <a:ext cx="6537960" cy="822960"/>
          </a:xfrm>
          <a:prstGeom prst="roundRect">
            <a:avLst>
              <a:gd name="adj" fmla="val 10000"/>
            </a:avLst>
          </a:prstGeom>
          <a:solidFill>
            <a:srgbClr val="FAFBF9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30368" y="3986784"/>
            <a:ext cx="402336" cy="402336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20" name="Text 18"/>
          <p:cNvSpPr/>
          <p:nvPr/>
        </p:nvSpPr>
        <p:spPr>
          <a:xfrm>
            <a:off x="5230368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06440" y="389534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multiple admins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06440" y="42062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three admins — so it never depends on a single account.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0" y="4727448"/>
            <a:ext cx="6537960" cy="822960"/>
          </a:xfrm>
          <a:prstGeom prst="roundRect">
            <a:avLst>
              <a:gd name="adj" fmla="val 10000"/>
            </a:avLst>
          </a:prstGeom>
          <a:solidFill>
            <a:srgbClr val="F1F3E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230368" y="4937760"/>
            <a:ext cx="402336" cy="402336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25" name="Text 23"/>
          <p:cNvSpPr/>
          <p:nvPr/>
        </p:nvSpPr>
        <p:spPr>
          <a:xfrm>
            <a:off x="5230368" y="4937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806440" y="48463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profiles amplify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806440" y="5157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profiles share &amp; comment; the Page stays the source of truth.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10412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25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SOCIAL MEDIA ATTACK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Facebook ads for workers — the engine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46304" cy="146304"/>
          </a:xfrm>
          <a:prstGeom prst="ellipse">
            <a:avLst/>
          </a:prstGeom>
          <a:solidFill>
            <a:srgbClr val="D98A5E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556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2880360" y="1737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C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workers. Employment is a “Special Ad Category,” so the message does the targeting: “Fired unfairly in California? Walk into your consultation prepared.” The right people self-select.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770632"/>
            <a:ext cx="146304" cy="146304"/>
          </a:xfrm>
          <a:prstGeom prst="ellipse">
            <a:avLst/>
          </a:prstGeom>
          <a:solidFill>
            <a:srgbClr val="D98A5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880360" y="263347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C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only — matches what we can serve today. Out-of-state clicks route to the waitlist, not a dead end.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666744"/>
            <a:ext cx="146304" cy="146304"/>
          </a:xfrm>
          <a:prstGeom prst="ellipse">
            <a:avLst/>
          </a:prstGeom>
          <a:solidFill>
            <a:srgbClr val="D98A5E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547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880360" y="3529584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C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→ one3seven.com → free signup → organized file. The number that matters: cost per organized file. That’s your CAC.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4562856"/>
            <a:ext cx="146304" cy="146304"/>
          </a:xfrm>
          <a:prstGeom prst="ellipse">
            <a:avLst/>
          </a:prstGeom>
          <a:solidFill>
            <a:srgbClr val="D98A5E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44398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it clean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880360" y="4425696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C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— Meta lead forms / Conversions API + your cookieless web_events. Same data the pros use, none of the sensitive-page mess.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1828800"/>
            <a:ext cx="3794760" cy="3657600"/>
          </a:xfrm>
          <a:prstGeom prst="roundRect">
            <a:avLst>
              <a:gd name="adj" fmla="val 2250"/>
            </a:avLst>
          </a:prstGeom>
          <a:solidFill>
            <a:srgbClr val="35463E"/>
          </a:solidFill>
          <a:ln/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0100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start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28432" y="2523744"/>
            <a:ext cx="118872" cy="118872"/>
          </a:xfrm>
          <a:prstGeom prst="ellipse">
            <a:avLst/>
          </a:prstGeom>
          <a:solidFill>
            <a:srgbClr val="AFC3B4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23957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budget — $20–50/day.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28432" y="3182112"/>
            <a:ext cx="118872" cy="118872"/>
          </a:xfrm>
          <a:prstGeom prst="ellipse">
            <a:avLst/>
          </a:prstGeom>
          <a:solidFill>
            <a:srgbClr val="AFC3B4"/>
          </a:solidFill>
          <a:ln/>
        </p:spPr>
      </p:sp>
      <p:sp>
        <p:nvSpPr>
          <p:cNvPr id="21" name="Text 19"/>
          <p:cNvSpPr/>
          <p:nvPr/>
        </p:nvSpPr>
        <p:spPr>
          <a:xfrm>
            <a:off x="8275320" y="305409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on signups &amp; completions, not clicks.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28432" y="3840480"/>
            <a:ext cx="118872" cy="118872"/>
          </a:xfrm>
          <a:prstGeom prst="ellipse">
            <a:avLst/>
          </a:prstGeom>
          <a:solidFill>
            <a:srgbClr val="AFC3B4"/>
          </a:solidFill>
          <a:ln/>
        </p:spPr>
      </p:sp>
      <p:sp>
        <p:nvSpPr>
          <p:cNvPr id="23" name="Text 21"/>
          <p:cNvSpPr/>
          <p:nvPr/>
        </p:nvSpPr>
        <p:spPr>
          <a:xfrm>
            <a:off x="8275320" y="371246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Founder-on-camera creative beats polished ads.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28432" y="4498848"/>
            <a:ext cx="118872" cy="118872"/>
          </a:xfrm>
          <a:prstGeom prst="ellipse">
            <a:avLst/>
          </a:prstGeom>
          <a:solidFill>
            <a:srgbClr val="AFC3B4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43708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what doesn’t convert; pour into what does.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01000" y="51389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FC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Herman’s idea — and it’s the scalable one.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10412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BD6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pPr algn="r" indent="0" marL="0">
              <a:buNone/>
            </a:pPr>
            <a:r>
              <a:rPr lang="en-US" sz="1200" b="1" dirty="0">
                <a:solidFill>
                  <a:srgbClr val="D98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r" indent="0" marL="0">
              <a:buNone/>
            </a:pPr>
            <a:r>
              <a:rPr lang="en-US" sz="1200" b="1" dirty="0">
                <a:solidFill>
                  <a:srgbClr val="CBD6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YEAR 1 BUDGET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Year 1 actually costs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5440680" cy="566928"/>
          </a:xfrm>
          <a:prstGeom prst="roundRect">
            <a:avLst>
              <a:gd name="adj" fmla="val 14516"/>
            </a:avLst>
          </a:prstGeom>
          <a:solidFill>
            <a:srgbClr val="42574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LEAN — what we spend now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25786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entity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25786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$8–12K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96112" y="2999232"/>
            <a:ext cx="4983480" cy="0"/>
          </a:xfrm>
          <a:prstGeom prst="line">
            <a:avLst/>
          </a:prstGeom>
          <a:noFill/>
          <a:ln w="12700">
            <a:solidFill>
              <a:srgbClr val="ECEF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05409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AI  (Claude, infra, email)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305409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$2–4K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6112" y="3474720"/>
            <a:ext cx="4983480" cy="0"/>
          </a:xfrm>
          <a:prstGeom prst="line">
            <a:avLst/>
          </a:prstGeom>
          <a:noFill/>
          <a:ln w="12700">
            <a:solidFill>
              <a:srgbClr val="ECEF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52958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test  (FB ads pilot)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352958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$5–10K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6112" y="3950208"/>
            <a:ext cx="4983480" cy="0"/>
          </a:xfrm>
          <a:prstGeom prst="line">
            <a:avLst/>
          </a:prstGeom>
          <a:noFill/>
          <a:ln w="12700">
            <a:solidFill>
              <a:srgbClr val="ECEF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00507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ops  (LinkedIn, misc SaaS)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400507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$1–2K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6112" y="4425696"/>
            <a:ext cx="4983480" cy="0"/>
          </a:xfrm>
          <a:prstGeom prst="line">
            <a:avLst/>
          </a:prstGeom>
          <a:noFill/>
          <a:ln w="12700">
            <a:solidFill>
              <a:srgbClr val="ECEF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4805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bookkeeping setup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44805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$1–3K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6112" y="4956048"/>
            <a:ext cx="4983480" cy="0"/>
          </a:xfrm>
          <a:prstGeom prst="line">
            <a:avLst/>
          </a:prstGeom>
          <a:noFill/>
          <a:ln w="19050">
            <a:solidFill>
              <a:srgbClr val="D3DE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50474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1, lean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0" y="504748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~$20–30K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309360" y="182880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1828800"/>
            <a:ext cx="5440680" cy="566928"/>
          </a:xfrm>
          <a:prstGeom prst="roundRect">
            <a:avLst>
              <a:gd name="adj" fmla="val 14516"/>
            </a:avLst>
          </a:prstGeom>
          <a:solidFill>
            <a:srgbClr val="A8512B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182880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RAISE FUNDS — to go faster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65392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engineer  (contract → full-time)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41280" y="26060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$80–150K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65392" y="2935224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that can’t bootstrap.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65392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ads  (pour on what converts)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241280" y="33832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$20–40K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65392" y="3712464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the pilot proves cost-per-file.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65392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buffer / first success hire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241280" y="41605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$20–40K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565392" y="4489704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so pilots retain.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565392" y="4956048"/>
            <a:ext cx="4983480" cy="0"/>
          </a:xfrm>
          <a:prstGeom prst="line">
            <a:avLst/>
          </a:prstGeom>
          <a:noFill/>
          <a:ln w="19050">
            <a:solidFill>
              <a:srgbClr val="D3DE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65392" y="50474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/ pre-seed ask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823960" y="50474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5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~$150–250K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640080" y="5715000"/>
            <a:ext cx="10927080" cy="749808"/>
          </a:xfrm>
          <a:prstGeom prst="roundRect">
            <a:avLst>
              <a:gd name="adj" fmla="val 10976"/>
            </a:avLst>
          </a:prstGeom>
          <a:solidFill>
            <a:srgbClr val="E7EDE8"/>
          </a:solidFill>
          <a:ln w="12700">
            <a:solidFill>
              <a:srgbClr val="95AB9B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14400" y="571500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that matters: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START on ~$25K and get to first revenue without raising. We RAISE to hire the engineer and pour on what converts — engineering capacity is the constraint, not sales.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010412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— who owns what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63040" y="15727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43400" y="157276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0" y="157276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09270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463040" y="20025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Victoria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33172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43400" y="196596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engine, product priority, the guardrails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778240" y="196596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 · anything touching the guardrails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807208"/>
            <a:ext cx="109270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2990088"/>
            <a:ext cx="457200" cy="457200"/>
          </a:xfrm>
          <a:prstGeom prst="ellipse">
            <a:avLst/>
          </a:prstGeom>
          <a:solidFill>
            <a:srgbClr val="A851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463040" y="29352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26440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Head of Sales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43400" y="289864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revenue loop — worker experience (the buoy) + firm sales + public face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778240" y="289864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relationships he owns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739896"/>
            <a:ext cx="109270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3922776"/>
            <a:ext cx="457200" cy="45720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463040" y="3867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Herman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63040" y="419709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 Sales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43400" y="383133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sales system — script, training, presentation, rep onboarding + firm motion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778240" y="383133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Firm-side strategy &amp; process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672584"/>
            <a:ext cx="109270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" y="4855464"/>
            <a:ext cx="457200" cy="45720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855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1463040" y="4800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Jessica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63040" y="5129784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 Finance &amp; Operations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43400" y="476402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Stripe, invoicing, collections, entity + bank admin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778240" y="4764024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process &amp; collections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580644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 that doesn’t bend:  </a:t>
            </a:r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touches the guardrails — no fee-splitting, no per-referral, no promised outcomes — is Victoria’s call, and the answer is no. Sales requests are input, not instruction.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10412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SEGMENTED TARGET DATES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90 days — in order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42574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762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3611880" cy="804672"/>
          </a:xfrm>
          <a:prstGeom prst="roundRect">
            <a:avLst>
              <a:gd name="adj" fmla="val 10227"/>
            </a:avLst>
          </a:prstGeom>
          <a:solidFill>
            <a:srgbClr val="FAFBF9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79806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LinkedIn page live + admins set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1248" y="3227832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 · Tad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3611880" cy="804672"/>
          </a:xfrm>
          <a:prstGeom prst="roundRect">
            <a:avLst>
              <a:gd name="adj" fmla="val 10227"/>
            </a:avLst>
          </a:prstGeom>
          <a:solidFill>
            <a:srgbClr val="FAFBF9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" y="371246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active + business bank account open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41248" y="4142232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 · Jessica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3611880" cy="804672"/>
          </a:xfrm>
          <a:prstGeom prst="roundRect">
            <a:avLst>
              <a:gd name="adj" fmla="val 10227"/>
            </a:avLst>
          </a:prstGeom>
          <a:solidFill>
            <a:srgbClr val="FAFBF9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462686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Surge 12× + checkout tier code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1248" y="5056632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5440680"/>
            <a:ext cx="3611880" cy="804672"/>
          </a:xfrm>
          <a:prstGeom prst="roundRect">
            <a:avLst>
              <a:gd name="adj" fmla="val 10227"/>
            </a:avLst>
          </a:prstGeom>
          <a:solidFill>
            <a:srgbClr val="FAFBF9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554126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script + objection sheet v1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" y="5971032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07992" y="182880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8A7A5E"/>
          </a:solidFill>
          <a:ln/>
        </p:spPr>
      </p:sp>
      <p:sp>
        <p:nvSpPr>
          <p:cNvPr id="20" name="Text 18"/>
          <p:cNvSpPr/>
          <p:nvPr/>
        </p:nvSpPr>
        <p:spPr>
          <a:xfrm>
            <a:off x="4736592" y="1920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36592" y="21762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 it up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07992" y="2697480"/>
            <a:ext cx="3611880" cy="804672"/>
          </a:xfrm>
          <a:prstGeom prst="roundRect">
            <a:avLst>
              <a:gd name="adj" fmla="val 10227"/>
            </a:avLst>
          </a:prstGeom>
          <a:solidFill>
            <a:srgbClr val="F1F3E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09160" y="279806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live in test → verified end-to-end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09160" y="3227832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Jessica · Victoria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07992" y="3611880"/>
            <a:ext cx="3611880" cy="804672"/>
          </a:xfrm>
          <a:prstGeom prst="roundRect">
            <a:avLst>
              <a:gd name="adj" fmla="val 10227"/>
            </a:avLst>
          </a:prstGeom>
          <a:solidFill>
            <a:srgbClr val="F1F3E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371246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presentation built + rep training run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09160" y="4142232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 · Tad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07992" y="4526280"/>
            <a:ext cx="3611880" cy="804672"/>
          </a:xfrm>
          <a:prstGeom prst="roundRect">
            <a:avLst>
              <a:gd name="adj" fmla="val 10227"/>
            </a:avLst>
          </a:prstGeom>
          <a:solidFill>
            <a:srgbClr val="F1F3E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9160" y="462686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commission agreement signed (before selling)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709160" y="5056632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 · Jessica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07992" y="5440680"/>
            <a:ext cx="3611880" cy="804672"/>
          </a:xfrm>
          <a:prstGeom prst="roundRect">
            <a:avLst>
              <a:gd name="adj" fmla="val 10227"/>
            </a:avLst>
          </a:prstGeom>
          <a:solidFill>
            <a:srgbClr val="F1F3EF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09160" y="554126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firm demos booked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709160" y="5971032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 · Chris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375904" y="182880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A8512B"/>
          </a:solidFill>
          <a:ln/>
        </p:spPr>
      </p:sp>
      <p:sp>
        <p:nvSpPr>
          <p:cNvPr id="35" name="Text 33"/>
          <p:cNvSpPr/>
          <p:nvPr/>
        </p:nvSpPr>
        <p:spPr>
          <a:xfrm>
            <a:off x="8604504" y="1920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604504" y="21762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dollars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375904" y="2697480"/>
            <a:ext cx="3611880" cy="804672"/>
          </a:xfrm>
          <a:prstGeom prst="roundRect">
            <a:avLst>
              <a:gd name="adj" fmla="val 10227"/>
            </a:avLst>
          </a:prstGeom>
          <a:solidFill>
            <a:srgbClr val="FAFBF9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577072" y="279806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 pilots converted to paid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577072" y="3227832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375904" y="3611880"/>
            <a:ext cx="3611880" cy="804672"/>
          </a:xfrm>
          <a:prstGeom prst="roundRect">
            <a:avLst>
              <a:gd name="adj" fmla="val 10227"/>
            </a:avLst>
          </a:prstGeom>
          <a:solidFill>
            <a:srgbClr val="FAFBF9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577072" y="371246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billing cycle collected + commission paid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577072" y="4142232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Jessica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375904" y="4526280"/>
            <a:ext cx="3611880" cy="804672"/>
          </a:xfrm>
          <a:prstGeom prst="roundRect">
            <a:avLst>
              <a:gd name="adj" fmla="val 10227"/>
            </a:avLst>
          </a:prstGeom>
          <a:solidFill>
            <a:srgbClr val="FAFBF9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577072" y="462686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engineer search opened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577072" y="5056632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375904" y="5440680"/>
            <a:ext cx="3611880" cy="804672"/>
          </a:xfrm>
          <a:prstGeom prst="roundRect">
            <a:avLst>
              <a:gd name="adj" fmla="val 10227"/>
            </a:avLst>
          </a:prstGeom>
          <a:solidFill>
            <a:srgbClr val="FAFBF9"/>
          </a:solidFill>
          <a:ln w="12700">
            <a:solidFill>
              <a:srgbClr val="D3DED6"/>
            </a:solidFill>
            <a:prstDash val="solid"/>
          </a:ln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577072" y="554126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completion-rate scoreboard live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8577072" y="5971032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5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104120" y="6355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pPr algn="r" indent="0" marL="0">
              <a:buNone/>
            </a:pPr>
            <a:r>
              <a:rPr lang="en-US" sz="1200" b="1" dirty="0">
                <a:solidFill>
                  <a:srgbClr val="A85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r" indent="0" marL="0">
              <a:buNone/>
            </a:pPr>
            <a:r>
              <a:rPr lang="en-US" sz="1200" b="1" dirty="0">
                <a:solidFill>
                  <a:srgbClr val="8A9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25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EXPECTATIONS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these expectations out loud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83664"/>
            <a:ext cx="137160" cy="137160"/>
          </a:xfrm>
          <a:prstGeom prst="ellipse">
            <a:avLst/>
          </a:prstGeom>
          <a:solidFill>
            <a:srgbClr val="D98A5E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5564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is the constraint — not sales. One builder, no CS hire yet.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2450592"/>
            <a:ext cx="137160" cy="137160"/>
          </a:xfrm>
          <a:prstGeom prst="ellipse">
            <a:avLst/>
          </a:prstGeom>
          <a:solidFill>
            <a:srgbClr val="D98A5E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322576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 founding cohort of 3–5 firms, hands-on. Volume is a Phase-2 conversation.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3017520"/>
            <a:ext cx="137160" cy="137160"/>
          </a:xfrm>
          <a:prstGeom prst="ellipse">
            <a:avLst/>
          </a:prstGeom>
          <a:solidFill>
            <a:srgbClr val="D98A5E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88950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selling until the rep commission agreement is signed. California requires it in writing.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584448"/>
            <a:ext cx="137160" cy="137160"/>
          </a:xfrm>
          <a:prstGeom prst="ellipse">
            <a:avLst/>
          </a:prstGeom>
          <a:solidFill>
            <a:srgbClr val="D98A5E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45643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guardrails don’t bend under sales pressure. No fee-split, no per-referral, no promised outcomes.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151376"/>
            <a:ext cx="137160" cy="137160"/>
          </a:xfrm>
          <a:prstGeom prst="ellipse">
            <a:avLst/>
          </a:prstGeom>
          <a:solidFill>
            <a:srgbClr val="D98A5E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0233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90-day win: entity + Stripe live, 3 paid pilots, ad pilot running, engineer search open.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03720" y="1783080"/>
            <a:ext cx="4663440" cy="4160520"/>
          </a:xfrm>
          <a:prstGeom prst="roundRect">
            <a:avLst>
              <a:gd name="adj" fmla="val 1978"/>
            </a:avLst>
          </a:prstGeom>
          <a:solidFill>
            <a:srgbClr val="35463E"/>
          </a:solidFill>
          <a:ln/>
          <a:effectLst>
            <a:outerShdw sx="100000" sy="100000" kx="0" ky="0" algn="bl" rotWithShape="0" blurRad="114300" dist="38100" dir="5400000">
              <a:srgbClr val="2E4038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7804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to leave with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205472" y="2478024"/>
            <a:ext cx="310896" cy="310896"/>
          </a:xfrm>
          <a:prstGeom prst="ellipse">
            <a:avLst/>
          </a:prstGeom>
          <a:solidFill>
            <a:srgbClr val="D98A5E"/>
          </a:solidFill>
          <a:ln/>
        </p:spPr>
      </p:sp>
      <p:sp>
        <p:nvSpPr>
          <p:cNvPr id="17" name="Text 15"/>
          <p:cNvSpPr/>
          <p:nvPr/>
        </p:nvSpPr>
        <p:spPr>
          <a:xfrm>
            <a:off x="7205472" y="2478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80960" y="241401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+ business bank account — target date. Everything downstream waits on it.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05472" y="3044952"/>
            <a:ext cx="310896" cy="310896"/>
          </a:xfrm>
          <a:prstGeom prst="ellipse">
            <a:avLst/>
          </a:prstGeom>
          <a:solidFill>
            <a:srgbClr val="D98A5E"/>
          </a:solidFill>
          <a:ln/>
        </p:spPr>
      </p:sp>
      <p:sp>
        <p:nvSpPr>
          <p:cNvPr id="20" name="Text 18"/>
          <p:cNvSpPr/>
          <p:nvPr/>
        </p:nvSpPr>
        <p:spPr>
          <a:xfrm>
            <a:off x="7205472" y="3044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80960" y="2980944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Surge (12×) + the checkout tier code.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05472" y="3611880"/>
            <a:ext cx="310896" cy="310896"/>
          </a:xfrm>
          <a:prstGeom prst="ellipse">
            <a:avLst/>
          </a:prstGeom>
          <a:solidFill>
            <a:srgbClr val="D98A5E"/>
          </a:solidFill>
          <a:ln/>
        </p:spPr>
      </p:sp>
      <p:sp>
        <p:nvSpPr>
          <p:cNvPr id="23" name="Text 21"/>
          <p:cNvSpPr/>
          <p:nvPr/>
        </p:nvSpPr>
        <p:spPr>
          <a:xfrm>
            <a:off x="7205472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80960" y="354787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Jessica owns payments; ACH via invoice for now.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05472" y="4178808"/>
            <a:ext cx="310896" cy="310896"/>
          </a:xfrm>
          <a:prstGeom prst="ellipse">
            <a:avLst/>
          </a:prstGeom>
          <a:solidFill>
            <a:srgbClr val="D98A5E"/>
          </a:solidFill>
          <a:ln/>
        </p:spPr>
      </p:sp>
      <p:sp>
        <p:nvSpPr>
          <p:cNvPr id="26" name="Text 24"/>
          <p:cNvSpPr/>
          <p:nvPr/>
        </p:nvSpPr>
        <p:spPr>
          <a:xfrm>
            <a:off x="7205472" y="4178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80960" y="411480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Herman: script + objection sheet v1 — set the date.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05472" y="4745736"/>
            <a:ext cx="310896" cy="310896"/>
          </a:xfrm>
          <a:prstGeom prst="ellipse">
            <a:avLst/>
          </a:prstGeom>
          <a:solidFill>
            <a:srgbClr val="D98A5E"/>
          </a:solidFill>
          <a:ln/>
        </p:spPr>
      </p:sp>
      <p:sp>
        <p:nvSpPr>
          <p:cNvPr id="29" name="Text 27"/>
          <p:cNvSpPr/>
          <p:nvPr/>
        </p:nvSpPr>
        <p:spPr>
          <a:xfrm>
            <a:off x="7205472" y="4745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80960" y="468172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ad pilot budget and start date.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205472" y="5312664"/>
            <a:ext cx="310896" cy="310896"/>
          </a:xfrm>
          <a:prstGeom prst="ellipse">
            <a:avLst/>
          </a:prstGeom>
          <a:solidFill>
            <a:srgbClr val="D98A5E"/>
          </a:solidFill>
          <a:ln/>
        </p:spPr>
      </p:sp>
      <p:sp>
        <p:nvSpPr>
          <p:cNvPr id="32" name="Text 30"/>
          <p:cNvSpPr/>
          <p:nvPr/>
        </p:nvSpPr>
        <p:spPr>
          <a:xfrm>
            <a:off x="7205472" y="5312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80960" y="524865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Reprice AFTER the first firms tell us real intake volume.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6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pPr indent="0" marL="0">
              <a:buNone/>
            </a:pPr>
            <a:r>
              <a:rPr lang="en-US" sz="1300" b="1" dirty="0">
                <a:solidFill>
                  <a:srgbClr val="D98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buNone/>
            </a:pPr>
            <a:r>
              <a:rPr lang="en-US" sz="1300" b="1" dirty="0">
                <a:solidFill>
                  <a:srgbClr val="CBD6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2026-07-23T21:33:04Z</dcterms:created>
  <dcterms:modified xsi:type="dcterms:W3CDTF">2026-07-23T21:33:04Z</dcterms:modified>
</cp:coreProperties>
</file>