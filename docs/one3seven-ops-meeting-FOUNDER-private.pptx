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indent="0" marL="0">
              <a:buNone/>
            </a:pPr>
            <a:r>
              <a:rPr lang="en-US" sz="2000" b="1" dirty="0">
                <a:solidFill>
                  <a:srgbClr val="D9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2000" b="1" dirty="0">
                <a:solidFill>
                  <a:srgbClr val="DCE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&amp; Finance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FC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Meeting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58368" y="4251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3D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 ·  Financing  ·  Structure  ·  Expectations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— grounded in current numbers. Nothing sugar-coated.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WE’RE ANSWERING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meeting decides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4942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54480" y="24323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it, where it stands, the bug to fix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84848" y="224942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6784848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06640" y="20299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ACH problem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06640" y="24323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verification, not the fee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71246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4930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 attack plan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54480" y="38953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· TikTok · YouTube · Facebook + worker ads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329184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84848" y="371246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34930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Tad’s financing concerns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06640" y="38953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 asymmetry underneath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2688" y="517550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5175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49560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&amp; target dates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554480" y="53583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what, and by when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475488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84848" y="517550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31" name="Text 29"/>
          <p:cNvSpPr/>
          <p:nvPr/>
        </p:nvSpPr>
        <p:spPr>
          <a:xfrm>
            <a:off x="6784848" y="5175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06640" y="49560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Expectations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406640" y="53583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“good” looks like in 90 days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STRIPE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Stripe — it isn’t “just a card rail”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9384"/>
            <a:ext cx="146304" cy="146304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engine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05840" y="21762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billing, proration, card-on-file, auto-retry on failed cards.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825496"/>
            <a:ext cx="146304" cy="146304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249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webhook is our access control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5840" y="307238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succeeds → plan unlocks. Payment state IS entitlement.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721608"/>
            <a:ext cx="146304" cy="146304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2102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scope near-zero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39684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checkout — we never touch a card number. No compliance burden.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617720"/>
            <a:ext cx="146304" cy="146304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171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Updater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05840" y="48646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Reissued/expiring cards update automatically. Silent retention.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03720" y="1828800"/>
            <a:ext cx="4663440" cy="3794760"/>
          </a:xfrm>
          <a:prstGeom prst="roundRect">
            <a:avLst>
              <a:gd name="adj" fmla="val 2169"/>
            </a:avLst>
          </a:prstGeom>
          <a:solidFill>
            <a:srgbClr val="FBF4EF"/>
          </a:solidFill>
          <a:ln w="12700">
            <a:solidFill>
              <a:srgbClr val="EBD9CD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bug nobody flagged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24871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once Stripe is set up, checkout will not work correctly.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32004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functions still reference dead tier names 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(SOLO, PRACTICE_PLUS, FIRM_PLUS)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never wire Surge. A firm could land on the wrong plan or fail checkout.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78040" y="48920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contained code fix — but it’s the gap between “set up” and “a firm can actually pay.”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STRIPE / PAYMENTS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ACH / wire?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are the sales instrument. ACH &amp; wire are the savings instrument. Each is pointed at what it’s good 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611880" cy="36576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3611880" cy="566928"/>
          </a:xfrm>
          <a:prstGeom prst="roundRect">
            <a:avLst>
              <a:gd name="adj" fmla="val 14516"/>
            </a:avLst>
          </a:prstGeom>
          <a:solidFill>
            <a:srgbClr val="42574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approval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3675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Self-serve, ~2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67588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42428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Automatable recurring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42428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4809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BEFORE delivery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480974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5376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payer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537667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07992" y="2331720"/>
            <a:ext cx="3611880" cy="36576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7992" y="2331720"/>
            <a:ext cx="3611880" cy="566928"/>
          </a:xfrm>
          <a:prstGeom prst="roundRect">
            <a:avLst>
              <a:gd name="adj" fmla="val 14516"/>
            </a:avLst>
          </a:prstGeom>
          <a:solidFill>
            <a:srgbClr val="8A7A5E"/>
          </a:solidFill>
          <a:ln/>
        </p:spPr>
      </p:sp>
      <p:sp>
        <p:nvSpPr>
          <p:cNvPr id="20" name="Text 18"/>
          <p:cNvSpPr/>
          <p:nvPr/>
        </p:nvSpPr>
        <p:spPr>
          <a:xfrm>
            <a:off x="4507992" y="23317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64024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approval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68312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4024" y="3675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68312" y="367588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64024" y="42428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68312" y="42428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verify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64024" y="4809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days AFTER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68312" y="480974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64024" y="5376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payer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68312" y="537667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75904" y="2331720"/>
            <a:ext cx="3611880" cy="36576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75904" y="2331720"/>
            <a:ext cx="3611880" cy="566928"/>
          </a:xfrm>
          <a:prstGeom prst="roundRect">
            <a:avLst>
              <a:gd name="adj" fmla="val 14516"/>
            </a:avLst>
          </a:prstGeom>
          <a:solidFill>
            <a:srgbClr val="A8512B"/>
          </a:solidFill>
          <a:ln/>
        </p:spPr>
      </p:sp>
      <p:sp>
        <p:nvSpPr>
          <p:cNvPr id="33" name="Text 31"/>
          <p:cNvSpPr/>
          <p:nvPr/>
        </p:nvSpPr>
        <p:spPr>
          <a:xfrm>
            <a:off x="8375904" y="23317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31936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approval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36224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31936" y="3675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36224" y="367588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31936" y="42428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Automatable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36224" y="42428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31936" y="4809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initiates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936224" y="480974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31936" y="5376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payer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36224" y="537667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$15–35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ACH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verification — not the fee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3657600"/>
          </a:xfrm>
          <a:prstGeom prst="roundRect">
            <a:avLst>
              <a:gd name="adj" fmla="val 2432"/>
            </a:avLst>
          </a:prstGeom>
          <a:solidFill>
            <a:srgbClr val="42574E"/>
          </a:solidFill>
          <a:ln/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Annual, by 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~$5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firm / 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~$191 by card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D3D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~$186 saved / firm — ~$9.3K/yr at 50 firms.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8745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 (why it stalls):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2377440"/>
            <a:ext cx="128016" cy="128016"/>
          </a:xfrm>
          <a:prstGeom prst="ellipse">
            <a:avLst/>
          </a:prstGeom>
          <a:solidFill>
            <a:srgbClr val="A8512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240280"/>
            <a:ext cx="690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the killer — Stripe ACH makes the firm log into its bank in a vendor screen. Law firms refuse.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3035808"/>
            <a:ext cx="128016" cy="128016"/>
          </a:xfrm>
          <a:prstGeom prst="ellipse">
            <a:avLst/>
          </a:prstGeom>
          <a:solidFill>
            <a:srgbClr val="A8512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898648"/>
            <a:ext cx="690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fails LATE — a return lands days after you already unlocked the plan.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3694176"/>
            <a:ext cx="128016" cy="128016"/>
          </a:xfrm>
          <a:prstGeom prst="ellipse">
            <a:avLst/>
          </a:prstGeom>
          <a:solidFill>
            <a:srgbClr val="A8512B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557016"/>
            <a:ext cx="690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vs push — many firms’ policy only allows pushing payment, not being debited.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4352544"/>
            <a:ext cx="128016" cy="128016"/>
          </a:xfrm>
          <a:prstGeom prst="ellipse">
            <a:avLst/>
          </a:prstGeom>
          <a:solidFill>
            <a:srgbClr val="A8512B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4215384"/>
            <a:ext cx="690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receive ACH at all until the entity + business bank account exist.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7680" y="5029200"/>
            <a:ext cx="7269480" cy="777240"/>
          </a:xfrm>
          <a:prstGeom prst="roundRect">
            <a:avLst>
              <a:gd name="adj" fmla="val 10588"/>
            </a:avLst>
          </a:prstGeom>
          <a:solidFill>
            <a:srgbClr val="E7EDE8"/>
          </a:solidFill>
          <a:ln w="12700">
            <a:solidFill>
              <a:srgbClr val="95AB9B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6280" y="50292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cohort: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force ACH pull. Invoice annual firms and let them push ACH or send a check. Skips the bank-login objection entirely.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CARD COST — FOR PEOPLE WHO KNOW INTERCHANGE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cards without paying so much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5321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751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rate is fine for us — for now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commercial CREDIT (law-firm cards), 2.9% is at-or-near cost; Amex is a bargain. On debit it’s punitive — but firms don’t pay by debit. The usual “get off flat rate” advice doesn’t apply yet.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5321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209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L2/L3 data saves nothing on flat rate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 optimization only pays on interchange-plus, at volume. Do IC+ AND pass Level 2/3 data — together, later. Either alone leaves money on the table.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FBF4EF"/>
          </a:solidFill>
          <a:ln w="12700">
            <a:solidFill>
              <a:srgbClr val="EBD9CD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8288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discount, not the surcharge.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margin, far less regulatory surface — and it reads as a reward, not a penalty.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3154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we already control: annual billing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55080" y="3611880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by card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~$195 / yr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4178808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41788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by card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0" y="41788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~$191 / yr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745736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42574E"/>
          </a:solidFill>
          <a:ln/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47457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by ACH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0" y="47457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 / yr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5440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cards to close the deal — then incentivize annual-by-ACH with a real discount.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SOCIAL MEDIA ATTACK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is the wedge — and it’s already working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42574E"/>
          </a:solidFill>
          <a:ln/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real worker came from a personal Facebook post.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3D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spent. Organic. Someone in pain saw it, reached out, consented, and asked to be prepared for a consultation. The whole flywheel — from one post.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isn’t a channel to test. It’s a proven wedge to scale.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E7EDE8"/>
          </a:solidFill>
          <a:ln w="12700">
            <a:solidFill>
              <a:srgbClr val="95AB9B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is already showing 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54203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commenting on employment posts saying they want to use it — and some are out of state.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6520" y="36576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handling it exactly right:  </a:t>
            </a:r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“Right now we serve California employees.”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45262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out-of-state interest on a waitlist — it costs nothing and becomes free proof of demand for the raise.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SOCIAL MEDIA ATTACK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channels — and what each one is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146304" cy="822960"/>
          </a:xfrm>
          <a:prstGeom prst="roundRect">
            <a:avLst>
              <a:gd name="adj" fmla="val 12500"/>
            </a:avLst>
          </a:prstGeom>
          <a:solidFill>
            <a:srgbClr val="A8512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48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24323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· relational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88720" y="272491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already works. Personal posts, community &amp; employment groups, DMs. Workers in pain trust a person, not a brand.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56832" y="2084832"/>
            <a:ext cx="146304" cy="822960"/>
          </a:xfrm>
          <a:prstGeom prst="roundRect">
            <a:avLst>
              <a:gd name="adj" fmla="val 12500"/>
            </a:avLst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2048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TikTok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67728" y="24323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· discovery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49440" y="272491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vertical video. The algorithm finds hurt workers you could never target by hand. Founder-on-camera beats polish.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096512"/>
            <a:ext cx="146304" cy="822960"/>
          </a:xfrm>
          <a:prstGeom prst="roundRect">
            <a:avLst>
              <a:gd name="adj" fmla="val 12500"/>
            </a:avLst>
          </a:prstGeom>
          <a:solidFill>
            <a:srgbClr val="8A7A5E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059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07008" y="4443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· search + trust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88720" y="473659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&amp; searchable. “How to request your California employment records.” Ranks for exactly what workers Google.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84048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56832" y="4096512"/>
            <a:ext cx="146304" cy="822960"/>
          </a:xfrm>
          <a:prstGeom prst="roundRect">
            <a:avLst>
              <a:gd name="adj" fmla="val 12500"/>
            </a:avLst>
          </a:prstGeom>
          <a:solidFill>
            <a:srgbClr val="50808E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4059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67728" y="4443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· credibility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473659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 side. A standalone company page that reaches attorneys and builds trust — not a worker channel.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SOCIAL MEDIA ATTACK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LinkedIn that stands on its own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160520" cy="3749040"/>
          </a:xfrm>
          <a:prstGeom prst="roundRect">
            <a:avLst>
              <a:gd name="adj" fmla="val 2195"/>
            </a:avLst>
          </a:prstGeom>
          <a:solidFill>
            <a:srgbClr val="FBF4EF"/>
          </a:solidFill>
          <a:ln w="12700">
            <a:solidFill>
              <a:srgbClr val="EBD9CD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presence is paired to Tad’s personal profile — the brand rides on one person’s account and leaves with them.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4805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B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needs a human to CREATE a page — but the page is owned by the org, not the creator.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0" y="1874520"/>
            <a:ext cx="6537960" cy="822960"/>
          </a:xfrm>
          <a:prstGeom prst="roundRect">
            <a:avLst>
              <a:gd name="adj" fmla="val 10000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30368" y="2084832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0" name="Text 8"/>
          <p:cNvSpPr/>
          <p:nvPr/>
        </p:nvSpPr>
        <p:spPr>
          <a:xfrm>
            <a:off x="5230368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06440" y="19933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Company Page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6440" y="23042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separate entity from any person — it posts as one3seven, never as Tad.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825496"/>
            <a:ext cx="6537960" cy="822960"/>
          </a:xfrm>
          <a:prstGeom prst="roundRect">
            <a:avLst>
              <a:gd name="adj" fmla="val 10000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30368" y="3035808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06440" y="29443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it with a company email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06440" y="325526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Create/verify it under admin@one3seven.com + the domain, not a personal login.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0" y="3776472"/>
            <a:ext cx="6537960" cy="822960"/>
          </a:xfrm>
          <a:prstGeom prst="roundRect">
            <a:avLst>
              <a:gd name="adj" fmla="val 10000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30368" y="398678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0" name="Text 18"/>
          <p:cNvSpPr/>
          <p:nvPr/>
        </p:nvSpPr>
        <p:spPr>
          <a:xfrm>
            <a:off x="5230368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06440" y="389534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multiple admins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06440" y="42062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+ Tad + one more — so it never depends on a single account.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0" y="4727448"/>
            <a:ext cx="6537960" cy="822960"/>
          </a:xfrm>
          <a:prstGeom prst="roundRect">
            <a:avLst>
              <a:gd name="adj" fmla="val 10000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30368" y="4937760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5" name="Text 23"/>
          <p:cNvSpPr/>
          <p:nvPr/>
        </p:nvSpPr>
        <p:spPr>
          <a:xfrm>
            <a:off x="5230368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06440" y="4846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profiles amplify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5157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Tad’s personal profile shares &amp; comments; the Page stays the source of truth.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SOCIAL MEDIA ATTACK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ads for workers — the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46304" cy="146304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556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88036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workers. Employment is a “Special Ad Category,” so the message does the targeting: “Fired unfairly in California? Walk into your consultation prepared.” The right people self-select.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770632"/>
            <a:ext cx="146304" cy="146304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880360" y="263347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only — matches what we can serve today. Out-of-state clicks route to the waitlist, not a dead 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666744"/>
            <a:ext cx="146304" cy="146304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47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80360" y="352958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→ one3seven.com → free signup → organized file. The number that matters: cost per organized file. That’s your CAC.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562856"/>
            <a:ext cx="146304" cy="146304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4439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it clean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880360" y="442569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— Meta lead forms / Conversions API + your cookieless web_events. Same data the pros use, none of the sensitive-page mess.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1828800"/>
            <a:ext cx="3794760" cy="3657600"/>
          </a:xfrm>
          <a:prstGeom prst="roundRect">
            <a:avLst>
              <a:gd name="adj" fmla="val 2250"/>
            </a:avLst>
          </a:prstGeom>
          <a:solidFill>
            <a:srgbClr val="35463E"/>
          </a:solidFill>
          <a:ln/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start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28432" y="2523744"/>
            <a:ext cx="118872" cy="118872"/>
          </a:xfrm>
          <a:prstGeom prst="ellipse">
            <a:avLst/>
          </a:prstGeom>
          <a:solidFill>
            <a:srgbClr val="AFC3B4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3957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budget — $20–50/day.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28432" y="3182112"/>
            <a:ext cx="118872" cy="118872"/>
          </a:xfrm>
          <a:prstGeom prst="ellipse">
            <a:avLst/>
          </a:prstGeom>
          <a:solidFill>
            <a:srgbClr val="AFC3B4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30540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on signups &amp; completions, not clicks.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28432" y="3840480"/>
            <a:ext cx="118872" cy="118872"/>
          </a:xfrm>
          <a:prstGeom prst="ellipse">
            <a:avLst/>
          </a:prstGeom>
          <a:solidFill>
            <a:srgbClr val="AFC3B4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3712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Founder-on-camera creative beats polished ads.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28432" y="4498848"/>
            <a:ext cx="118872" cy="118872"/>
          </a:xfrm>
          <a:prstGeom prst="ellipse">
            <a:avLst/>
          </a:prstGeom>
          <a:solidFill>
            <a:srgbClr val="AFC3B4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what doesn’t convert; pour into what does.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01000" y="5138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Herman’s idea — and it’s the scalable one.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BD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D9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CBD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TAD’S FINANCING CONCERNS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 asymmetry underneath the worry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position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Pre-revenue, pre-seed. Priced on team + wedge, not metrics. And the money’s first job is the founding engineer — not more sales capacity. Sales isn’t the constraint; the single builder 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FBF4EF"/>
          </a:solidFill>
          <a:ln w="12700">
            <a:solidFill>
              <a:srgbClr val="EBD9CD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tension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earn 20% recurring. Founders take equity only — no salary, no commission. Tad is BOTH co-founder and Head of Sales. So who pays him for the firms he personally closes?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— and write it into the founder agreement: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63640" y="2377440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651760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25054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only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current written model. Cleanest cap table, hardest on near-term cash.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703320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0" y="35570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override on retained revenue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4088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owns the buoy; pay him on the retention it drives. Inside your bright lines — software revenue, no fee-split.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4480560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4754880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46085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salary trigger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40880" y="4937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MRR turns on a modest founder salary. Ends the “broke forever” fear.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FEAR, ANSWERED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one3seven actually pay people?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“44 firms” was a worst case — full salaries, both paid from margin. Herman self-funds on commission, so the only cash salary you fund is Jessica’s.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42574E"/>
          </a:solidFill>
          <a:ln/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5420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9–18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3D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to fund the one cash salary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F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price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2377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25420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mo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26280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that stay — the real target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moonshot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237744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01000" y="25420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183880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plaintiff-employment firms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8388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isn’t the limit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0927080" cy="1234440"/>
          </a:xfrm>
          <a:prstGeom prst="roundRect">
            <a:avLst>
              <a:gd name="adj" fmla="val 6667"/>
            </a:avLst>
          </a:prstGeom>
          <a:solidFill>
            <a:srgbClr val="E7EDE8"/>
          </a:solidFill>
          <a:ln w="12700">
            <a:solidFill>
              <a:srgbClr val="95AB9B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3434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compounds.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sell a firm once; it pays every month. Two-a-month that stick → ~$3.8K MRR by month 6, ~$7.6K by month 12. The scary part isn’t 44 — it’s retention and the first five. Salary is something revenue earns into over 12–18 months, not a day-one promise.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1 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Year 1 actually costs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LEAN — what we spend 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5786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entity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2578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$8–12K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2999232"/>
            <a:ext cx="4983480" cy="0"/>
          </a:xfrm>
          <a:prstGeom prst="line">
            <a:avLst/>
          </a:prstGeom>
          <a:noFill/>
          <a:ln w="12700">
            <a:solidFill>
              <a:srgbClr val="ECE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0540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AI  (Claude, infra, email)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30540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$2–4K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3474720"/>
            <a:ext cx="4983480" cy="0"/>
          </a:xfrm>
          <a:prstGeom prst="line">
            <a:avLst/>
          </a:prstGeom>
          <a:noFill/>
          <a:ln w="12700">
            <a:solidFill>
              <a:srgbClr val="ECE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52958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test  (FB ads pilot)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52958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$5–10K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3950208"/>
            <a:ext cx="4983480" cy="0"/>
          </a:xfrm>
          <a:prstGeom prst="line">
            <a:avLst/>
          </a:prstGeom>
          <a:noFill/>
          <a:ln w="12700">
            <a:solidFill>
              <a:srgbClr val="ECE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0050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ops  (LinkedIn, misc SaaS)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4005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$1–2K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425696"/>
            <a:ext cx="4983480" cy="0"/>
          </a:xfrm>
          <a:prstGeom prst="line">
            <a:avLst/>
          </a:prstGeom>
          <a:noFill/>
          <a:ln w="12700">
            <a:solidFill>
              <a:srgbClr val="ECEF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480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Jessica — setup &amp; billing fee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4480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$1–3K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956048"/>
            <a:ext cx="4983480" cy="0"/>
          </a:xfrm>
          <a:prstGeom prst="line">
            <a:avLst/>
          </a:prstGeom>
          <a:noFill/>
          <a:ln w="19050">
            <a:solidFill>
              <a:srgbClr val="D3DE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0474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1, lean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50474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~$20–30K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182880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828800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A8512B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8288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RAISE FUNDS — to go faster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65392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  (contract → full-time)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0" y="26060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$80–150K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65392" y="293522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can’t bootstrap.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65392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ads  (pour on what converts)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41280" y="3383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$20–40K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65392" y="371246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pilot proves cost-per-file.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65392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buffer / first success hire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41280" y="4160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$20–40K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65392" y="448970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so pilots retain.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65392" y="4956048"/>
            <a:ext cx="4983480" cy="0"/>
          </a:xfrm>
          <a:prstGeom prst="line">
            <a:avLst/>
          </a:prstGeom>
          <a:noFill/>
          <a:ln w="19050">
            <a:solidFill>
              <a:srgbClr val="D3DE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pre-seed ask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823960" y="50474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~$150–250K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40080" y="5715000"/>
            <a:ext cx="10927080" cy="749808"/>
          </a:xfrm>
          <a:prstGeom prst="roundRect">
            <a:avLst>
              <a:gd name="adj" fmla="val 10976"/>
            </a:avLst>
          </a:prstGeom>
          <a:solidFill>
            <a:srgbClr val="E7EDE8"/>
          </a:solidFill>
          <a:ln w="12700">
            <a:solidFill>
              <a:srgbClr val="95AB9B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4400" y="571500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matters: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START on ~$25K from founder capital + early revenue. We RAISE to hire the engineer and pour on what converts. Founders &amp; sales self-fund (equity + commission) — not in these numbers.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— who owns what, and how each is paid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1572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931920" y="15727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006840" y="15727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THEY’RE PAID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927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63040" y="20025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Victoria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3317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19659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product priority, the guardrails, fundraising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006840" y="19659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· salary at trigger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07208"/>
            <a:ext cx="10927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990088"/>
            <a:ext cx="457200" cy="457200"/>
          </a:xfrm>
          <a:prstGeom prst="ellipse">
            <a:avLst/>
          </a:prstGeom>
          <a:solidFill>
            <a:srgbClr val="A851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293522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2644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Head of Sales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289864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revenue loop — worker experience (the buoy) + firm sales + public face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06840" y="289864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· define A / B / 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39896"/>
            <a:ext cx="10927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3922776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463040" y="3867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Herman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41970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Sales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38313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system — script, training, presentation, rep onboarding + firm motion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006840" y="38313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+ override + equity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672584"/>
            <a:ext cx="10927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855464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1463040" y="4800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Jessica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63040" y="51297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Finance &amp; Operations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31920" y="47640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invoicing, collections, commission payout, entity + bank admin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006840" y="476402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scoped fee · 1st to salary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58064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committed salaries yet.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is equity + commission until a defined MRR trigger turns a salary on. Exact figures live in the signed agreements — not on a slide.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SEGMENTED TARGET DATES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90 days — in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42574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7980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+ IP agreement signed with an attorney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32278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· Tad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37124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active + business bank account open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41422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· Jessica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46268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Surge 12× + checkout tier code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50566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55412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script + objection sheet v1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59710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07992" y="18288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8A7A5E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1920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21762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it up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07992" y="26974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27980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live in test → verified end-to-end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09160" y="32278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Jessica · Victoria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07992" y="36118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7124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presentation built + rep training run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09160" y="41422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 · Tad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07992" y="45262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46268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commission agreement signed (before selling)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09160" y="50566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· Jessica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07992" y="54406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55412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firm demos booked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09160" y="59710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 · Chris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75904" y="18288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A8512B"/>
          </a:solidFill>
          <a:ln/>
        </p:spPr>
      </p:sp>
      <p:sp>
        <p:nvSpPr>
          <p:cNvPr id="35" name="Text 33"/>
          <p:cNvSpPr/>
          <p:nvPr/>
        </p:nvSpPr>
        <p:spPr>
          <a:xfrm>
            <a:off x="8604504" y="1920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04504" y="21762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dollars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375904" y="26974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577072" y="27980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pilots converted to paid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577072" y="32278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75904" y="36118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577072" y="37124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billing cycle collected + commission paid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577072" y="41422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Jessica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75904" y="45262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577072" y="46268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 search opened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577072" y="50566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75904" y="54406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577072" y="55412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completion-rate scoreboard live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577072" y="59710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EXPECTATIONS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these expectations out loud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83664"/>
            <a:ext cx="137160" cy="137160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556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is the constraint — not sales. One builder, no CS hire yet.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450592"/>
            <a:ext cx="137160" cy="137160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2257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founding cohort of 3–5 firms, hands-on. Volume is a Phase-2 conversation.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137160" cy="137160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8950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billed until agreements are signed: founder → rep commission → checkout. In that order.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584448"/>
            <a:ext cx="137160" cy="137160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5643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guardrails don’t bend under sales pressure. No fee-split, no per-referral, no promised outcomes.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151376"/>
            <a:ext cx="137160" cy="137160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0233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90-day win: agreements signed, entity + Stripe live, 3 paid pilots, engineer search open.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1783080"/>
            <a:ext cx="4663440" cy="4160520"/>
          </a:xfrm>
          <a:prstGeom prst="roundRect">
            <a:avLst>
              <a:gd name="adj" fmla="val 1978"/>
            </a:avLst>
          </a:prstGeom>
          <a:solidFill>
            <a:srgbClr val="35463E"/>
          </a:solidFill>
          <a:ln/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to leave with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78040" y="2487168"/>
            <a:ext cx="402336" cy="402336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26680" y="243230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signing date with a real attorney — founder agreement + IP. The gate on everything.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78040" y="3172968"/>
            <a:ext cx="402336" cy="402336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26680" y="311810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Surge (12×) + the checkout tier code.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78040" y="3858768"/>
            <a:ext cx="402336" cy="402336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26680" y="380390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Jessica owns payments; ACH via invoice for now.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78040" y="4544568"/>
            <a:ext cx="402336" cy="402336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4544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26680" y="448970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comp triggers — Tad, Herman, Jessica, founders.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78040" y="5230368"/>
            <a:ext cx="402336" cy="402336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29" name="Text 27"/>
          <p:cNvSpPr/>
          <p:nvPr/>
        </p:nvSpPr>
        <p:spPr>
          <a:xfrm>
            <a:off x="7178040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26680" y="517550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AFTER the first firms tell us real intake volume.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indent="0" marL="0">
              <a:buNone/>
            </a:pPr>
            <a:r>
              <a:rPr lang="en-US" sz="1300" b="1" dirty="0">
                <a:solidFill>
                  <a:srgbClr val="D9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CBD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2026-07-23T19:38:19Z</dcterms:created>
  <dcterms:modified xsi:type="dcterms:W3CDTF">2026-07-23T19:38:19Z</dcterms:modified>
</cp:coreProperties>
</file>