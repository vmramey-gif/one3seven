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217920" cy="621792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463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TERMS — THE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Payment Decisions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answered straight: a % of settlements, how we take payment, and how long contracts should run.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decision doc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— A % OF A SETTLEMENT WE INTOOK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appeal — why it’s tempting.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scales with the win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8529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 of a recovery could dwarf a monthly subscription — one good settlement pays for a lot.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21945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Feels “fair”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8529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real work organizing the record that helped move the case — why not share in the result?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0690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Aligns us with success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72744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We’d have skin in the game on every case we touch.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40690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to imagine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72744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half a percent” sounds small and easy to agree to.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5943600"/>
            <a:ext cx="10835640" cy="457200"/>
          </a:xfrm>
          <a:prstGeom prst="roundRect">
            <a:avLst>
              <a:gd name="adj" fmla="val 50000"/>
            </a:avLst>
          </a:prstGeom>
          <a:solidFill>
            <a:srgbClr val="E7C15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94360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temptations — not a green light. Read the next slide.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Revenue &amp; payment decisions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2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— THE HARD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a bright line. Not available at any percentage.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0835640" cy="804672"/>
          </a:xfrm>
          <a:prstGeom prst="roundRect">
            <a:avLst>
              <a:gd name="adj" fmla="val 1022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2677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Non-lawyer fee-splitting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57800" y="224028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 legal fee with a non-lawyer is prohibited (CA Rule 5.4). The attorney can’t legally pay it — so no firm that wants its license can agree.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3044952"/>
            <a:ext cx="10835640" cy="804672"/>
          </a:xfrm>
          <a:prstGeom prst="roundRect">
            <a:avLst>
              <a:gd name="adj" fmla="val 1022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044952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1638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Illegal referral / contingent fee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57800" y="313639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 contingent on a case outcome is an improper referral fee and edges into running an unlicensed lawyer-referral service (§6155).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941064"/>
            <a:ext cx="10835640" cy="804672"/>
          </a:xfrm>
          <a:prstGeom prst="roundRect">
            <a:avLst>
              <a:gd name="adj" fmla="val 1022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41064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0599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stake in the litigation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403250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slice of the recovery gives us a financial interest in the outcome — champerty / litigation-funding regulation, and it kills our neutrality.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837176"/>
            <a:ext cx="10835640" cy="804672"/>
          </a:xfrm>
          <a:prstGeom prst="roundRect">
            <a:avLst>
              <a:gd name="adj" fmla="val 10227"/>
            </a:avLst>
          </a:prstGeom>
          <a:solidFill>
            <a:srgbClr val="F3E4E4"/>
          </a:solidFill>
          <a:ln w="12700">
            <a:solidFill>
              <a:srgbClr val="A256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837176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956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destroys the moat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7800" y="492861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We’d become the fee-splitting partner no firm can adopt — and we’d no longer be “organize, never conclude.” The whole business breaks.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5897880"/>
            <a:ext cx="10835640" cy="457200"/>
          </a:xfrm>
          <a:prstGeom prst="roundRect">
            <a:avLst>
              <a:gd name="adj" fmla="val 50000"/>
            </a:avLst>
          </a:prstGeom>
          <a:solidFill>
            <a:srgbClr val="A2564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89788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No — at 0.5%, 5%, or any %. This is the one line that ends the company.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Revenue &amp; payment decisions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— THE CLEAN WAY TO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the value — just never the recovery.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395728"/>
            <a:ext cx="411480" cy="41148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23317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instinct is right: we create value. The fix is to price for it — not to touch the settlement.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310128"/>
            <a:ext cx="411480" cy="41148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246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more for the software because of the time and leverage it saves (a firm will pay a premium flat fee to save 90 minutes an intake).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224528"/>
            <a:ext cx="411480" cy="41148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4160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with usage: more intakes, more seats, higher tiers — revenue that rises with value, cleanly.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5138928"/>
            <a:ext cx="411480" cy="411480"/>
          </a:xfrm>
          <a:prstGeom prst="ellipse">
            <a:avLst/>
          </a:prstGeom>
          <a:solidFill>
            <a:srgbClr val="EAF0E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138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50749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upside, zero legal exposure — and firms can actually adopt us.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Revenue &amp; payment decisions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— HOW WE TAKE PAYMENT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rails, not cards — the fee is a choice.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0624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(on a $549 plan)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816352"/>
            <a:ext cx="10835640" cy="566928"/>
          </a:xfrm>
          <a:prstGeom prst="roundRect">
            <a:avLst>
              <a:gd name="adj" fmla="val 1129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16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06240" y="2816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~$16.22 (2.9% + $0.30)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0" y="28163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/ fast first yes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438144"/>
            <a:ext cx="10835640" cy="566928"/>
          </a:xfrm>
          <a:prstGeom prst="roundRect">
            <a:avLst>
              <a:gd name="adj" fmla="val 11290"/>
            </a:avLst>
          </a:prstGeom>
          <a:solidFill>
            <a:srgbClr val="ECF1ED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381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 (bank debit)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34381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~$4.39 (0.8%, capped $5)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80960" y="34381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— cheap + automated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059936"/>
            <a:ext cx="10835640" cy="566928"/>
          </a:xfrm>
          <a:prstGeom prst="roundRect">
            <a:avLst>
              <a:gd name="adj" fmla="val 1129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599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06240" y="40599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$0–15 to receive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80960" y="40599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annual / enterprise only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35640" cy="1188720"/>
          </a:xfrm>
          <a:prstGeom prst="roundRect">
            <a:avLst>
              <a:gd name="adj" fmla="val 9231"/>
            </a:avLst>
          </a:prstGeom>
          <a:solidFill>
            <a:srgbClr val="E7EDE8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8920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combo — annual, by ACH: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Stripe’s ACH fee caps at $5, so one annual charge of $6,588 costs ~$5 total (0.08%) instead of paying a fee 12 times. Fee ≈ rate × amount × frequency — shrink all three.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Revenue &amp; payment decisions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— “CAN WE TAKE STRIPE OUT?”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— keep Stripe, and turn on ACH inside it.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303520" cy="3794760"/>
          </a:xfrm>
          <a:prstGeom prst="roundRect">
            <a:avLst>
              <a:gd name="adj" fmla="val 2892"/>
            </a:avLst>
          </a:prstGeom>
          <a:solidFill>
            <a:srgbClr val="F3E4E4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2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WIRE-ONLY BREAKS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firm will manually wire $549 every month — and you don’t want to chase it.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You’d lose automated recurring billing, retries, and reconciliation.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adds friction to your first paying firms — the thing you most need now.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Ripping out working code = more work for a solo builder, later revenue.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5212080" cy="3794760"/>
          </a:xfrm>
          <a:prstGeom prst="roundRect">
            <a:avLst>
              <a:gd name="adj" fmla="val 2892"/>
            </a:avLst>
          </a:prstGeom>
          <a:solidFill>
            <a:srgbClr val="42574E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INSTEAD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29400" y="278892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already does ACH and wire — no need to remove it.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ACH → ~$5 cap vs ~$16 card fee.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annual / enterprise to wire (flat fee on a big amount).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surcharge cards (CA-compliant) so card-payers cover the ~3%.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Revenue &amp; payment decisions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— HOW LONG SHOULD CONTRACTS RUN?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“Actually” month-to-month vs. just billed monthly.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month-to-month = they can cancel anytime, no commitment.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monthly = they’re on a longer commitment (e.g., annual) but pay in monthly installments.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214884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ECF1ED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29400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monthly plans are ACTUALLY month-to-month — cancel anytime, no commitment. That’s a choice, and it should be stated plainly in the subscription agreement (a doc we still owe).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160520"/>
            <a:ext cx="10835640" cy="1874520"/>
          </a:xfrm>
          <a:prstGeom prst="roundRect">
            <a:avLst>
              <a:gd name="adj" fmla="val 5854"/>
            </a:avLst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7091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(first firms): stay actually month-to-month — lowest friction to the first “yes.” Don’t lock in firms who haven’t felt the value.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(at renewal / once value is proven): move firms to an annual commitment (billed monthly or annually) with a prepay discount.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don’t lock in the unproven; DO lock in the proven — annual gives predictable revenue, cheaper fees, and stronger ARR for a raise.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Revenue &amp; payment decisions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FIRMS STAY — INSTEAD OF MOVING THEIR FILES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5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stay because leaving costs them — not because we trap them.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10835640" cy="585216"/>
          </a:xfrm>
          <a:prstGeom prst="roundRect">
            <a:avLst>
              <a:gd name="adj" fmla="val 12500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276856"/>
            <a:ext cx="100584" cy="237744"/>
          </a:xfrm>
          <a:prstGeom prst="roundRect">
            <a:avLst>
              <a:gd name="adj" fmla="val 45455"/>
            </a:avLst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0312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organized record lives here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12080" y="2103120"/>
            <a:ext cx="6080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source-linked intakes, timelines, and packets. Export the raw files and you lose the structure that made them worth having.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752344"/>
            <a:ext cx="10835640" cy="585216"/>
          </a:xfrm>
          <a:prstGeom prst="roundRect">
            <a:avLst>
              <a:gd name="adj" fmla="val 12500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2926080"/>
            <a:ext cx="100584" cy="237744"/>
          </a:xfrm>
          <a:prstGeom prst="roundRect">
            <a:avLst>
              <a:gd name="adj" fmla="val 45455"/>
            </a:avLst>
          </a:prstGeom>
          <a:solidFill>
            <a:srgbClr val="42574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75234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woven into the workflow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12080" y="2752344"/>
            <a:ext cx="6080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it’s the living case file — deadlines, packets, trial notebooks — it’s how the firm actually works day to day. (Phase 2, by design.)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401568"/>
            <a:ext cx="10835640" cy="585216"/>
          </a:xfrm>
          <a:prstGeom prst="roundRect">
            <a:avLst>
              <a:gd name="adj" fmla="val 12500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3575304"/>
            <a:ext cx="100584" cy="237744"/>
          </a:xfrm>
          <a:prstGeom prst="roundRect">
            <a:avLst>
              <a:gd name="adj" fmla="val 45455"/>
            </a:avLst>
          </a:prstGeom>
          <a:solidFill>
            <a:srgbClr val="42574E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40156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intake funnel runs through us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12080" y="3401568"/>
            <a:ext cx="6080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client-intake link is on their site, cards, and ads. Switching means re-plumbing how clients arrive.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050792"/>
            <a:ext cx="10835640" cy="585216"/>
          </a:xfrm>
          <a:prstGeom prst="roundRect">
            <a:avLst>
              <a:gd name="adj" fmla="val 12500"/>
            </a:avLst>
          </a:prstGeom>
          <a:solidFill>
            <a:srgbClr val="FBFBFA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" y="4224528"/>
            <a:ext cx="100584" cy="237744"/>
          </a:xfrm>
          <a:prstGeom prst="roundRect">
            <a:avLst>
              <a:gd name="adj" fmla="val 45455"/>
            </a:avLst>
          </a:prstGeom>
          <a:solidFill>
            <a:srgbClr val="42574E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05079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There’s nowhere equivalent to go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0" y="4050792"/>
            <a:ext cx="6080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 of one — UPL-safe, source-linked, organize-never-conclude. Competitors do a different job entirely.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700016"/>
            <a:ext cx="10835640" cy="585216"/>
          </a:xfrm>
          <a:prstGeom prst="roundRect">
            <a:avLst>
              <a:gd name="adj" fmla="val 12500"/>
            </a:avLst>
          </a:prstGeom>
          <a:solidFill>
            <a:srgbClr val="F6F8F5"/>
          </a:solidFill>
          <a:ln w="9525">
            <a:solidFill>
              <a:srgbClr val="D8E0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" y="4873752"/>
            <a:ext cx="100584" cy="237744"/>
          </a:xfrm>
          <a:prstGeom prst="roundRect">
            <a:avLst>
              <a:gd name="adj" fmla="val 45455"/>
            </a:avLst>
          </a:prstGeom>
          <a:solidFill>
            <a:srgbClr val="42574E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70001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know it, and it’s trusted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12080" y="4700016"/>
            <a:ext cx="6080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 working system for a sensitive workflow means retraining and risk. Inertia favors the incumbent — us.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5440680"/>
            <a:ext cx="10835640" cy="777240"/>
          </a:xfrm>
          <a:prstGeom prst="roundRect">
            <a:avLst>
              <a:gd name="adj" fmla="val 14118"/>
            </a:avLst>
          </a:prstGeom>
          <a:solidFill>
            <a:srgbClr val="ECF1ED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440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read: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moat compounds — weakest on day one, strongest by Phase 2. So we keep firms by being better and embedded, not by holding data hostage — the worker still owns and can move their own record.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Revenue &amp; payment decisions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land.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2194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 settlement —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 bright line at any percentage. Capture the value through pricing, never the recovery.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31546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—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Stripe. Turn on ACH (cheap + automated), wire the big deals, optionally surcharge cards.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4114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fees —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annual-by-ACH — ~$5 per firm-year instead of ~$195.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50749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— 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now to win first firms; annual commitment at renewal for predictable revenue.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Revenue &amp; payment decisions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one3seven</dc:creator>
  <cp:lastModifiedBy>one3seven</cp:lastModifiedBy>
  <cp:revision>1</cp:revision>
  <dcterms:created xsi:type="dcterms:W3CDTF">2026-07-18T20:24:52Z</dcterms:created>
  <dcterms:modified xsi:type="dcterms:W3CDTF">2026-07-18T20:24:52Z</dcterms:modified>
</cp:coreProperties>
</file>