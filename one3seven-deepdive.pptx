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legal line in the deck. Worker picks their OWN attorney (Q7). We do NOT operate a pool/directory and do not match (Q9) — that keeps us clear of CA Bus &amp; Prof Code §6155 (unlicensed lawyer referral service). Say it with confidence: it’s a feature, not a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SOURCE OF TRUTH: docs/roadmap-phases.md. Litigation Ops is Phase 2 on purpose — it is the stickiest, highest-switching-cost product, so retention comes before the marketplace/funding. Phase 4 funding: one3seven FACILITATES/REFERS to third-party funders, NEVER becomes the lender (rates run 15-30%; that is why). TPLF is state-by-state; N.D.Cal Local Rule 3-15 already requires funder disclosure; verify a CA-specific statute with counsel before any design. Expert marketplace keeps its gate: 3-5 paying firms + expert DB head start + capacity. Participating-firms network = certified LRS only (Jackson v. LegalMatch).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— my assumptions, not a forecast. Swap in your real close rate + tier mix. Base (~40 paying firms in year one) is ambitious for a founder-led first year; the Conservative row (~20 firms, ~$37K gross, ~$96K exit ARR) is the safer number to defend. Levers: close rate on the 91-firm pipeline, churn, tier mix (more Firm/Surge lifts everything). If audience is investors, lead with exit ARR + slope, not gross.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marketing/intake figures are industry-range ESTIMATES, not sourced stats — present as “commonly” ranges and confirm with real firm data. Rep takeaway: the buyer already spends heavily on acquisition + unbillable intake, and cases turn on organized evidence — one3seven sits right at that expensive, painful intersection. Verb-test: “what wins a case” = evidence/credibility/preparation (the attorney’s craft), never “one3seven wins cases.”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Finalize the employment testimony in your own words. TWO cautions: (1) confidentiality — if that matter is under an NDA or still active, do not name the employer or the outcome; keep it to the preparation experience. (2) causation-clean — “organizing made me prepared,” never “the tool got me a result.”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463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DEEP DIVE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who it’s for,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where it goes.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control · sign-up · the firm connection · phases · the model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one3seven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WORKER CONTROL &amp; OWNERSHIP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worker owns the record — start to finish.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65176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81912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Owns 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81912" y="3063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documents and words belong to them. one3seven organizes — it never takes over or sells anything.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233172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9088" y="265176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22592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sharing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22592" y="3063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a firm until the worker chooses to send it. Their employer is never notified.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420624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52628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81912" y="4480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locked 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81912" y="4937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— the same record can go to more than one firm. Not tied to whoever paid.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420624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9088" y="452628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22592" y="4480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Deletes anytime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22592" y="4937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request deletion at any time. Row-level isolation keeps each account private.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Deep dive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· HOW THEY SIGN UP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front doors. Both simple.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5603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51560" y="315468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/for-workers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“Start organizing — free”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account (email or Google)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their story + upload records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no credit card, ever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074920" cy="3657600"/>
          </a:xfrm>
          <a:prstGeom prst="roundRect">
            <a:avLst>
              <a:gd name="adj" fmla="val 3000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2280" y="25603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AF0EC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2560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12280" y="315468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/for-firms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founding-firm pilot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onboards the firm directly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intake dashboard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via Stripe at go-live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Deep dive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&amp; Q9 · THE WORKER CHOOSES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worker picks the attorney.</a:t>
            </a:r>
            <a:endParaRPr lang="en-US" sz="3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“pool.”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74320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27332E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5A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YES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356616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their record is organized, the worker decides which attorney to send it to — an attorney of their own choosing. Worker-initiated, every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2743200"/>
            <a:ext cx="5074920" cy="2834640"/>
          </a:xfrm>
          <a:prstGeom prst="roundRect">
            <a:avLst>
              <a:gd name="adj" fmla="val 3871"/>
            </a:avLst>
          </a:prstGeom>
          <a:solidFill>
            <a:srgbClr val="2E262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A2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  NO curated pool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12280" y="356616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3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does NOT keep a directory it matches workers to, and never recommends, ranks, or selects attorneys. That would be a lawyer referral service (regulated). This is deliberate legal design, not a gap.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Deep dive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· WHAT IS A FIRM LINK?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firm’s own intake link — shared by the firm.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10835640" cy="1051560"/>
          </a:xfrm>
          <a:prstGeom prst="roundRect">
            <a:avLst>
              <a:gd name="adj" fmla="val 10435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317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one3seven.com/?fc=YOURFIRMCODE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66928" cy="566928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657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36118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firm gets a unique 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57800" y="361188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 the firm’s settings — one link, tied to that firm.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553712"/>
            <a:ext cx="566928" cy="566928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553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450799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firm distributes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57800" y="4507992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its own clients or contacts. one3seven never chooses who receives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5449824"/>
            <a:ext cx="566928" cy="566928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449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540410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worker’s intake routes back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57800" y="5404104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who uses the link has their organized intake delivered to that firm.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Deep dive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WHEN AN ATTORNEY ACCEPTS THE INTAKE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does next.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5603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560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SEES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51560" y="320040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moves to “Accepted” on the dashboard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actions: review docs, request clarification, request records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consultation with the worker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full, source-linked file stays on hand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2280" y="25603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EAF0EC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SEES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12280" y="3200400"/>
            <a:ext cx="4343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status update: their intake was accepted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next step (e.g., consultation)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stay in control of their record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limbo — they know where things stand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“Accepting the intake” is a workflow step — the attorney-client relationship is formed by the firm’s own engagement process, not by one3seven.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WHO SEES ONE3SEVEN FIRST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founding cohort — then their workers.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697480"/>
            <a:ext cx="640080" cy="640080"/>
          </a:xfrm>
          <a:prstGeom prst="ellipse">
            <a:avLst/>
          </a:prstGeom>
          <a:solidFill>
            <a:srgbClr val="95AB9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Founding firms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1148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hand-picked cohort of California plaintiff-employment firms, onboarded a few at a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7744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697480"/>
            <a:ext cx="640080" cy="64008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workers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41148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firms share their intake links — the first workers arrive through firms that already trust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697480"/>
            <a:ext cx="640080" cy="64008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worker demand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41148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worker-facing acquisition brings workers who choose their own attorney.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Deep dive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UPCOMING PHASES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organized record — a platform in phases.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10835640" cy="749808"/>
          </a:xfrm>
          <a:prstGeom prst="roundRect">
            <a:avLst>
              <a:gd name="adj" fmla="val 10976"/>
            </a:avLst>
          </a:prstGeom>
          <a:solidFill>
            <a:srgbClr val="27332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4884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NOW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Intake Intelligence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Organized, source-linked intake. The worker owns it and chooses their own attorney.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880360"/>
            <a:ext cx="10835640" cy="749808"/>
          </a:xfrm>
          <a:prstGeom prst="roundRect">
            <a:avLst>
              <a:gd name="adj" fmla="val 10976"/>
            </a:avLst>
          </a:prstGeom>
          <a:solidFill>
            <a:srgbClr val="27332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97180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Litigation Operations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case file — transcripts, exhibits, deposition mgmt, trial notebooks. The sticky layer.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703320"/>
            <a:ext cx="10835640" cy="749808"/>
          </a:xfrm>
          <a:prstGeom prst="roundRect">
            <a:avLst>
              <a:gd name="adj" fmla="val 10976"/>
            </a:avLst>
          </a:prstGeom>
          <a:solidFill>
            <a:srgbClr val="27332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79476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Marketplace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experts (medical, vocational, economic) briefed straight from the record.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21040" y="370332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8B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Anti-kickback · gate: 3–5 paying firms + expert DB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4526280"/>
            <a:ext cx="10835640" cy="749808"/>
          </a:xfrm>
          <a:prstGeom prst="roundRect">
            <a:avLst>
              <a:gd name="adj" fmla="val 10976"/>
            </a:avLst>
          </a:prstGeom>
          <a:solidFill>
            <a:srgbClr val="27332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61772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 Facilitation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9377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firms to litigation funders — referral only, never the lender.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452628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8B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TPLF regulated state-by-state — verify CA · N.D.Cal Rule 3-15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5349240"/>
            <a:ext cx="10835640" cy="749808"/>
          </a:xfrm>
          <a:prstGeom prst="roundRect">
            <a:avLst>
              <a:gd name="adj" fmla="val 10976"/>
            </a:avLst>
          </a:prstGeom>
          <a:solidFill>
            <a:srgbClr val="2733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44068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576072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Multi-state, then multi-category (insurance · toxic-tort) — validation first.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630936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track: the participating-firms network unlocks only with State Bar referral-service certification (§6155). Hard line — funding stays a referrer, never the lender.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Deep dive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FIRST-YEAR GROSS SALES (ILLUSTRATIVE)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first-year gross sales could look like.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12080" cy="384048"/>
          </a:xfrm>
          <a:prstGeom prst="roundRect">
            <a:avLst>
              <a:gd name="adj" fmla="val 50000"/>
            </a:avLst>
          </a:prstGeom>
          <a:solidFill>
            <a:srgbClr val="E7C15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459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swap in your close-rate + tier mix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2336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firms · M12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 · 12 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run-rate (ARR)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898648"/>
            <a:ext cx="10835640" cy="603504"/>
          </a:xfrm>
          <a:prstGeom prst="roundRect">
            <a:avLst>
              <a:gd name="adj" fmla="val 12121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9864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289864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89864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~$37K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0" y="28986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~$96K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557016"/>
            <a:ext cx="10835640" cy="603504"/>
          </a:xfrm>
          <a:prstGeom prst="roundRect">
            <a:avLst>
              <a:gd name="adj" fmla="val 12121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5701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355701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55701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~$85K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0" y="355701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~$210K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4215384"/>
            <a:ext cx="10835640" cy="603504"/>
          </a:xfrm>
          <a:prstGeom prst="roundRect">
            <a:avLst>
              <a:gd name="adj" fmla="val 12121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1538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Optimistic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23360" y="421538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421538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~$150K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421538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~$380K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892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gross looks small: </a:t>
            </a:r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 + a free-pilot delay + ramp — normal for year one. To investors, lead with the exit run-rate and the slope, not the gross.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</a:t>
            </a:r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~$420/mo · workers free · ~1-mo pilot before paid · rep commission ≈ 20% of gross ($7K–$30K).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Deep dive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FIELD GUIDE · UNDERSTAND THE BUYER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attorney actually cares about.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0835640" cy="1097280"/>
          </a:xfrm>
          <a:prstGeom prst="roundRect">
            <a:avLst>
              <a:gd name="adj" fmla="val 10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42616"/>
            <a:ext cx="384048" cy="384048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4323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firms look for in documents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7889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corroboration, a clear chronology, and provenance — is each fact authentic and traceable to a record, not just the client’s memory?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547872"/>
            <a:ext cx="10835640" cy="1097280"/>
          </a:xfrm>
          <a:prstGeom prst="roundRect">
            <a:avLst>
              <a:gd name="adj" fmla="val 10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904488"/>
            <a:ext cx="384048" cy="384048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6941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“wins” a case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405079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credibility, and preparation — the attorney’s craft. A clean, corroborated, organized record is what they build on. (one3seven assembles the record; the attorney does the rest.)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809744"/>
            <a:ext cx="10835640" cy="1097280"/>
          </a:xfrm>
          <a:prstGeom prst="roundRect">
            <a:avLst>
              <a:gd name="adj" fmla="val 10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5166360"/>
            <a:ext cx="384048" cy="384048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49560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important is evidence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531266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everything. A claim is only as strong as what’s documented — and disorganized or lost evidence can’t help, no matter how real the wrong was.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Deep dive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FIELD GUIDE · WHERE THE MONEY GOES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Firms pay a fortune to get clients —</a:t>
            </a:r>
            <a:endParaRPr lang="en-US" sz="2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pay again to sort them.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69748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27332E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3200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largest UNBILLABLE cost centers — hours of staff time per prospect, and firms screen many to sign a few.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46520" y="269748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27332E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12280" y="320040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— commonly hundreds to several thousand dollars per acquired case (search, referral, TV). Plaintiff firms live and die on client-acquisition cost.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754880"/>
            <a:ext cx="10835640" cy="1188720"/>
          </a:xfrm>
          <a:prstGeom prst="roundRect">
            <a:avLst>
              <a:gd name="adj" fmla="val 9231"/>
            </a:avLst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754880"/>
            <a:ext cx="10104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for reps: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already pay to acquire the client. one3seven makes each acquired client faster to evaluate and the record — what a case is built on — organized. The marketing money they already spend simply goes further.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estimates — confirm against your own firm data before quoting figures.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Deep dive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BUILT THIS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I’ve lived the disorganized-record problem — more than once.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514600"/>
            <a:ext cx="5303520" cy="2560320"/>
          </a:xfrm>
          <a:prstGeom prst="roundRect">
            <a:avLst>
              <a:gd name="adj" fmla="val 4286"/>
            </a:avLst>
          </a:prstGeom>
          <a:solidFill>
            <a:srgbClr val="374A42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INSURANCE CLAIM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31089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organized my own mold-claim records into a clear, source-linked file and gave it to my attorneys. I saw first-hand what a clean record does for a professional’s 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46520" y="2514600"/>
            <a:ext cx="5074920" cy="2560320"/>
          </a:xfrm>
          <a:prstGeom prst="roundRect">
            <a:avLst>
              <a:gd name="adj" fmla="val 4286"/>
            </a:avLst>
          </a:prstGeom>
          <a:solidFill>
            <a:srgbClr val="374A4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EMPLOYMENT SIDE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12280" y="310896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I’ve also lived the employment side — the same scramble to reconstruct what happened before anyone could help. [Add your own words here.]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Victoria Ramey, Founder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Deep dive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377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Worker-owned. Firm-ready. Judgment, preserved.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37490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controls the record. The firm gets it organized. one3seven never crosses the line into judgment — that stays with the attorney.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493776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EAF0E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4937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one3seven.com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Deep dive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one3seven</dc:creator>
  <cp:lastModifiedBy>one3seven</cp:lastModifiedBy>
  <cp:revision>1</cp:revision>
  <dcterms:created xsi:type="dcterms:W3CDTF">2026-07-15T19:21:29Z</dcterms:created>
  <dcterms:modified xsi:type="dcterms:W3CDTF">2026-07-15T19:21:29Z</dcterms:modified>
</cp:coreProperties>
</file>