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one-line: one3seven organizes a worker's scattered employment records into a clean, source-linked intake the attorney reviews before the first call. It organizes and reflects — it never concludes.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three different layers. Mission is internal north star. Belief is what we teach the market (about THEM, not us). Promise is the product in 3 seconds. Don't swap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differentiator AND the compliance posture. Competitors that draft/score/predict edge toward the UPL line. Our refusal to do those things is exactly why an attorney can safely adopt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exact numbers before presenting — Stripe products are still being finalized. The MODEL is the key point: flat subscription to firms, volume-based tiers, workers always free, no per-client fees and no fee-splitting (that keeps us clear of referral-service / fee-split rules). Founding-firm pricing is offered to the first capped cohort.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telling causation-clean: I organized my records and gave them to my attorneys. Never claim the tool produced a settlement or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3291840"/>
            <a:ext cx="3840480" cy="3840480"/>
          </a:xfrm>
          <a:prstGeom prst="ellipse">
            <a:avLst/>
          </a:prstGeom>
          <a:solidFill>
            <a:srgbClr val="3C4E4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CALIFORNIA EMPLOYMENT FIRMS · WORKER-FIRST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one3seven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Employment intake, organized — never concluded.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“Judgment deserves an organized record.”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0" y="5943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wronged worker arrives with a shoebox.</a:t>
            </a:r>
            <a:endParaRPr lang="en-US" sz="3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Someone has to rebuild the record first.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651760"/>
            <a:ext cx="52120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324612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F1F3E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3246120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F1F3E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stubs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904488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F1F3E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904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termination letter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904488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F1F3E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904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4562856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F1F3E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56285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voicemail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4562856"/>
            <a:ext cx="2194560" cy="502920"/>
          </a:xfrm>
          <a:prstGeom prst="roundRect">
            <a:avLst>
              <a:gd name="adj" fmla="val 18182"/>
            </a:avLst>
          </a:prstGeom>
          <a:solidFill>
            <a:srgbClr val="F1F3E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456285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half-remembered dates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39319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6720840" y="2651760"/>
            <a:ext cx="4800600" cy="3200400"/>
          </a:xfrm>
          <a:prstGeom prst="roundRect">
            <a:avLst>
              <a:gd name="adj" fmla="val 3429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3246120"/>
            <a:ext cx="4160520" cy="530352"/>
          </a:xfrm>
          <a:prstGeom prst="roundRect">
            <a:avLst>
              <a:gd name="adj" fmla="val 17241"/>
            </a:avLst>
          </a:prstGeom>
          <a:solidFill>
            <a:srgbClr val="34473F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324612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9, 2024 — Concern raised with HR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40880" y="3904488"/>
            <a:ext cx="4160520" cy="530352"/>
          </a:xfrm>
          <a:prstGeom prst="roundRect">
            <a:avLst>
              <a:gd name="adj" fmla="val 17241"/>
            </a:avLst>
          </a:prstGeom>
          <a:solidFill>
            <a:srgbClr val="34473F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390448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7, 2024 — Written warning issued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40880" y="4562856"/>
            <a:ext cx="4160520" cy="530352"/>
          </a:xfrm>
          <a:prstGeom prst="roundRect">
            <a:avLst>
              <a:gd name="adj" fmla="val 17241"/>
            </a:avLst>
          </a:prstGeom>
          <a:solidFill>
            <a:srgbClr val="34473F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456285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10, 2025 — Employment terminated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40880" y="5257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links back to its source document.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STAND FOR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record comes first. The judgment stays human.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331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834640" y="23317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Judgment deserves an organized record.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834640" y="3291840"/>
            <a:ext cx="8412480" cy="0"/>
          </a:xfrm>
          <a:prstGeom prst="line">
            <a:avLst/>
          </a:prstGeom>
          <a:noFill/>
          <a:ln w="12700">
            <a:solidFill>
              <a:srgbClr val="3C4E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474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34747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legal decision starts with the record.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2834640" y="4434840"/>
            <a:ext cx="8412480" cy="0"/>
          </a:xfrm>
          <a:prstGeom prst="line">
            <a:avLst/>
          </a:prstGeom>
          <a:noFill/>
          <a:ln w="12700">
            <a:solidFill>
              <a:srgbClr val="3C4E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617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34640" y="46177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file. Decide in minutes.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ONE3SEVEN ACTUALLY PRODUCES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source-linked intake packet —</a:t>
            </a:r>
            <a:endParaRPr lang="en-US" sz="3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before the first call.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6126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worker's own account, preserved word-for-word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dated timeline of what happened, in order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grouped and labeled by type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dates surfaced for the attorney to review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clickable back to its exact source page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2286000"/>
            <a:ext cx="416052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INTAKE PACKET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3524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Rivera · Pacific Ridge Distribution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35240" y="3246120"/>
            <a:ext cx="3520440" cy="0"/>
          </a:xfrm>
          <a:prstGeom prst="line">
            <a:avLst/>
          </a:prstGeom>
          <a:noFill/>
          <a:ln w="12700">
            <a:solidFill>
              <a:srgbClr val="D8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34290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0" y="34290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complaint filed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35240" y="408736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0" y="40873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warning (11 days later)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35240" y="474573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0" y="474573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— “performance”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35240" y="5440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  Source: hr-complaint.pdf · p.1 · view source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steps. No prompts, no chatbot.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788920"/>
            <a:ext cx="640080" cy="64008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6118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uploads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42976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records + their story, in their own words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3008" y="246888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13048" y="2788920"/>
            <a:ext cx="640080" cy="64008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1" name="Text 9"/>
          <p:cNvSpPr/>
          <p:nvPr/>
        </p:nvSpPr>
        <p:spPr>
          <a:xfrm>
            <a:off x="3813048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67328" y="36118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one3seven organizes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67328" y="42976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builds a dated, source-linked timeline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0216" y="246888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0256" y="2788920"/>
            <a:ext cx="640080" cy="640080"/>
          </a:xfrm>
          <a:prstGeom prst="ellipse">
            <a:avLst/>
          </a:prstGeom>
          <a:solidFill>
            <a:srgbClr val="42574E"/>
          </a:solidFill>
          <a:ln/>
        </p:spPr>
      </p:sp>
      <p:sp>
        <p:nvSpPr>
          <p:cNvPr id="16" name="Text 14"/>
          <p:cNvSpPr/>
          <p:nvPr/>
        </p:nvSpPr>
        <p:spPr>
          <a:xfrm>
            <a:off x="6620256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74536" y="36118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is preserved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74536" y="42976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grouped, every fact traced to its origin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07424" y="246888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27464" y="2788920"/>
            <a:ext cx="640080" cy="640080"/>
          </a:xfrm>
          <a:prstGeom prst="ellipse">
            <a:avLst/>
          </a:prstGeom>
          <a:solidFill>
            <a:srgbClr val="95AB9B"/>
          </a:solidFill>
          <a:ln/>
        </p:spPr>
      </p:sp>
      <p:sp>
        <p:nvSpPr>
          <p:cNvPr id="21" name="Text 19"/>
          <p:cNvSpPr/>
          <p:nvPr/>
        </p:nvSpPr>
        <p:spPr>
          <a:xfrm>
            <a:off x="9427464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81744" y="36118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Attorney reviews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81744" y="42976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clean file and decides — the judgment is theirs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WE DO NOT CROSS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organizes and reflects.</a:t>
            </a:r>
            <a:endParaRPr lang="en-US" sz="3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never concludes.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2606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restraint is the product — and the legal moat. one3seven deliberately does NOT: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3200400"/>
            <a:ext cx="5074920" cy="777240"/>
          </a:xfrm>
          <a:prstGeom prst="roundRect">
            <a:avLst>
              <a:gd name="adj" fmla="val 11765"/>
            </a:avLst>
          </a:prstGeom>
          <a:solidFill>
            <a:srgbClr val="2733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004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3200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or rank a case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80760" y="3200400"/>
            <a:ext cx="5074920" cy="777240"/>
          </a:xfrm>
          <a:prstGeom prst="roundRect">
            <a:avLst>
              <a:gd name="adj" fmla="val 11765"/>
            </a:avLst>
          </a:prstGeom>
          <a:solidFill>
            <a:srgbClr val="27332E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32004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49440" y="3200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outcomes or settlements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5800" y="4160520"/>
            <a:ext cx="5074920" cy="777240"/>
          </a:xfrm>
          <a:prstGeom prst="roundRect">
            <a:avLst>
              <a:gd name="adj" fmla="val 11765"/>
            </a:avLst>
          </a:prstGeom>
          <a:solidFill>
            <a:srgbClr val="27332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41605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or select attorneys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80760" y="4160520"/>
            <a:ext cx="5074920" cy="777240"/>
          </a:xfrm>
          <a:prstGeom prst="roundRect">
            <a:avLst>
              <a:gd name="adj" fmla="val 11765"/>
            </a:avLst>
          </a:prstGeom>
          <a:solidFill>
            <a:srgbClr val="27332E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49440" y="41605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legal advice, ever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8580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law firm.  ·  Not a lawyer referral service.  ·  Not legal advice.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PROVIDES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sides, one organized record.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303520" cy="3749040"/>
          </a:xfrm>
          <a:prstGeom prst="roundRect">
            <a:avLst>
              <a:gd name="adj" fmla="val 2927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56032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560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WORKER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51560" y="320040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story in your own words — no forms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pieces: texts, pay stubs, emails, photos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clear, dated, source-linked timeline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it, control who sees it, keep it — always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5074920" cy="3749040"/>
          </a:xfrm>
          <a:prstGeom prst="roundRect">
            <a:avLst>
              <a:gd name="adj" fmla="val 2927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12280" y="25603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AF0EC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2560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12280" y="320040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source-linked packet before the first call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Document-linked chronology — every fact traceable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Records-based wage arithmetic (attorney work-product)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Missing-records prompts — the record self-completes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dashboard + your own shareable intake link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· FOR THE WORKER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walk in prepared — and in control.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2514600" cy="3017520"/>
          </a:xfrm>
          <a:prstGeom prst="roundRect">
            <a:avLst>
              <a:gd name="adj" fmla="val 4364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788920"/>
            <a:ext cx="502920" cy="502920"/>
          </a:xfrm>
          <a:prstGeom prst="ellipse">
            <a:avLst/>
          </a:prstGeom>
          <a:solidFill>
            <a:srgbClr val="95AB9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474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397764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to the worker, ever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93008" y="2468880"/>
            <a:ext cx="2514600" cy="3017520"/>
          </a:xfrm>
          <a:prstGeom prst="roundRect">
            <a:avLst>
              <a:gd name="adj" fmla="val 4364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3048" y="2788920"/>
            <a:ext cx="502920" cy="502920"/>
          </a:xfrm>
          <a:prstGeom prst="ellipse">
            <a:avLst/>
          </a:prstGeom>
          <a:solidFill>
            <a:srgbClr val="95AB9B"/>
          </a:solidFill>
          <a:ln/>
        </p:spPr>
      </p:sp>
      <p:sp>
        <p:nvSpPr>
          <p:cNvPr id="10" name="Text 8"/>
          <p:cNvSpPr/>
          <p:nvPr/>
        </p:nvSpPr>
        <p:spPr>
          <a:xfrm>
            <a:off x="3767328" y="3474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767328" y="397764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employer is never notified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0216" y="2468880"/>
            <a:ext cx="2514600" cy="3017520"/>
          </a:xfrm>
          <a:prstGeom prst="roundRect">
            <a:avLst>
              <a:gd name="adj" fmla="val 4364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0256" y="2788920"/>
            <a:ext cx="502920" cy="502920"/>
          </a:xfrm>
          <a:prstGeom prst="ellipse">
            <a:avLst/>
          </a:prstGeom>
          <a:solidFill>
            <a:srgbClr val="95AB9B"/>
          </a:solidFill>
          <a:ln/>
        </p:spPr>
      </p:sp>
      <p:sp>
        <p:nvSpPr>
          <p:cNvPr id="14" name="Text 12"/>
          <p:cNvSpPr/>
          <p:nvPr/>
        </p:nvSpPr>
        <p:spPr>
          <a:xfrm>
            <a:off x="6574536" y="3474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74536" y="397764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seriously — your record speaks for itself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07424" y="2468880"/>
            <a:ext cx="2514600" cy="3017520"/>
          </a:xfrm>
          <a:prstGeom prst="roundRect">
            <a:avLst>
              <a:gd name="adj" fmla="val 4364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27464" y="2788920"/>
            <a:ext cx="502920" cy="502920"/>
          </a:xfrm>
          <a:prstGeom prst="ellipse">
            <a:avLst/>
          </a:prstGeom>
          <a:solidFill>
            <a:srgbClr val="95AB9B"/>
          </a:solidFill>
          <a:ln/>
        </p:spPr>
      </p:sp>
      <p:sp>
        <p:nvSpPr>
          <p:cNvPr id="18" name="Text 16"/>
          <p:cNvSpPr/>
          <p:nvPr/>
        </p:nvSpPr>
        <p:spPr>
          <a:xfrm>
            <a:off x="9381744" y="3474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25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381744" y="397764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it and choose who sees it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· FOR THE FIRM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triage. Faster decisions. Zero UPL risk.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10835640" cy="841248"/>
          </a:xfrm>
          <a:prstGeom prst="roundRect">
            <a:avLst>
              <a:gd name="adj" fmla="val 13043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5420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42574E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37744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unbillable triage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4920" y="2377440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stop sorting shoeboxes before an attorney can even look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337560"/>
            <a:ext cx="10835640" cy="841248"/>
          </a:xfrm>
          <a:prstGeom prst="roundRect">
            <a:avLst>
              <a:gd name="adj" fmla="val 13043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50215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42574E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333756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yes / no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4920" y="3337560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timeline is already built — decide in minutes, not weeks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297680"/>
            <a:ext cx="10835640" cy="841248"/>
          </a:xfrm>
          <a:prstGeom prst="roundRect">
            <a:avLst>
              <a:gd name="adj" fmla="val 13043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46227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42574E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429768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Organized on day one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4920" y="4297680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source-linked record the moment a worker submits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10835640" cy="841248"/>
          </a:xfrm>
          <a:prstGeom prst="roundRect">
            <a:avLst>
              <a:gd name="adj" fmla="val 13043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42239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42574E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525780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AI adoption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74920" y="5257800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Traceable, human-in-the-loop — the version without the UPL risk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means workflow — time-to-decision. Never a claim about case outcomes or recovery.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STAND BEHIND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trusted with sensitive records.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34473F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670048"/>
            <a:ext cx="457200" cy="457200"/>
          </a:xfrm>
          <a:prstGeom prst="ellipse">
            <a:avLst/>
          </a:prstGeom>
          <a:solidFill>
            <a:srgbClr val="95AB9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6334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Anthropic’s Claude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309067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record organization — factual foundation, no endorsement claimed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237744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34473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670048"/>
            <a:ext cx="457200" cy="457200"/>
          </a:xfrm>
          <a:prstGeom prst="ellipse">
            <a:avLst/>
          </a:prstGeom>
          <a:solidFill>
            <a:srgbClr val="95AB9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26334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Row-level isolation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95160" y="309067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firm sees only its own intakes, enforced at the database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420624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34473F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4498848"/>
            <a:ext cx="457200" cy="457200"/>
          </a:xfrm>
          <a:prstGeom prst="ellipse">
            <a:avLst/>
          </a:prstGeom>
          <a:solidFill>
            <a:srgbClr val="95AB9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44622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used for training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491947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documents organize the intake — never train AI models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420624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34473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498848"/>
            <a:ext cx="457200" cy="457200"/>
          </a:xfrm>
          <a:prstGeom prst="ellipse">
            <a:avLst/>
          </a:prstGeom>
          <a:solidFill>
            <a:srgbClr val="95AB9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44622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 by design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491947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surfaced fact links back to its source — no black box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BILLING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flat software subscription. Workers always free.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3246120" cy="2651760"/>
          </a:xfrm>
          <a:prstGeom prst="roundRect">
            <a:avLst>
              <a:gd name="adj" fmla="val 4138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560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9718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$249</a:t>
            </a:r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month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05840" y="3886200"/>
            <a:ext cx="2606040" cy="0"/>
          </a:xfrm>
          <a:prstGeom prst="line">
            <a:avLst/>
          </a:prstGeom>
          <a:noFill/>
          <a:ln w="12700">
            <a:solidFill>
              <a:srgbClr val="D8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growing plaintiff practices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2331720"/>
            <a:ext cx="3246120" cy="2651760"/>
          </a:xfrm>
          <a:prstGeom prst="roundRect">
            <a:avLst>
              <a:gd name="adj" fmla="val 4138"/>
            </a:avLst>
          </a:prstGeom>
          <a:solidFill>
            <a:srgbClr val="42574E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560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$549</a:t>
            </a:r>
            <a:pPr indent="0" marL="0">
              <a:buNone/>
            </a:pPr>
            <a:r>
              <a:rPr lang="en-US" sz="1300" dirty="0">
                <a:solidFill>
                  <a:srgbClr val="EA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month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572000" y="3886200"/>
            <a:ext cx="2606040" cy="0"/>
          </a:xfrm>
          <a:prstGeom prst="line">
            <a:avLst/>
          </a:prstGeom>
          <a:noFill/>
          <a:ln w="12700">
            <a:solidFill>
              <a:srgbClr val="3447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established employment firms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18120" y="2331720"/>
            <a:ext cx="3246120" cy="2651760"/>
          </a:xfrm>
          <a:prstGeom prst="roundRect">
            <a:avLst>
              <a:gd name="adj" fmla="val 4138"/>
            </a:avLst>
          </a:prstGeom>
          <a:solidFill>
            <a:srgbClr val="FBFBFA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5603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38160" y="29718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$1,490</a:t>
            </a:r>
            <a:pPr indent="0" marL="0">
              <a:buNone/>
            </a:pPr>
            <a:r>
              <a:rPr lang="en-US" sz="1300" dirty="0">
                <a:solidFill>
                  <a:srgbClr val="6A6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year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8138160" y="3886200"/>
            <a:ext cx="2606040" cy="0"/>
          </a:xfrm>
          <a:prstGeom prst="line">
            <a:avLst/>
          </a:prstGeom>
          <a:noFill/>
          <a:ln w="12700">
            <a:solidFill>
              <a:srgbClr val="D8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annual plan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52578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Workers: always free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26480" y="52578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per-client fees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5760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fee-splitting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26480" y="5760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250" b="1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 never gated behind price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built one3seven after living the problem myself.”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32004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D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organized my own scattered claim records into a clear, source-linked file and gave it to my attorneys. I saw first-hand what a clean record does for a professional’s time. That is the entire product — the tool I wished I’d had.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5A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Victoria Ramey, Founder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257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108960"/>
            <a:ext cx="5486400" cy="5486400"/>
          </a:xfrm>
          <a:prstGeom prst="ellipse">
            <a:avLst/>
          </a:prstGeom>
          <a:solidFill>
            <a:srgbClr val="374A4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file. Decide in minutes.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33832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organized-intake layer for California employment firms — worker-first, and built to keep the judgment where it belongs.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7548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EAF0E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4754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25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one3seven.com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703320" y="475488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374A42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4754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pilot  ·  /for-firms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one3seven  ·  Company overview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one3seven</dc:creator>
  <cp:lastModifiedBy>one3seven</cp:lastModifiedBy>
  <cp:revision>1</cp:revision>
  <dcterms:created xsi:type="dcterms:W3CDTF">2026-07-15T16:31:27Z</dcterms:created>
  <dcterms:modified xsi:type="dcterms:W3CDTF">2026-07-15T16:31:27Z</dcterms:modified>
</cp:coreProperties>
</file>