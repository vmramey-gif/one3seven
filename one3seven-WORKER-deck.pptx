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103120"/>
            <a:ext cx="6400800" cy="640080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474720"/>
            <a:ext cx="3657600" cy="3657600"/>
          </a:xfrm>
          <a:prstGeom prst="ellipse">
            <a:avLst/>
          </a:prstGeom>
          <a:solidFill>
            <a:srgbClr val="3C4E4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SIDE OF ONE3SEVEN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worker.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now, why them, how the intake works, what they own — and how we keep it safe.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worker owns the record — start to finish.”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FOR THE WORKER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wronged worker has never had less time and more to lose.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Deadlines are unforgiving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9443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claims run on tight, confusing clocks (EEOC, CRD, Labor Commissioner). Miss one and the case is gone — before a lawyer ever sees 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22860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are scattered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9443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lives in texts, pay stubs, emails, screenshots, and memory. Rebuilding it is exhausting exactly when a person has the least energy.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41605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389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Firms are overwhelmed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81888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with a shoebox of documents is hard to say yes to. Good cases get turned away for being disorganized, not for being weak.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41605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389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finally makes it possible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81888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now can software organize a person’s own records into something a lawyer can open in minutes — safely, without giving advice.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Built for the worker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WORKER — OUR NORTH STAR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serve the person, not the paperwork.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EAF0E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4168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is the one with the most at stake and the least support. Everyone else in the system is paid; they’re not.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264408"/>
            <a:ext cx="457200" cy="457200"/>
          </a:xfrm>
          <a:prstGeom prst="ellipse">
            <a:avLst/>
          </a:prstGeom>
          <a:solidFill>
            <a:srgbClr val="EAF0E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4168" y="321868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hold the truth — their story and their records. We give it structure without taking it over.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197096"/>
            <a:ext cx="457200" cy="457200"/>
          </a:xfrm>
          <a:prstGeom prst="ellipse">
            <a:avLst/>
          </a:prstGeom>
          <a:solidFill>
            <a:srgbClr val="EAF0E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44168" y="415137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worker is organized and in control, the firm’s job gets easier too. Serving the worker first makes the whole system work.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5129784"/>
            <a:ext cx="457200" cy="457200"/>
          </a:xfrm>
          <a:prstGeom prst="ellipse">
            <a:avLst/>
          </a:prstGeom>
          <a:solidFill>
            <a:srgbClr val="EA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44168" y="5084064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founder’s lived experience: she organized her own records and handed a clear file to her lawyers. That’s the entire product.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Built for the worker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THE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form — a proven way to help people remember.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42574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COGNITIVE INTERVIEW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recall method used in real fact-finding — designed to help people remember accurately.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never leading — we never put words or labels in their mouth.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“Report everything,” in their order.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aids only: people, order, documents, moments — never feelings, never legal labels.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is optional — blanks are fine.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21945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QUESTIONS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29400" y="278892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“Take your time. Start wherever it feels easiest. What happened?”</a:t>
            </a:r>
            <a:endParaRPr lang="en-US" sz="11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happened first?”</a:t>
            </a:r>
            <a:endParaRPr lang="en-US" sz="11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was involved?”</a:t>
            </a:r>
            <a:endParaRPr lang="en-US" sz="11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did things start changing, if you remember?”</a:t>
            </a:r>
            <a:endParaRPr lang="en-US" sz="11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you tell anyone at work or ask for help?”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Built for the worker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INTAKE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captures the truth the way the truth actually comes out.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their own words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85292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is preserved word-for-word — not squeezed into someone else’s categories. That’s what a lawyer needs to see.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21945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Non-leading = credible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85292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never suggest answers, the record isn’t coached. It holds up because it’s genuinely theirs.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411480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anchor the story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77316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ties back to a real record — a stub, a letter, a text — so the account is backed by proof, not just memory.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411480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Low-pressure, high-recall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77316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prompts and “start wherever” reduce the stress that blocks memory. People remember more when they’re not on the spot.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Built for the worker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“WOULD MULTIPLE CHOICE BE EASIER?”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tried structured questions. Open recall won.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5303520" cy="3794760"/>
          </a:xfrm>
          <a:prstGeom prst="roundRect">
            <a:avLst>
              <a:gd name="adj" fmla="val 2892"/>
            </a:avLst>
          </a:prstGeom>
          <a:solidFill>
            <a:srgbClr val="F3E4E4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MULTIPLE CHOICE FAILS HERE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leads the witness — pre-set options put ideas in a person’s head and taint the record.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misses the fact that isn’t on the list — real cases never fit tidy boxes.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loses their voice — a checkbox can’t be “preserved word-for-word.”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feels like a form, not being heard — people disengage and under-report.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2194560"/>
            <a:ext cx="5212080" cy="3794760"/>
          </a:xfrm>
          <a:prstGeom prst="roundRect">
            <a:avLst>
              <a:gd name="adj" fmla="val 2892"/>
            </a:avLst>
          </a:prstGeom>
          <a:solidFill>
            <a:srgbClr val="42574E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29400" y="278892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more-structured, guided prompts early on.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open, non-leading cognitive-interview approach pulled out more facts, more accurately.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structure lives in how we ORGANIZE the answer — not in restricting the question.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speaks freely; the AI does the sorting.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Built for the worker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— INTAKE TO A MUTUAL “YES”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scattered records to a client — in a fraction of the time.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25302B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2606040"/>
            <a:ext cx="502920" cy="50292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tells their story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9136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at home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81528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9000" y="23774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25302B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2606040"/>
            <a:ext cx="502920" cy="50292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one3seven organizes 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39136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24728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72200" y="23774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25302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260604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246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 opens a clean file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55080" y="39136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90-minute meeting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67928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15400" y="23774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25302B"/>
          </a:solidFill>
          <a:ln/>
        </p:spPr>
      </p:sp>
      <p:sp>
        <p:nvSpPr>
          <p:cNvPr id="23" name="Shape 21"/>
          <p:cNvSpPr/>
          <p:nvPr/>
        </p:nvSpPr>
        <p:spPr>
          <a:xfrm>
            <a:off x="9921240" y="260604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4" name="Text 22"/>
          <p:cNvSpPr/>
          <p:nvPr/>
        </p:nvSpPr>
        <p:spPr>
          <a:xfrm>
            <a:off x="99212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98280" y="3246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sides say yes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098280" y="39136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is now a client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" y="489204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the point: less time in limbo for the worker, faster yes for the firm, more cases that actually get taken.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5669280"/>
            <a:ext cx="10835640" cy="457200"/>
          </a:xfrm>
          <a:prstGeom prst="roundRect">
            <a:avLst>
              <a:gd name="adj" fmla="val 50000"/>
            </a:avLst>
          </a:prstGeom>
          <a:solidFill>
            <a:srgbClr val="25302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66928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limbo on either side — the record is ready before the first call.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Built for the worker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INTAKE JOURNEY — THE STATUS BAR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knowing where you are is its own relief.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0835640" cy="164592"/>
          </a:xfrm>
          <a:prstGeom prst="roundRect">
            <a:avLst>
              <a:gd name="adj" fmla="val 50000"/>
            </a:avLst>
          </a:prstGeom>
          <a:solidFill>
            <a:srgbClr val="D8E0D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286000"/>
            <a:ext cx="5634533" cy="164592"/>
          </a:xfrm>
          <a:prstGeom prst="roundRect">
            <a:avLst>
              <a:gd name="adj" fmla="val 50000"/>
            </a:avLst>
          </a:prstGeom>
          <a:solidFill>
            <a:srgbClr val="42574E"/>
          </a:solidFill>
          <a:ln/>
        </p:spPr>
      </p:sp>
      <p:sp>
        <p:nvSpPr>
          <p:cNvPr id="6" name="Shape 4"/>
          <p:cNvSpPr/>
          <p:nvPr/>
        </p:nvSpPr>
        <p:spPr>
          <a:xfrm>
            <a:off x="1641348" y="2194560"/>
            <a:ext cx="256032" cy="256032"/>
          </a:xfrm>
          <a:prstGeom prst="ellipse">
            <a:avLst/>
          </a:prstGeom>
          <a:solidFill>
            <a:srgbClr val="42574E"/>
          </a:solidFill>
          <a:ln w="19050">
            <a:solidFill>
              <a:srgbClr val="4257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08476" y="2194560"/>
            <a:ext cx="256032" cy="256032"/>
          </a:xfrm>
          <a:prstGeom prst="ellipse">
            <a:avLst/>
          </a:prstGeom>
          <a:solidFill>
            <a:srgbClr val="42574E"/>
          </a:solidFill>
          <a:ln w="19050">
            <a:solidFill>
              <a:srgbClr val="4257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13532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5604" y="2194560"/>
            <a:ext cx="256032" cy="256032"/>
          </a:xfrm>
          <a:prstGeom prst="ellipse">
            <a:avLst/>
          </a:prstGeom>
          <a:solidFill>
            <a:srgbClr val="42574E"/>
          </a:solidFill>
          <a:ln w="19050">
            <a:solidFill>
              <a:srgbClr val="4257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0660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42732" y="219456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47788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309860" y="219456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14916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review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108960"/>
            <a:ext cx="5257800" cy="1298448"/>
          </a:xfrm>
          <a:prstGeom prst="roundRect">
            <a:avLst>
              <a:gd name="adj" fmla="val 8451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291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limbo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pain for a wronged worker is silence. The bar answers “where am I?” before they have to ask.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108960"/>
            <a:ext cx="5257800" cy="1298448"/>
          </a:xfrm>
          <a:prstGeom prst="roundRect">
            <a:avLst>
              <a:gd name="adj" fmla="val 8451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291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sense of control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365760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forward is visible progress they made — momentum, not helplessness.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572000"/>
            <a:ext cx="5257800" cy="1298448"/>
          </a:xfrm>
          <a:prstGeom prst="roundRect">
            <a:avLst>
              <a:gd name="adj" fmla="val 8451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754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next action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512064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always shows what’s next, so nothing stalls because someone didn’t know what to do.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4572000"/>
            <a:ext cx="5257800" cy="1298448"/>
          </a:xfrm>
          <a:prstGeom prst="roundRect">
            <a:avLst>
              <a:gd name="adj" fmla="val 8451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754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through transparency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512064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the process makes it feel honest — nothing is happening to them in the dark.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Built for the worker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DASHBOARD — EVERY SECTION, AND ITS “WHY”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the worker needs, and nothing they don’t.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0835640" cy="603504"/>
          </a:xfrm>
          <a:prstGeom prst="roundRect">
            <a:avLst>
              <a:gd name="adj" fmla="val 10606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4884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83280" y="214884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tell what happened, in their words.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43800" y="214884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their account is preserved exactly — the source of everything.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807208"/>
            <a:ext cx="10835640" cy="603504"/>
          </a:xfrm>
          <a:prstGeom prst="roundRect">
            <a:avLst>
              <a:gd name="adj" fmla="val 10606"/>
            </a:avLst>
          </a:prstGeom>
          <a:solidFill>
            <a:srgbClr val="FBFBFA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0720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timeline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83280" y="280720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dated, organized sequence of events.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43800" y="280720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they finally see their own story clearly, in order.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465576"/>
            <a:ext cx="10835640" cy="603504"/>
          </a:xfrm>
          <a:prstGeom prst="roundRect">
            <a:avLst>
              <a:gd name="adj" fmla="val 10606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46557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documents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346557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records, grouped and labeled.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43800" y="346557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proof is in one place, not scattered across a phone.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123944"/>
            <a:ext cx="10835640" cy="603504"/>
          </a:xfrm>
          <a:prstGeom prst="roundRect">
            <a:avLst>
              <a:gd name="adj" fmla="val 10606"/>
            </a:avLst>
          </a:prstGeom>
          <a:solidFill>
            <a:srgbClr val="FBFBFA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12394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/ firm link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83280" y="412394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they’ve chosen to send it to.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43800" y="412394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nothing reaches a firm until they decide — full control.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782312"/>
            <a:ext cx="10835640" cy="603504"/>
          </a:xfrm>
          <a:prstGeom prst="roundRect">
            <a:avLst>
              <a:gd name="adj" fmla="val 10606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7823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/ journey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83280" y="478231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are and what’s next.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43800" y="478231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there’s never silence or confusion — no limbo.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5440680"/>
            <a:ext cx="10835640" cy="603504"/>
          </a:xfrm>
          <a:prstGeom prst="roundRect">
            <a:avLst>
              <a:gd name="adj" fmla="val 10606"/>
            </a:avLst>
          </a:prstGeom>
          <a:solidFill>
            <a:srgbClr val="FBFBFA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44068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383280" y="544068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settings, including delete.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544068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it’s unmistakably theirs to keep or remove, anytime.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Built for the worker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WORKER KEEPS, OWNS &amp; CONTROLS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theirs. Fully. Forever.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5257800" cy="1645920"/>
          </a:xfrm>
          <a:prstGeom prst="roundRect">
            <a:avLst>
              <a:gd name="adj" fmla="val 6667"/>
            </a:avLst>
          </a:prstGeom>
          <a:solidFill>
            <a:srgbClr val="34473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468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They OWN 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words and documents belong to them — never sold, never taken over.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2240280"/>
            <a:ext cx="5257800" cy="1645920"/>
          </a:xfrm>
          <a:prstGeom prst="roundRect">
            <a:avLst>
              <a:gd name="adj" fmla="val 6667"/>
            </a:avLst>
          </a:prstGeom>
          <a:solidFill>
            <a:srgbClr val="34473F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468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They CONTROL sharing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9260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a firm until they choose. Their employer is never notified.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069080"/>
            <a:ext cx="5257800" cy="1645920"/>
          </a:xfrm>
          <a:prstGeom prst="roundRect">
            <a:avLst>
              <a:gd name="adj" fmla="val 6667"/>
            </a:avLst>
          </a:prstGeom>
          <a:solidFill>
            <a:srgbClr val="34473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97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They KEEP it — portable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organized record can go to more than one firm. It travels with them.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4069080"/>
            <a:ext cx="5257800" cy="1645920"/>
          </a:xfrm>
          <a:prstGeom prst="roundRect">
            <a:avLst>
              <a:gd name="adj" fmla="val 6667"/>
            </a:avLst>
          </a:prstGeom>
          <a:solidFill>
            <a:srgbClr val="34473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297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They can DELETE anytime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7548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their account and their decision — they can remove everything, whenever.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Built for the worker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WHAT PROTECTS YOUR RECORDS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Sensitive by nature — so protected by design.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  Only you can see your data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05840" y="285292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is enforced at the database on every request — one worker can never reach another’s records.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21945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  Encrypted in transit &amp; at rest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85292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protected on the way to us and while stored, on managed, hardened infrastructure.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406908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97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  You hold the sharing keys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05840" y="472744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shared until you choose, and you can revoke and delete at any time.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406908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297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  Access is audited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472744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We’ve run access-control reviews and closed the findings — and re-test as we change the system.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Built for the worker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ONE3SEVEN WERE HACKED?” — THE HONEST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can promise “unhackable.” We can promise a plan.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ECF1E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88036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Database-enforced isolation (RLS)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 &amp; at rest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access + closed audit findings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can delete their data anytime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5112" y="214884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F3E9CE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7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STILL NEED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99432" y="288036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penetration test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login for accounts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incident-response plan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insurance bound (quote in hand)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64424" y="214884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F3E4E4"/>
          </a:solidFill>
          <a:ln/>
        </p:spPr>
      </p:sp>
      <p:sp>
        <p:nvSpPr>
          <p:cNvPr id="11" name="Text 9"/>
          <p:cNvSpPr/>
          <p:nvPr/>
        </p:nvSpPr>
        <p:spPr>
          <a:xfrm>
            <a:off x="8238744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2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BREACH HAPPENED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38744" y="288036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and investigate immediately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affected people per CA law (CCPA/CPRA)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policy covers response + notification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can pull their data down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621792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is the policy: we say what’s built, what’s next, and exactly what happens if the worst occurs.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Built for the worker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22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WORKER-FIRST PROMISE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give them structure — never take their story.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words, preserved.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31272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records, organized.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37856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record, owned and portable.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4443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control, start to finish.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51023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case, moving — not stuck in silence.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5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worker — because judgment deserves an organized record.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one3seven</dc:creator>
  <cp:lastModifiedBy>one3seven</cp:lastModifiedBy>
  <cp:revision>1</cp:revision>
  <dcterms:created xsi:type="dcterms:W3CDTF">2026-07-17T17:48:28Z</dcterms:created>
  <dcterms:modified xsi:type="dcterms:W3CDTF">2026-07-17T17:48:28Z</dcterms:modified>
</cp:coreProperties>
</file>