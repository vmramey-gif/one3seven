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2574E"/>
        </a:solidFill>
      </p:bgPr>
    </p:bg>
    <p:spTree>
      <p:nvGrpSpPr>
        <p:cNvPr id="1" name=""/>
        <p:cNvGrpSpPr/>
        <p:nvPr/>
      </p:nvGrpSpPr>
      <p:grpSpPr>
        <a:xfrm>
          <a:off x="0" y="0"/>
          <a:ext cx="0" cy="0"/>
          <a:chOff x="0" y="0"/>
          <a:chExt cx="0" cy="0"/>
        </a:xfrm>
      </p:grpSpPr>
      <p:sp>
        <p:nvSpPr>
          <p:cNvPr id="2" name="Shape 0"/>
          <p:cNvSpPr/>
          <p:nvPr/>
        </p:nvSpPr>
        <p:spPr>
          <a:xfrm>
            <a:off x="8595360" y="-2194560"/>
            <a:ext cx="6400800" cy="6400800"/>
          </a:xfrm>
          <a:prstGeom prst="ellipse">
            <a:avLst/>
          </a:prstGeom>
          <a:solidFill>
            <a:srgbClr val="374A42"/>
          </a:solidFill>
          <a:ln/>
        </p:spPr>
      </p:sp>
      <p:sp>
        <p:nvSpPr>
          <p:cNvPr id="3" name="Shape 1"/>
          <p:cNvSpPr/>
          <p:nvPr/>
        </p:nvSpPr>
        <p:spPr>
          <a:xfrm>
            <a:off x="10424160" y="3566160"/>
            <a:ext cx="3657600" cy="3657600"/>
          </a:xfrm>
          <a:prstGeom prst="ellipse">
            <a:avLst/>
          </a:prstGeom>
          <a:solidFill>
            <a:srgbClr val="3C4E45"/>
          </a:solidFill>
          <a:ln/>
        </p:spPr>
      </p:sp>
      <p:sp>
        <p:nvSpPr>
          <p:cNvPr id="4" name="Text 2"/>
          <p:cNvSpPr/>
          <p:nvPr/>
        </p:nvSpPr>
        <p:spPr>
          <a:xfrm>
            <a:off x="685800" y="1371600"/>
            <a:ext cx="10972800" cy="274320"/>
          </a:xfrm>
          <a:prstGeom prst="rect">
            <a:avLst/>
          </a:prstGeom>
          <a:noFill/>
          <a:ln/>
        </p:spPr>
        <p:txBody>
          <a:bodyPr wrap="square" lIns="0" tIns="0" rIns="0" bIns="0" rtlCol="0" anchor="ctr"/>
          <a:lstStyle/>
          <a:p>
            <a:pPr indent="0" marL="0">
              <a:buNone/>
            </a:pPr>
            <a:r>
              <a:rPr lang="en-US" sz="1100" b="1" spc="300" kern="0" dirty="0">
                <a:solidFill>
                  <a:srgbClr val="95AB9B"/>
                </a:solidFill>
                <a:latin typeface="Calibri" pitchFamily="34" charset="0"/>
                <a:ea typeface="Calibri" pitchFamily="34" charset="-122"/>
                <a:cs typeface="Calibri" pitchFamily="34" charset="-120"/>
              </a:rPr>
              <a:t>THE FUTURE — PHASE BY PHASE</a:t>
            </a:r>
            <a:endParaRPr lang="en-US" sz="1100" dirty="0"/>
          </a:p>
        </p:txBody>
      </p:sp>
      <p:sp>
        <p:nvSpPr>
          <p:cNvPr id="5" name="Text 3"/>
          <p:cNvSpPr/>
          <p:nvPr/>
        </p:nvSpPr>
        <p:spPr>
          <a:xfrm>
            <a:off x="685800" y="1828800"/>
            <a:ext cx="10515600" cy="109728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The Journey Ahead</a:t>
            </a:r>
            <a:endParaRPr lang="en-US" sz="5000" dirty="0"/>
          </a:p>
        </p:txBody>
      </p:sp>
      <p:sp>
        <p:nvSpPr>
          <p:cNvPr id="6" name="Text 4"/>
          <p:cNvSpPr/>
          <p:nvPr/>
        </p:nvSpPr>
        <p:spPr>
          <a:xfrm>
            <a:off x="685800" y="3108960"/>
            <a:ext cx="10058400" cy="822960"/>
          </a:xfrm>
          <a:prstGeom prst="rect">
            <a:avLst/>
          </a:prstGeom>
          <a:noFill/>
          <a:ln/>
        </p:spPr>
        <p:txBody>
          <a:bodyPr wrap="square" lIns="0" tIns="0" rIns="0" bIns="0" rtlCol="0" anchor="ctr"/>
          <a:lstStyle/>
          <a:p>
            <a:pPr indent="0" marL="0">
              <a:buNone/>
            </a:pPr>
            <a:r>
              <a:rPr lang="en-US" sz="1900" i="1" dirty="0">
                <a:solidFill>
                  <a:srgbClr val="EAF0EC"/>
                </a:solidFill>
                <a:latin typeface="Cambria" pitchFamily="34" charset="0"/>
                <a:ea typeface="Cambria" pitchFamily="34" charset="-122"/>
                <a:cs typeface="Cambria" pitchFamily="34" charset="-120"/>
              </a:rPr>
              <a:t>Where one3seven goes next — the price, the features, the “why,” and the gate that opens each phase.</a:t>
            </a:r>
            <a:endParaRPr lang="en-US" sz="1900" dirty="0"/>
          </a:p>
        </p:txBody>
      </p:sp>
      <p:sp>
        <p:nvSpPr>
          <p:cNvPr id="7" name="Text 5"/>
          <p:cNvSpPr/>
          <p:nvPr/>
        </p:nvSpPr>
        <p:spPr>
          <a:xfrm>
            <a:off x="685800" y="4114800"/>
            <a:ext cx="10058400" cy="457200"/>
          </a:xfrm>
          <a:prstGeom prst="rect">
            <a:avLst/>
          </a:prstGeom>
          <a:noFill/>
          <a:ln/>
        </p:spPr>
        <p:txBody>
          <a:bodyPr wrap="square" lIns="0" tIns="0" rIns="0" bIns="0" rtlCol="0" anchor="ctr"/>
          <a:lstStyle/>
          <a:p>
            <a:pPr indent="0" marL="0">
              <a:buNone/>
            </a:pPr>
            <a:r>
              <a:rPr lang="en-US" sz="1400" dirty="0">
                <a:solidFill>
                  <a:srgbClr val="95AB9B"/>
                </a:solidFill>
                <a:latin typeface="Calibri" pitchFamily="34" charset="0"/>
                <a:ea typeface="Calibri" pitchFamily="34" charset="-122"/>
                <a:cs typeface="Calibri" pitchFamily="34" charset="-120"/>
              </a:rPr>
              <a:t>We don’t guess our way forward. Every phase is earned.</a:t>
            </a:r>
            <a:endParaRPr lang="en-US" sz="1400" dirty="0"/>
          </a:p>
        </p:txBody>
      </p:sp>
      <p:sp>
        <p:nvSpPr>
          <p:cNvPr id="8" name="Text 6"/>
          <p:cNvSpPr/>
          <p:nvPr/>
        </p:nvSpPr>
        <p:spPr>
          <a:xfrm>
            <a:off x="685800" y="5943600"/>
            <a:ext cx="5486400" cy="320040"/>
          </a:xfrm>
          <a:prstGeom prst="rect">
            <a:avLst/>
          </a:prstGeom>
          <a:noFill/>
          <a:ln/>
        </p:spPr>
        <p:txBody>
          <a:bodyPr wrap="square" lIns="0" tIns="0" rIns="0" bIns="0" rtlCol="0" anchor="ctr"/>
          <a:lstStyle/>
          <a:p>
            <a:pPr indent="0" marL="0">
              <a:buNone/>
            </a:pPr>
            <a:r>
              <a:rPr lang="en-US" sz="1250" b="1" dirty="0">
                <a:solidFill>
                  <a:srgbClr val="EAF0EC"/>
                </a:solidFill>
                <a:latin typeface="Calibri" pitchFamily="34" charset="0"/>
                <a:ea typeface="Calibri" pitchFamily="34" charset="-122"/>
                <a:cs typeface="Calibri" pitchFamily="34" charset="-120"/>
              </a:rPr>
              <a:t>Vision &amp; roadmap</a:t>
            </a:r>
            <a:endParaRPr lang="en-US" sz="1250" dirty="0"/>
          </a:p>
        </p:txBody>
      </p:sp>
      <p:sp>
        <p:nvSpPr>
          <p:cNvPr id="9" name="Text 7"/>
          <p:cNvSpPr/>
          <p:nvPr/>
        </p:nvSpPr>
        <p:spPr>
          <a:xfrm>
            <a:off x="8961120" y="5943600"/>
            <a:ext cx="2514600" cy="320040"/>
          </a:xfrm>
          <a:prstGeom prst="rect">
            <a:avLst/>
          </a:prstGeom>
          <a:noFill/>
          <a:ln/>
        </p:spPr>
        <p:txBody>
          <a:bodyPr wrap="square" lIns="0" tIns="0" rIns="0" bIns="0" rtlCol="0" anchor="ctr"/>
          <a:lstStyle/>
          <a:p>
            <a:pPr algn="r" indent="0" marL="0">
              <a:buNone/>
            </a:pPr>
            <a:r>
              <a:rPr lang="en-US" sz="1250" dirty="0">
                <a:solidFill>
                  <a:srgbClr val="95AB9B"/>
                </a:solidFill>
                <a:latin typeface="Calibri" pitchFamily="34" charset="0"/>
                <a:ea typeface="Calibri" pitchFamily="34" charset="-122"/>
                <a:cs typeface="Calibri" pitchFamily="34" charset="-120"/>
              </a:rPr>
              <a:t>one3seven.com</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3EF"/>
        </a:solidFill>
      </p:bgPr>
    </p:bg>
    <p:spTree>
      <p:nvGrpSpPr>
        <p:cNvPr id="1" name=""/>
        <p:cNvGrpSpPr/>
        <p:nvPr/>
      </p:nvGrpSpPr>
      <p:grpSpPr>
        <a:xfrm>
          <a:off x="0" y="0"/>
          <a:ext cx="0" cy="0"/>
          <a:chOff x="0" y="0"/>
          <a:chExt cx="0" cy="0"/>
        </a:xfrm>
      </p:grpSpPr>
      <p:sp>
        <p:nvSpPr>
          <p:cNvPr id="2" name="Text 0"/>
          <p:cNvSpPr/>
          <p:nvPr/>
        </p:nvSpPr>
        <p:spPr>
          <a:xfrm>
            <a:off x="685800" y="502920"/>
            <a:ext cx="10972800" cy="274320"/>
          </a:xfrm>
          <a:prstGeom prst="rect">
            <a:avLst/>
          </a:prstGeom>
          <a:noFill/>
          <a:ln/>
        </p:spPr>
        <p:txBody>
          <a:bodyPr wrap="square" lIns="0" tIns="0" rIns="0" bIns="0" rtlCol="0" anchor="ctr"/>
          <a:lstStyle/>
          <a:p>
            <a:pPr indent="0" marL="0">
              <a:buNone/>
            </a:pPr>
            <a:r>
              <a:rPr lang="en-US" sz="1100" b="1" spc="300" kern="0" dirty="0">
                <a:solidFill>
                  <a:srgbClr val="5E7268"/>
                </a:solidFill>
                <a:latin typeface="Calibri" pitchFamily="34" charset="0"/>
                <a:ea typeface="Calibri" pitchFamily="34" charset="-122"/>
                <a:cs typeface="Calibri" pitchFamily="34" charset="-120"/>
              </a:rPr>
              <a:t>HOW TO READ THIS JOURNEY</a:t>
            </a:r>
            <a:endParaRPr lang="en-US" sz="1100" dirty="0"/>
          </a:p>
        </p:txBody>
      </p:sp>
      <p:sp>
        <p:nvSpPr>
          <p:cNvPr id="3" name="Text 1"/>
          <p:cNvSpPr/>
          <p:nvPr/>
        </p:nvSpPr>
        <p:spPr>
          <a:xfrm>
            <a:off x="685800" y="914400"/>
            <a:ext cx="10972800" cy="1005840"/>
          </a:xfrm>
          <a:prstGeom prst="rect">
            <a:avLst/>
          </a:prstGeom>
          <a:noFill/>
          <a:ln/>
        </p:spPr>
        <p:txBody>
          <a:bodyPr wrap="square" lIns="0" tIns="0" rIns="0" bIns="0" rtlCol="0" anchor="ctr"/>
          <a:lstStyle/>
          <a:p>
            <a:pPr indent="0" marL="0">
              <a:lnSpc>
                <a:spcPct val="98000"/>
              </a:lnSpc>
              <a:buNone/>
            </a:pPr>
            <a:r>
              <a:rPr lang="en-US" sz="2800" b="1" dirty="0">
                <a:solidFill>
                  <a:srgbClr val="1B2623"/>
                </a:solidFill>
                <a:latin typeface="Cambria" pitchFamily="34" charset="0"/>
                <a:ea typeface="Cambria" pitchFamily="34" charset="-122"/>
                <a:cs typeface="Cambria" pitchFamily="34" charset="-120"/>
              </a:rPr>
              <a:t>We earn our way forward — every phase has a gate.</a:t>
            </a:r>
            <a:endParaRPr lang="en-US" sz="2800" dirty="0"/>
          </a:p>
        </p:txBody>
      </p:sp>
      <p:sp>
        <p:nvSpPr>
          <p:cNvPr id="4" name="Shape 2"/>
          <p:cNvSpPr/>
          <p:nvPr/>
        </p:nvSpPr>
        <p:spPr>
          <a:xfrm>
            <a:off x="685800" y="2286000"/>
            <a:ext cx="5257800" cy="1691640"/>
          </a:xfrm>
          <a:prstGeom prst="roundRect">
            <a:avLst>
              <a:gd name="adj" fmla="val 6486"/>
            </a:avLst>
          </a:prstGeom>
          <a:solidFill>
            <a:srgbClr val="FBFBFA"/>
          </a:solidFill>
          <a:ln w="12700">
            <a:solidFill>
              <a:srgbClr val="D8E0DA"/>
            </a:solidFill>
            <a:prstDash val="solid"/>
          </a:ln>
        </p:spPr>
      </p:sp>
      <p:sp>
        <p:nvSpPr>
          <p:cNvPr id="5" name="Shape 3"/>
          <p:cNvSpPr/>
          <p:nvPr/>
        </p:nvSpPr>
        <p:spPr>
          <a:xfrm>
            <a:off x="1005840" y="2606040"/>
            <a:ext cx="502920" cy="502920"/>
          </a:xfrm>
          <a:prstGeom prst="ellipse">
            <a:avLst/>
          </a:prstGeom>
          <a:solidFill>
            <a:srgbClr val="C9A24B"/>
          </a:solidFill>
          <a:ln/>
        </p:spPr>
      </p:sp>
      <p:sp>
        <p:nvSpPr>
          <p:cNvPr id="6" name="Text 4"/>
          <p:cNvSpPr/>
          <p:nvPr/>
        </p:nvSpPr>
        <p:spPr>
          <a:xfrm>
            <a:off x="1005840" y="26060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1691640" y="2606040"/>
            <a:ext cx="4023360" cy="457200"/>
          </a:xfrm>
          <a:prstGeom prst="rect">
            <a:avLst/>
          </a:prstGeom>
          <a:noFill/>
          <a:ln/>
        </p:spPr>
        <p:txBody>
          <a:bodyPr wrap="square" lIns="0" tIns="0" rIns="0" bIns="0" rtlCol="0" anchor="ctr"/>
          <a:lstStyle/>
          <a:p>
            <a:pPr indent="0" marL="0">
              <a:buNone/>
            </a:pPr>
            <a:r>
              <a:rPr lang="en-US" sz="1600" b="1" dirty="0">
                <a:solidFill>
                  <a:srgbClr val="1B2623"/>
                </a:solidFill>
                <a:latin typeface="Cambria" pitchFamily="34" charset="0"/>
                <a:ea typeface="Cambria" pitchFamily="34" charset="-122"/>
                <a:cs typeface="Cambria" pitchFamily="34" charset="-120"/>
              </a:rPr>
              <a:t>Gated, not guessed</a:t>
            </a:r>
            <a:endParaRPr lang="en-US" sz="1600" dirty="0"/>
          </a:p>
        </p:txBody>
      </p:sp>
      <p:sp>
        <p:nvSpPr>
          <p:cNvPr id="8" name="Text 6"/>
          <p:cNvSpPr/>
          <p:nvPr/>
        </p:nvSpPr>
        <p:spPr>
          <a:xfrm>
            <a:off x="1005840" y="3200400"/>
            <a:ext cx="4663440" cy="685800"/>
          </a:xfrm>
          <a:prstGeom prst="rect">
            <a:avLst/>
          </a:prstGeom>
          <a:noFill/>
          <a:ln/>
        </p:spPr>
        <p:txBody>
          <a:bodyPr wrap="square" lIns="0" tIns="0" rIns="0" bIns="0" rtlCol="0" anchor="ctr"/>
          <a:lstStyle/>
          <a:p>
            <a:pPr indent="0" marL="0">
              <a:buNone/>
            </a:pPr>
            <a:r>
              <a:rPr lang="en-US" sz="1150" dirty="0">
                <a:solidFill>
                  <a:srgbClr val="6A6D66"/>
                </a:solidFill>
                <a:latin typeface="Calibri" pitchFamily="34" charset="0"/>
                <a:ea typeface="Calibri" pitchFamily="34" charset="-122"/>
                <a:cs typeface="Calibri" pitchFamily="34" charset="-120"/>
              </a:rPr>
              <a:t>Each phase opens only when a real gate is met — paying customers, legal sign-off, or regulatory clearance. Never built on hope.</a:t>
            </a:r>
            <a:endParaRPr lang="en-US" sz="1150" dirty="0"/>
          </a:p>
        </p:txBody>
      </p:sp>
      <p:sp>
        <p:nvSpPr>
          <p:cNvPr id="9" name="Shape 7"/>
          <p:cNvSpPr/>
          <p:nvPr/>
        </p:nvSpPr>
        <p:spPr>
          <a:xfrm>
            <a:off x="6172200" y="2286000"/>
            <a:ext cx="5257800" cy="1691640"/>
          </a:xfrm>
          <a:prstGeom prst="roundRect">
            <a:avLst>
              <a:gd name="adj" fmla="val 6486"/>
            </a:avLst>
          </a:prstGeom>
          <a:solidFill>
            <a:srgbClr val="FBFBFA"/>
          </a:solidFill>
          <a:ln w="12700">
            <a:solidFill>
              <a:srgbClr val="D8E0DA"/>
            </a:solidFill>
            <a:prstDash val="solid"/>
          </a:ln>
        </p:spPr>
      </p:sp>
      <p:sp>
        <p:nvSpPr>
          <p:cNvPr id="10" name="Shape 8"/>
          <p:cNvSpPr/>
          <p:nvPr/>
        </p:nvSpPr>
        <p:spPr>
          <a:xfrm>
            <a:off x="6492240" y="2606040"/>
            <a:ext cx="502920" cy="502920"/>
          </a:xfrm>
          <a:prstGeom prst="ellipse">
            <a:avLst/>
          </a:prstGeom>
          <a:solidFill>
            <a:srgbClr val="C9A24B"/>
          </a:solidFill>
          <a:ln/>
        </p:spPr>
      </p:sp>
      <p:sp>
        <p:nvSpPr>
          <p:cNvPr id="11" name="Text 9"/>
          <p:cNvSpPr/>
          <p:nvPr/>
        </p:nvSpPr>
        <p:spPr>
          <a:xfrm>
            <a:off x="6492240" y="26060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7178040" y="2606040"/>
            <a:ext cx="4023360" cy="457200"/>
          </a:xfrm>
          <a:prstGeom prst="rect">
            <a:avLst/>
          </a:prstGeom>
          <a:noFill/>
          <a:ln/>
        </p:spPr>
        <p:txBody>
          <a:bodyPr wrap="square" lIns="0" tIns="0" rIns="0" bIns="0" rtlCol="0" anchor="ctr"/>
          <a:lstStyle/>
          <a:p>
            <a:pPr indent="0" marL="0">
              <a:buNone/>
            </a:pPr>
            <a:r>
              <a:rPr lang="en-US" sz="1600" b="1" dirty="0">
                <a:solidFill>
                  <a:srgbClr val="1B2623"/>
                </a:solidFill>
                <a:latin typeface="Cambria" pitchFamily="34" charset="0"/>
                <a:ea typeface="Cambria" pitchFamily="34" charset="-122"/>
                <a:cs typeface="Cambria" pitchFamily="34" charset="-120"/>
              </a:rPr>
              <a:t>Capital-efficient</a:t>
            </a:r>
            <a:endParaRPr lang="en-US" sz="1600" dirty="0"/>
          </a:p>
        </p:txBody>
      </p:sp>
      <p:sp>
        <p:nvSpPr>
          <p:cNvPr id="13" name="Text 11"/>
          <p:cNvSpPr/>
          <p:nvPr/>
        </p:nvSpPr>
        <p:spPr>
          <a:xfrm>
            <a:off x="6492240" y="3200400"/>
            <a:ext cx="4663440" cy="685800"/>
          </a:xfrm>
          <a:prstGeom prst="rect">
            <a:avLst/>
          </a:prstGeom>
          <a:noFill/>
          <a:ln/>
        </p:spPr>
        <p:txBody>
          <a:bodyPr wrap="square" lIns="0" tIns="0" rIns="0" bIns="0" rtlCol="0" anchor="ctr"/>
          <a:lstStyle/>
          <a:p>
            <a:pPr indent="0" marL="0">
              <a:buNone/>
            </a:pPr>
            <a:r>
              <a:rPr lang="en-US" sz="1150" dirty="0">
                <a:solidFill>
                  <a:srgbClr val="6A6D66"/>
                </a:solidFill>
                <a:latin typeface="Calibri" pitchFamily="34" charset="0"/>
                <a:ea typeface="Calibri" pitchFamily="34" charset="-122"/>
                <a:cs typeface="Calibri" pitchFamily="34" charset="-120"/>
              </a:rPr>
              <a:t>We build what the last phase paid for. Revenue funds the next step, so we’re never over-extended.</a:t>
            </a:r>
            <a:endParaRPr lang="en-US" sz="1150" dirty="0"/>
          </a:p>
        </p:txBody>
      </p:sp>
      <p:sp>
        <p:nvSpPr>
          <p:cNvPr id="14" name="Shape 12"/>
          <p:cNvSpPr/>
          <p:nvPr/>
        </p:nvSpPr>
        <p:spPr>
          <a:xfrm>
            <a:off x="685800" y="4160520"/>
            <a:ext cx="5257800" cy="1691640"/>
          </a:xfrm>
          <a:prstGeom prst="roundRect">
            <a:avLst>
              <a:gd name="adj" fmla="val 6486"/>
            </a:avLst>
          </a:prstGeom>
          <a:solidFill>
            <a:srgbClr val="FBFBFA"/>
          </a:solidFill>
          <a:ln w="12700">
            <a:solidFill>
              <a:srgbClr val="D8E0DA"/>
            </a:solidFill>
            <a:prstDash val="solid"/>
          </a:ln>
        </p:spPr>
      </p:sp>
      <p:sp>
        <p:nvSpPr>
          <p:cNvPr id="15" name="Shape 13"/>
          <p:cNvSpPr/>
          <p:nvPr/>
        </p:nvSpPr>
        <p:spPr>
          <a:xfrm>
            <a:off x="1005840" y="4480560"/>
            <a:ext cx="502920" cy="502920"/>
          </a:xfrm>
          <a:prstGeom prst="ellipse">
            <a:avLst/>
          </a:prstGeom>
          <a:solidFill>
            <a:srgbClr val="C9A24B"/>
          </a:solidFill>
          <a:ln/>
        </p:spPr>
      </p:sp>
      <p:sp>
        <p:nvSpPr>
          <p:cNvPr id="16" name="Text 14"/>
          <p:cNvSpPr/>
          <p:nvPr/>
        </p:nvSpPr>
        <p:spPr>
          <a:xfrm>
            <a:off x="1005840" y="44805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1691640" y="4480560"/>
            <a:ext cx="4023360" cy="457200"/>
          </a:xfrm>
          <a:prstGeom prst="rect">
            <a:avLst/>
          </a:prstGeom>
          <a:noFill/>
          <a:ln/>
        </p:spPr>
        <p:txBody>
          <a:bodyPr wrap="square" lIns="0" tIns="0" rIns="0" bIns="0" rtlCol="0" anchor="ctr"/>
          <a:lstStyle/>
          <a:p>
            <a:pPr indent="0" marL="0">
              <a:buNone/>
            </a:pPr>
            <a:r>
              <a:rPr lang="en-US" sz="1600" b="1" dirty="0">
                <a:solidFill>
                  <a:srgbClr val="1B2623"/>
                </a:solidFill>
                <a:latin typeface="Cambria" pitchFamily="34" charset="0"/>
                <a:ea typeface="Cambria" pitchFamily="34" charset="-122"/>
                <a:cs typeface="Cambria" pitchFamily="34" charset="-120"/>
              </a:rPr>
              <a:t>Legally safe</a:t>
            </a:r>
            <a:endParaRPr lang="en-US" sz="1600" dirty="0"/>
          </a:p>
        </p:txBody>
      </p:sp>
      <p:sp>
        <p:nvSpPr>
          <p:cNvPr id="18" name="Text 16"/>
          <p:cNvSpPr/>
          <p:nvPr/>
        </p:nvSpPr>
        <p:spPr>
          <a:xfrm>
            <a:off x="1005840" y="5074920"/>
            <a:ext cx="4663440" cy="685800"/>
          </a:xfrm>
          <a:prstGeom prst="rect">
            <a:avLst/>
          </a:prstGeom>
          <a:noFill/>
          <a:ln/>
        </p:spPr>
        <p:txBody>
          <a:bodyPr wrap="square" lIns="0" tIns="0" rIns="0" bIns="0" rtlCol="0" anchor="ctr"/>
          <a:lstStyle/>
          <a:p>
            <a:pPr indent="0" marL="0">
              <a:buNone/>
            </a:pPr>
            <a:r>
              <a:rPr lang="en-US" sz="1150" dirty="0">
                <a:solidFill>
                  <a:srgbClr val="6A6D66"/>
                </a:solidFill>
                <a:latin typeface="Calibri" pitchFamily="34" charset="0"/>
                <a:ea typeface="Calibri" pitchFamily="34" charset="-122"/>
                <a:cs typeface="Calibri" pitchFamily="34" charset="-120"/>
              </a:rPr>
              <a:t>Counsel- and regulation-gated lines stay dark until they’re cleared. The gate is the safety mechanism.</a:t>
            </a:r>
            <a:endParaRPr lang="en-US" sz="1150" dirty="0"/>
          </a:p>
        </p:txBody>
      </p:sp>
      <p:sp>
        <p:nvSpPr>
          <p:cNvPr id="19" name="Shape 17"/>
          <p:cNvSpPr/>
          <p:nvPr/>
        </p:nvSpPr>
        <p:spPr>
          <a:xfrm>
            <a:off x="6172200" y="4160520"/>
            <a:ext cx="5257800" cy="1691640"/>
          </a:xfrm>
          <a:prstGeom prst="roundRect">
            <a:avLst>
              <a:gd name="adj" fmla="val 6486"/>
            </a:avLst>
          </a:prstGeom>
          <a:solidFill>
            <a:srgbClr val="FBFBFA"/>
          </a:solidFill>
          <a:ln w="12700">
            <a:solidFill>
              <a:srgbClr val="D8E0DA"/>
            </a:solidFill>
            <a:prstDash val="solid"/>
          </a:ln>
        </p:spPr>
      </p:sp>
      <p:sp>
        <p:nvSpPr>
          <p:cNvPr id="20" name="Shape 18"/>
          <p:cNvSpPr/>
          <p:nvPr/>
        </p:nvSpPr>
        <p:spPr>
          <a:xfrm>
            <a:off x="6492240" y="4480560"/>
            <a:ext cx="502920" cy="502920"/>
          </a:xfrm>
          <a:prstGeom prst="ellipse">
            <a:avLst/>
          </a:prstGeom>
          <a:solidFill>
            <a:srgbClr val="C9A24B"/>
          </a:solidFill>
          <a:ln/>
        </p:spPr>
      </p:sp>
      <p:sp>
        <p:nvSpPr>
          <p:cNvPr id="21" name="Text 19"/>
          <p:cNvSpPr/>
          <p:nvPr/>
        </p:nvSpPr>
        <p:spPr>
          <a:xfrm>
            <a:off x="6492240" y="44805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7178040" y="4480560"/>
            <a:ext cx="4023360" cy="457200"/>
          </a:xfrm>
          <a:prstGeom prst="rect">
            <a:avLst/>
          </a:prstGeom>
          <a:noFill/>
          <a:ln/>
        </p:spPr>
        <p:txBody>
          <a:bodyPr wrap="square" lIns="0" tIns="0" rIns="0" bIns="0" rtlCol="0" anchor="ctr"/>
          <a:lstStyle/>
          <a:p>
            <a:pPr indent="0" marL="0">
              <a:buNone/>
            </a:pPr>
            <a:r>
              <a:rPr lang="en-US" sz="1600" b="1" dirty="0">
                <a:solidFill>
                  <a:srgbClr val="1B2623"/>
                </a:solidFill>
                <a:latin typeface="Cambria" pitchFamily="34" charset="0"/>
                <a:ea typeface="Cambria" pitchFamily="34" charset="-122"/>
                <a:cs typeface="Cambria" pitchFamily="34" charset="-120"/>
              </a:rPr>
              <a:t>Focused</a:t>
            </a:r>
            <a:endParaRPr lang="en-US" sz="1600" dirty="0"/>
          </a:p>
        </p:txBody>
      </p:sp>
      <p:sp>
        <p:nvSpPr>
          <p:cNvPr id="23" name="Text 21"/>
          <p:cNvSpPr/>
          <p:nvPr/>
        </p:nvSpPr>
        <p:spPr>
          <a:xfrm>
            <a:off x="6492240" y="5074920"/>
            <a:ext cx="4663440" cy="685800"/>
          </a:xfrm>
          <a:prstGeom prst="rect">
            <a:avLst/>
          </a:prstGeom>
          <a:noFill/>
          <a:ln/>
        </p:spPr>
        <p:txBody>
          <a:bodyPr wrap="square" lIns="0" tIns="0" rIns="0" bIns="0" rtlCol="0" anchor="ctr"/>
          <a:lstStyle/>
          <a:p>
            <a:pPr indent="0" marL="0">
              <a:buNone/>
            </a:pPr>
            <a:r>
              <a:rPr lang="en-US" sz="1150" dirty="0">
                <a:solidFill>
                  <a:srgbClr val="6A6D66"/>
                </a:solidFill>
                <a:latin typeface="Calibri" pitchFamily="34" charset="0"/>
                <a:ea typeface="Calibri" pitchFamily="34" charset="-122"/>
                <a:cs typeface="Calibri" pitchFamily="34" charset="-120"/>
              </a:rPr>
              <a:t>One wedge at a time — depth before breadth. Each phase makes the next one easier and cheaper to win.</a:t>
            </a:r>
            <a:endParaRPr lang="en-US" sz="1150" dirty="0"/>
          </a:p>
        </p:txBody>
      </p:sp>
      <p:sp>
        <p:nvSpPr>
          <p:cNvPr id="24" name="Text 22"/>
          <p:cNvSpPr/>
          <p:nvPr/>
        </p:nvSpPr>
        <p:spPr>
          <a:xfrm>
            <a:off x="685800" y="6473952"/>
            <a:ext cx="8229600" cy="274320"/>
          </a:xfrm>
          <a:prstGeom prst="rect">
            <a:avLst/>
          </a:prstGeom>
          <a:noFill/>
          <a:ln/>
        </p:spPr>
        <p:txBody>
          <a:bodyPr wrap="square" lIns="0" tIns="0" rIns="0" bIns="0" rtlCol="0" anchor="ctr"/>
          <a:lstStyle/>
          <a:p>
            <a:pPr indent="0" marL="0">
              <a:buNone/>
            </a:pPr>
            <a:r>
              <a:rPr lang="en-US" sz="900" dirty="0">
                <a:solidFill>
                  <a:srgbClr val="6A6D66"/>
                </a:solidFill>
                <a:latin typeface="Calibri" pitchFamily="34" charset="0"/>
                <a:ea typeface="Calibri" pitchFamily="34" charset="-122"/>
                <a:cs typeface="Calibri" pitchFamily="34" charset="-120"/>
              </a:rPr>
              <a:t>one3seven  ·  The journey ahead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3EF"/>
        </a:solidFill>
      </p:bgPr>
    </p:bg>
    <p:spTree>
      <p:nvGrpSpPr>
        <p:cNvPr id="1" name=""/>
        <p:cNvGrpSpPr/>
        <p:nvPr/>
      </p:nvGrpSpPr>
      <p:grpSpPr>
        <a:xfrm>
          <a:off x="0" y="0"/>
          <a:ext cx="0" cy="0"/>
          <a:chOff x="0" y="0"/>
          <a:chExt cx="0" cy="0"/>
        </a:xfrm>
      </p:grpSpPr>
      <p:sp>
        <p:nvSpPr>
          <p:cNvPr id="2" name="Text 0"/>
          <p:cNvSpPr/>
          <p:nvPr/>
        </p:nvSpPr>
        <p:spPr>
          <a:xfrm>
            <a:off x="685800" y="502920"/>
            <a:ext cx="10972800" cy="274320"/>
          </a:xfrm>
          <a:prstGeom prst="rect">
            <a:avLst/>
          </a:prstGeom>
          <a:noFill/>
          <a:ln/>
        </p:spPr>
        <p:txBody>
          <a:bodyPr wrap="square" lIns="0" tIns="0" rIns="0" bIns="0" rtlCol="0" anchor="ctr"/>
          <a:lstStyle/>
          <a:p>
            <a:pPr indent="0" marL="0">
              <a:buNone/>
            </a:pPr>
            <a:r>
              <a:rPr lang="en-US" sz="1100" b="1" spc="300" kern="0" dirty="0">
                <a:solidFill>
                  <a:srgbClr val="5E7268"/>
                </a:solidFill>
                <a:latin typeface="Calibri" pitchFamily="34" charset="0"/>
                <a:ea typeface="Calibri" pitchFamily="34" charset="-122"/>
                <a:cs typeface="Calibri" pitchFamily="34" charset="-120"/>
              </a:rPr>
              <a:t>THE WHOLE JOURNEY AT A GLANCE</a:t>
            </a:r>
            <a:endParaRPr lang="en-US" sz="1100" dirty="0"/>
          </a:p>
        </p:txBody>
      </p:sp>
      <p:sp>
        <p:nvSpPr>
          <p:cNvPr id="3" name="Text 1"/>
          <p:cNvSpPr/>
          <p:nvPr/>
        </p:nvSpPr>
        <p:spPr>
          <a:xfrm>
            <a:off x="685800" y="914400"/>
            <a:ext cx="10972800" cy="1005840"/>
          </a:xfrm>
          <a:prstGeom prst="rect">
            <a:avLst/>
          </a:prstGeom>
          <a:noFill/>
          <a:ln/>
        </p:spPr>
        <p:txBody>
          <a:bodyPr wrap="square" lIns="0" tIns="0" rIns="0" bIns="0" rtlCol="0" anchor="ctr"/>
          <a:lstStyle/>
          <a:p>
            <a:pPr indent="0" marL="0">
              <a:lnSpc>
                <a:spcPct val="98000"/>
              </a:lnSpc>
              <a:buNone/>
            </a:pPr>
            <a:r>
              <a:rPr lang="en-US" sz="2800" b="1" dirty="0">
                <a:solidFill>
                  <a:srgbClr val="1B2623"/>
                </a:solidFill>
                <a:latin typeface="Cambria" pitchFamily="34" charset="0"/>
                <a:ea typeface="Cambria" pitchFamily="34" charset="-122"/>
                <a:cs typeface="Cambria" pitchFamily="34" charset="-120"/>
              </a:rPr>
              <a:t>Five phases, then the horizon.</a:t>
            </a:r>
            <a:endParaRPr lang="en-US" sz="2800" dirty="0"/>
          </a:p>
        </p:txBody>
      </p:sp>
      <p:sp>
        <p:nvSpPr>
          <p:cNvPr id="4" name="Shape 2"/>
          <p:cNvSpPr/>
          <p:nvPr/>
        </p:nvSpPr>
        <p:spPr>
          <a:xfrm>
            <a:off x="1234440" y="3063240"/>
            <a:ext cx="10058400" cy="0"/>
          </a:xfrm>
          <a:prstGeom prst="line">
            <a:avLst/>
          </a:prstGeom>
          <a:noFill/>
          <a:ln w="25400">
            <a:solidFill>
              <a:srgbClr val="42574E"/>
            </a:solidFill>
            <a:prstDash val="dash"/>
          </a:ln>
        </p:spPr>
      </p:sp>
      <p:sp>
        <p:nvSpPr>
          <p:cNvPr id="5" name="Shape 3"/>
          <p:cNvSpPr/>
          <p:nvPr/>
        </p:nvSpPr>
        <p:spPr>
          <a:xfrm>
            <a:off x="822960" y="2651760"/>
            <a:ext cx="822960" cy="822960"/>
          </a:xfrm>
          <a:prstGeom prst="ellipse">
            <a:avLst/>
          </a:prstGeom>
          <a:solidFill>
            <a:srgbClr val="42574E"/>
          </a:solidFill>
          <a:ln/>
        </p:spPr>
      </p:sp>
      <p:sp>
        <p:nvSpPr>
          <p:cNvPr id="6" name="Text 4"/>
          <p:cNvSpPr/>
          <p:nvPr/>
        </p:nvSpPr>
        <p:spPr>
          <a:xfrm>
            <a:off x="822960" y="265176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1</a:t>
            </a:r>
            <a:endParaRPr lang="en-US" sz="3200" dirty="0"/>
          </a:p>
        </p:txBody>
      </p:sp>
      <p:sp>
        <p:nvSpPr>
          <p:cNvPr id="7" name="Shape 5"/>
          <p:cNvSpPr/>
          <p:nvPr/>
        </p:nvSpPr>
        <p:spPr>
          <a:xfrm>
            <a:off x="640080" y="2331720"/>
            <a:ext cx="1188720" cy="274320"/>
          </a:xfrm>
          <a:prstGeom prst="roundRect">
            <a:avLst>
              <a:gd name="adj" fmla="val 50000"/>
            </a:avLst>
          </a:prstGeom>
          <a:solidFill>
            <a:srgbClr val="C9A24B"/>
          </a:solidFill>
          <a:ln/>
        </p:spPr>
      </p:sp>
      <p:sp>
        <p:nvSpPr>
          <p:cNvPr id="8" name="Text 6"/>
          <p:cNvSpPr/>
          <p:nvPr/>
        </p:nvSpPr>
        <p:spPr>
          <a:xfrm>
            <a:off x="640080" y="2331720"/>
            <a:ext cx="1188720" cy="274320"/>
          </a:xfrm>
          <a:prstGeom prst="rect">
            <a:avLst/>
          </a:prstGeom>
          <a:noFill/>
          <a:ln/>
        </p:spPr>
        <p:txBody>
          <a:bodyPr wrap="square" lIns="0" tIns="0" rIns="0" bIns="0" rtlCol="0" anchor="ctr"/>
          <a:lstStyle/>
          <a:p>
            <a:pPr algn="ctr" indent="0" marL="0">
              <a:buNone/>
            </a:pPr>
            <a:r>
              <a:rPr lang="en-US" sz="1100" b="1" dirty="0">
                <a:solidFill>
                  <a:srgbClr val="1B2623"/>
                </a:solidFill>
                <a:latin typeface="Calibri" pitchFamily="34" charset="0"/>
                <a:ea typeface="Calibri" pitchFamily="34" charset="-122"/>
                <a:cs typeface="Calibri" pitchFamily="34" charset="-120"/>
              </a:rPr>
              <a:t>LIVE</a:t>
            </a:r>
            <a:endParaRPr lang="en-US" sz="1100" dirty="0"/>
          </a:p>
        </p:txBody>
      </p:sp>
      <p:sp>
        <p:nvSpPr>
          <p:cNvPr id="9" name="Text 7"/>
          <p:cNvSpPr/>
          <p:nvPr/>
        </p:nvSpPr>
        <p:spPr>
          <a:xfrm>
            <a:off x="137160" y="3611880"/>
            <a:ext cx="2194560" cy="777240"/>
          </a:xfrm>
          <a:prstGeom prst="rect">
            <a:avLst/>
          </a:prstGeom>
          <a:noFill/>
          <a:ln/>
        </p:spPr>
        <p:txBody>
          <a:bodyPr wrap="square" lIns="0" tIns="0" rIns="0" bIns="0" rtlCol="0" anchor="t"/>
          <a:lstStyle/>
          <a:p>
            <a:pPr algn="ctr" indent="0" marL="0">
              <a:lnSpc>
                <a:spcPct val="95000"/>
              </a:lnSpc>
              <a:buNone/>
            </a:pPr>
            <a:r>
              <a:rPr lang="en-US" sz="1150" b="1" dirty="0">
                <a:solidFill>
                  <a:srgbClr val="20242A"/>
                </a:solidFill>
                <a:latin typeface="Calibri" pitchFamily="34" charset="0"/>
                <a:ea typeface="Calibri" pitchFamily="34" charset="-122"/>
                <a:cs typeface="Calibri" pitchFamily="34" charset="-120"/>
              </a:rPr>
              <a:t>Intake</a:t>
            </a:r>
            <a:endParaRPr lang="en-US" sz="1150" dirty="0"/>
          </a:p>
        </p:txBody>
      </p:sp>
      <p:sp>
        <p:nvSpPr>
          <p:cNvPr id="10" name="Shape 8"/>
          <p:cNvSpPr/>
          <p:nvPr/>
        </p:nvSpPr>
        <p:spPr>
          <a:xfrm>
            <a:off x="3218688" y="2651760"/>
            <a:ext cx="822960" cy="822960"/>
          </a:xfrm>
          <a:prstGeom prst="ellipse">
            <a:avLst/>
          </a:prstGeom>
          <a:solidFill>
            <a:srgbClr val="5E7268"/>
          </a:solidFill>
          <a:ln/>
        </p:spPr>
      </p:sp>
      <p:sp>
        <p:nvSpPr>
          <p:cNvPr id="11" name="Text 9"/>
          <p:cNvSpPr/>
          <p:nvPr/>
        </p:nvSpPr>
        <p:spPr>
          <a:xfrm>
            <a:off x="3218688" y="265176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2</a:t>
            </a:r>
            <a:endParaRPr lang="en-US" sz="3200" dirty="0"/>
          </a:p>
        </p:txBody>
      </p:sp>
      <p:sp>
        <p:nvSpPr>
          <p:cNvPr id="12" name="Shape 10"/>
          <p:cNvSpPr/>
          <p:nvPr/>
        </p:nvSpPr>
        <p:spPr>
          <a:xfrm>
            <a:off x="3035808" y="2331720"/>
            <a:ext cx="1188720" cy="274320"/>
          </a:xfrm>
          <a:prstGeom prst="roundRect">
            <a:avLst>
              <a:gd name="adj" fmla="val 50000"/>
            </a:avLst>
          </a:prstGeom>
          <a:solidFill>
            <a:srgbClr val="95AB9B"/>
          </a:solidFill>
          <a:ln/>
        </p:spPr>
      </p:sp>
      <p:sp>
        <p:nvSpPr>
          <p:cNvPr id="13" name="Text 11"/>
          <p:cNvSpPr/>
          <p:nvPr/>
        </p:nvSpPr>
        <p:spPr>
          <a:xfrm>
            <a:off x="3035808" y="2331720"/>
            <a:ext cx="11887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NEXT</a:t>
            </a:r>
            <a:endParaRPr lang="en-US" sz="1100" dirty="0"/>
          </a:p>
        </p:txBody>
      </p:sp>
      <p:sp>
        <p:nvSpPr>
          <p:cNvPr id="14" name="Text 12"/>
          <p:cNvSpPr/>
          <p:nvPr/>
        </p:nvSpPr>
        <p:spPr>
          <a:xfrm>
            <a:off x="2532888" y="3611880"/>
            <a:ext cx="2194560" cy="777240"/>
          </a:xfrm>
          <a:prstGeom prst="rect">
            <a:avLst/>
          </a:prstGeom>
          <a:noFill/>
          <a:ln/>
        </p:spPr>
        <p:txBody>
          <a:bodyPr wrap="square" lIns="0" tIns="0" rIns="0" bIns="0" rtlCol="0" anchor="t"/>
          <a:lstStyle/>
          <a:p>
            <a:pPr algn="ctr" indent="0" marL="0">
              <a:lnSpc>
                <a:spcPct val="95000"/>
              </a:lnSpc>
              <a:buNone/>
            </a:pPr>
            <a:r>
              <a:rPr lang="en-US" sz="1150" b="1" dirty="0">
                <a:solidFill>
                  <a:srgbClr val="20242A"/>
                </a:solidFill>
                <a:latin typeface="Calibri" pitchFamily="34" charset="0"/>
                <a:ea typeface="Calibri" pitchFamily="34" charset="-122"/>
                <a:cs typeface="Calibri" pitchFamily="34" charset="-120"/>
              </a:rPr>
              <a:t>Litigation Ops</a:t>
            </a:r>
            <a:endParaRPr lang="en-US" sz="1150" dirty="0"/>
          </a:p>
          <a:p>
            <a:pPr algn="ctr" indent="0" marL="0">
              <a:lnSpc>
                <a:spcPct val="95000"/>
              </a:lnSpc>
              <a:buNone/>
            </a:pPr>
            <a:r>
              <a:rPr lang="en-US" sz="1150" b="1" dirty="0">
                <a:solidFill>
                  <a:srgbClr val="20242A"/>
                </a:solidFill>
                <a:latin typeface="Calibri" pitchFamily="34" charset="0"/>
                <a:ea typeface="Calibri" pitchFamily="34" charset="-122"/>
                <a:cs typeface="Calibri" pitchFamily="34" charset="-120"/>
              </a:rPr>
              <a:t>+ Teleprompt</a:t>
            </a:r>
            <a:endParaRPr lang="en-US" sz="1150" dirty="0"/>
          </a:p>
        </p:txBody>
      </p:sp>
      <p:sp>
        <p:nvSpPr>
          <p:cNvPr id="15" name="Shape 13"/>
          <p:cNvSpPr/>
          <p:nvPr/>
        </p:nvSpPr>
        <p:spPr>
          <a:xfrm>
            <a:off x="5614416" y="2651760"/>
            <a:ext cx="822960" cy="822960"/>
          </a:xfrm>
          <a:prstGeom prst="ellipse">
            <a:avLst/>
          </a:prstGeom>
          <a:solidFill>
            <a:srgbClr val="B7C4BC"/>
          </a:solidFill>
          <a:ln/>
        </p:spPr>
      </p:sp>
      <p:sp>
        <p:nvSpPr>
          <p:cNvPr id="16" name="Text 14"/>
          <p:cNvSpPr/>
          <p:nvPr/>
        </p:nvSpPr>
        <p:spPr>
          <a:xfrm>
            <a:off x="5614416" y="265176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3</a:t>
            </a:r>
            <a:endParaRPr lang="en-US" sz="3200" dirty="0"/>
          </a:p>
        </p:txBody>
      </p:sp>
      <p:sp>
        <p:nvSpPr>
          <p:cNvPr id="17" name="Text 15"/>
          <p:cNvSpPr/>
          <p:nvPr/>
        </p:nvSpPr>
        <p:spPr>
          <a:xfrm>
            <a:off x="4928616" y="3611880"/>
            <a:ext cx="2194560" cy="777240"/>
          </a:xfrm>
          <a:prstGeom prst="rect">
            <a:avLst/>
          </a:prstGeom>
          <a:noFill/>
          <a:ln/>
        </p:spPr>
        <p:txBody>
          <a:bodyPr wrap="square" lIns="0" tIns="0" rIns="0" bIns="0" rtlCol="0" anchor="t"/>
          <a:lstStyle/>
          <a:p>
            <a:pPr algn="ctr" indent="0" marL="0">
              <a:lnSpc>
                <a:spcPct val="95000"/>
              </a:lnSpc>
              <a:buNone/>
            </a:pPr>
            <a:r>
              <a:rPr lang="en-US" sz="1150" b="1" dirty="0">
                <a:solidFill>
                  <a:srgbClr val="20242A"/>
                </a:solidFill>
                <a:latin typeface="Calibri" pitchFamily="34" charset="0"/>
                <a:ea typeface="Calibri" pitchFamily="34" charset="-122"/>
                <a:cs typeface="Calibri" pitchFamily="34" charset="-120"/>
              </a:rPr>
              <a:t>Marketplace</a:t>
            </a:r>
            <a:endParaRPr lang="en-US" sz="1150" dirty="0"/>
          </a:p>
          <a:p>
            <a:pPr algn="ctr" indent="0" marL="0">
              <a:lnSpc>
                <a:spcPct val="95000"/>
              </a:lnSpc>
              <a:buNone/>
            </a:pPr>
            <a:r>
              <a:rPr lang="en-US" sz="1150" b="1" dirty="0">
                <a:solidFill>
                  <a:srgbClr val="20242A"/>
                </a:solidFill>
                <a:latin typeface="Calibri" pitchFamily="34" charset="0"/>
                <a:ea typeface="Calibri" pitchFamily="34" charset="-122"/>
                <a:cs typeface="Calibri" pitchFamily="34" charset="-120"/>
              </a:rPr>
              <a:t>+ Portable Record</a:t>
            </a:r>
            <a:endParaRPr lang="en-US" sz="1150" dirty="0"/>
          </a:p>
        </p:txBody>
      </p:sp>
      <p:sp>
        <p:nvSpPr>
          <p:cNvPr id="18" name="Shape 16"/>
          <p:cNvSpPr/>
          <p:nvPr/>
        </p:nvSpPr>
        <p:spPr>
          <a:xfrm>
            <a:off x="8010144" y="2651760"/>
            <a:ext cx="822960" cy="822960"/>
          </a:xfrm>
          <a:prstGeom prst="ellipse">
            <a:avLst/>
          </a:prstGeom>
          <a:solidFill>
            <a:srgbClr val="B7C4BC"/>
          </a:solidFill>
          <a:ln/>
        </p:spPr>
      </p:sp>
      <p:sp>
        <p:nvSpPr>
          <p:cNvPr id="19" name="Text 17"/>
          <p:cNvSpPr/>
          <p:nvPr/>
        </p:nvSpPr>
        <p:spPr>
          <a:xfrm>
            <a:off x="8010144" y="265176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4</a:t>
            </a:r>
            <a:endParaRPr lang="en-US" sz="3200" dirty="0"/>
          </a:p>
        </p:txBody>
      </p:sp>
      <p:sp>
        <p:nvSpPr>
          <p:cNvPr id="20" name="Text 18"/>
          <p:cNvSpPr/>
          <p:nvPr/>
        </p:nvSpPr>
        <p:spPr>
          <a:xfrm>
            <a:off x="7324344" y="3611880"/>
            <a:ext cx="2194560" cy="777240"/>
          </a:xfrm>
          <a:prstGeom prst="rect">
            <a:avLst/>
          </a:prstGeom>
          <a:noFill/>
          <a:ln/>
        </p:spPr>
        <p:txBody>
          <a:bodyPr wrap="square" lIns="0" tIns="0" rIns="0" bIns="0" rtlCol="0" anchor="t"/>
          <a:lstStyle/>
          <a:p>
            <a:pPr algn="ctr" indent="0" marL="0">
              <a:lnSpc>
                <a:spcPct val="95000"/>
              </a:lnSpc>
              <a:buNone/>
            </a:pPr>
            <a:r>
              <a:rPr lang="en-US" sz="1150" b="1" dirty="0">
                <a:solidFill>
                  <a:srgbClr val="20242A"/>
                </a:solidFill>
                <a:latin typeface="Calibri" pitchFamily="34" charset="0"/>
                <a:ea typeface="Calibri" pitchFamily="34" charset="-122"/>
                <a:cs typeface="Calibri" pitchFamily="34" charset="-120"/>
              </a:rPr>
              <a:t>Funding</a:t>
            </a:r>
            <a:endParaRPr lang="en-US" sz="1150" dirty="0"/>
          </a:p>
          <a:p>
            <a:pPr algn="ctr" indent="0" marL="0">
              <a:lnSpc>
                <a:spcPct val="95000"/>
              </a:lnSpc>
              <a:buNone/>
            </a:pPr>
            <a:r>
              <a:rPr lang="en-US" sz="1150" b="1" dirty="0">
                <a:solidFill>
                  <a:srgbClr val="20242A"/>
                </a:solidFill>
                <a:latin typeface="Calibri" pitchFamily="34" charset="0"/>
                <a:ea typeface="Calibri" pitchFamily="34" charset="-122"/>
                <a:cs typeface="Calibri" pitchFamily="34" charset="-120"/>
              </a:rPr>
              <a:t>Facilitation</a:t>
            </a:r>
            <a:endParaRPr lang="en-US" sz="1150" dirty="0"/>
          </a:p>
        </p:txBody>
      </p:sp>
      <p:sp>
        <p:nvSpPr>
          <p:cNvPr id="21" name="Shape 19"/>
          <p:cNvSpPr/>
          <p:nvPr/>
        </p:nvSpPr>
        <p:spPr>
          <a:xfrm>
            <a:off x="10405872" y="2651760"/>
            <a:ext cx="822960" cy="822960"/>
          </a:xfrm>
          <a:prstGeom prst="ellipse">
            <a:avLst/>
          </a:prstGeom>
          <a:solidFill>
            <a:srgbClr val="B7C4BC"/>
          </a:solidFill>
          <a:ln/>
        </p:spPr>
      </p:sp>
      <p:sp>
        <p:nvSpPr>
          <p:cNvPr id="22" name="Text 20"/>
          <p:cNvSpPr/>
          <p:nvPr/>
        </p:nvSpPr>
        <p:spPr>
          <a:xfrm>
            <a:off x="10405872" y="265176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5</a:t>
            </a:r>
            <a:endParaRPr lang="en-US" sz="3200" dirty="0"/>
          </a:p>
        </p:txBody>
      </p:sp>
      <p:sp>
        <p:nvSpPr>
          <p:cNvPr id="23" name="Text 21"/>
          <p:cNvSpPr/>
          <p:nvPr/>
        </p:nvSpPr>
        <p:spPr>
          <a:xfrm>
            <a:off x="9720072" y="3611880"/>
            <a:ext cx="2194560" cy="777240"/>
          </a:xfrm>
          <a:prstGeom prst="rect">
            <a:avLst/>
          </a:prstGeom>
          <a:noFill/>
          <a:ln/>
        </p:spPr>
        <p:txBody>
          <a:bodyPr wrap="square" lIns="0" tIns="0" rIns="0" bIns="0" rtlCol="0" anchor="t"/>
          <a:lstStyle/>
          <a:p>
            <a:pPr algn="ctr" indent="0" marL="0">
              <a:lnSpc>
                <a:spcPct val="95000"/>
              </a:lnSpc>
              <a:buNone/>
            </a:pPr>
            <a:r>
              <a:rPr lang="en-US" sz="1150" b="1" dirty="0">
                <a:solidFill>
                  <a:srgbClr val="20242A"/>
                </a:solidFill>
                <a:latin typeface="Calibri" pitchFamily="34" charset="0"/>
                <a:ea typeface="Calibri" pitchFamily="34" charset="-122"/>
                <a:cs typeface="Calibri" pitchFamily="34" charset="-120"/>
              </a:rPr>
              <a:t>Expansion</a:t>
            </a:r>
            <a:endParaRPr lang="en-US" sz="1150" dirty="0"/>
          </a:p>
          <a:p>
            <a:pPr algn="ctr" indent="0" marL="0">
              <a:lnSpc>
                <a:spcPct val="95000"/>
              </a:lnSpc>
              <a:buNone/>
            </a:pPr>
            <a:r>
              <a:rPr lang="en-US" sz="1150" b="1" dirty="0">
                <a:solidFill>
                  <a:srgbClr val="20242A"/>
                </a:solidFill>
                <a:latin typeface="Calibri" pitchFamily="34" charset="0"/>
                <a:ea typeface="Calibri" pitchFamily="34" charset="-122"/>
                <a:cs typeface="Calibri" pitchFamily="34" charset="-120"/>
              </a:rPr>
              <a:t>(new verticals)</a:t>
            </a:r>
            <a:endParaRPr lang="en-US" sz="1150" dirty="0"/>
          </a:p>
        </p:txBody>
      </p:sp>
      <p:sp>
        <p:nvSpPr>
          <p:cNvPr id="24" name="Shape 22"/>
          <p:cNvSpPr/>
          <p:nvPr/>
        </p:nvSpPr>
        <p:spPr>
          <a:xfrm>
            <a:off x="685800" y="4709160"/>
            <a:ext cx="10835640" cy="1463040"/>
          </a:xfrm>
          <a:prstGeom prst="roundRect">
            <a:avLst>
              <a:gd name="adj" fmla="val 7500"/>
            </a:avLst>
          </a:prstGeom>
          <a:solidFill>
            <a:srgbClr val="FBFBFA"/>
          </a:solidFill>
          <a:ln w="12700">
            <a:solidFill>
              <a:srgbClr val="D8E0DA"/>
            </a:solidFill>
            <a:prstDash val="solid"/>
          </a:ln>
        </p:spPr>
      </p:sp>
      <p:sp>
        <p:nvSpPr>
          <p:cNvPr id="25" name="Text 23"/>
          <p:cNvSpPr/>
          <p:nvPr/>
        </p:nvSpPr>
        <p:spPr>
          <a:xfrm>
            <a:off x="1005840" y="4892040"/>
            <a:ext cx="10058400" cy="274320"/>
          </a:xfrm>
          <a:prstGeom prst="rect">
            <a:avLst/>
          </a:prstGeom>
          <a:noFill/>
          <a:ln/>
        </p:spPr>
        <p:txBody>
          <a:bodyPr wrap="square" lIns="0" tIns="0" rIns="0" bIns="0" rtlCol="0" anchor="ctr"/>
          <a:lstStyle/>
          <a:p>
            <a:pPr indent="0" marL="0">
              <a:buNone/>
            </a:pPr>
            <a:r>
              <a:rPr lang="en-US" sz="1050" b="1" spc="200" kern="0" dirty="0">
                <a:solidFill>
                  <a:srgbClr val="9A772A"/>
                </a:solidFill>
                <a:latin typeface="Calibri" pitchFamily="34" charset="0"/>
                <a:ea typeface="Calibri" pitchFamily="34" charset="-122"/>
                <a:cs typeface="Calibri" pitchFamily="34" charset="-120"/>
              </a:rPr>
              <a:t>BEYOND PHASE 5 · THE VENTURE HORIZON</a:t>
            </a:r>
            <a:endParaRPr lang="en-US" sz="1050" dirty="0"/>
          </a:p>
        </p:txBody>
      </p:sp>
      <p:sp>
        <p:nvSpPr>
          <p:cNvPr id="26" name="Text 24"/>
          <p:cNvSpPr/>
          <p:nvPr/>
        </p:nvSpPr>
        <p:spPr>
          <a:xfrm>
            <a:off x="1005840" y="5257800"/>
            <a:ext cx="10241280" cy="777240"/>
          </a:xfrm>
          <a:prstGeom prst="rect">
            <a:avLst/>
          </a:prstGeom>
          <a:noFill/>
          <a:ln/>
        </p:spPr>
        <p:txBody>
          <a:bodyPr wrap="square" lIns="0" tIns="0" rIns="0" bIns="0" rtlCol="0" anchor="t"/>
          <a:lstStyle/>
          <a:p>
            <a:pPr indent="0" marL="0">
              <a:lnSpc>
                <a:spcPct val="105000"/>
              </a:lnSpc>
              <a:buNone/>
            </a:pPr>
            <a:r>
              <a:rPr lang="en-US" sz="1200" b="1" dirty="0">
                <a:solidFill>
                  <a:srgbClr val="42574E"/>
                </a:solidFill>
                <a:latin typeface="Calibri" pitchFamily="34" charset="0"/>
                <a:ea typeface="Calibri" pitchFamily="34" charset="-122"/>
                <a:cs typeface="Calibri" pitchFamily="34" charset="-120"/>
              </a:rPr>
              <a:t>Legal Fleet</a:t>
            </a:r>
            <a:pPr indent="0" marL="0">
              <a:lnSpc>
                <a:spcPct val="105000"/>
              </a:lnSpc>
              <a:buNone/>
            </a:pPr>
            <a:r>
              <a:rPr lang="en-US" sz="1200" dirty="0">
                <a:solidFill>
                  <a:srgbClr val="20242A"/>
                </a:solidFill>
                <a:latin typeface="Calibri" pitchFamily="34" charset="0"/>
                <a:ea typeface="Calibri" pitchFamily="34" charset="-122"/>
                <a:cs typeface="Calibri" pitchFamily="34" charset="-120"/>
              </a:rPr>
              <a:t> — mobile deposition units for rural areas (Tad-operated).    </a:t>
            </a:r>
            <a:pPr indent="0" marL="0">
              <a:lnSpc>
                <a:spcPct val="105000"/>
              </a:lnSpc>
              <a:buNone/>
            </a:pPr>
            <a:r>
              <a:rPr lang="en-US" sz="1200" b="1" dirty="0">
                <a:solidFill>
                  <a:srgbClr val="42574E"/>
                </a:solidFill>
                <a:latin typeface="Calibri" pitchFamily="34" charset="0"/>
                <a:ea typeface="Calibri" pitchFamily="34" charset="-122"/>
                <a:cs typeface="Calibri" pitchFamily="34" charset="-120"/>
              </a:rPr>
              <a:t>Journey School</a:t>
            </a:r>
            <a:pPr indent="0" marL="0">
              <a:lnSpc>
                <a:spcPct val="105000"/>
              </a:lnSpc>
              <a:buNone/>
            </a:pPr>
            <a:r>
              <a:rPr lang="en-US" sz="1200" dirty="0">
                <a:solidFill>
                  <a:srgbClr val="20242A"/>
                </a:solidFill>
                <a:latin typeface="Calibri" pitchFamily="34" charset="0"/>
                <a:ea typeface="Calibri" pitchFamily="34" charset="-122"/>
                <a:cs typeface="Calibri" pitchFamily="34" charset="-120"/>
              </a:rPr>
              <a:t> — GPS-aware homeschool app for traveling families. </a:t>
            </a:r>
            <a:pPr indent="0" marL="0">
              <a:lnSpc>
                <a:spcPct val="105000"/>
              </a:lnSpc>
              <a:buNone/>
            </a:pPr>
            <a:r>
              <a:rPr lang="en-US" sz="1200" i="1" dirty="0">
                <a:solidFill>
                  <a:srgbClr val="6A6D66"/>
                </a:solidFill>
                <a:latin typeface="Calibri" pitchFamily="34" charset="0"/>
                <a:ea typeface="Calibri" pitchFamily="34" charset="-122"/>
                <a:cs typeface="Calibri" pitchFamily="34" charset="-120"/>
              </a:rPr>
              <a:t>Separate portfolio ventures that share the DNA — shown for vision, not competing for one3seven’s focus.</a:t>
            </a:r>
            <a:endParaRPr lang="en-US" sz="1200" dirty="0"/>
          </a:p>
        </p:txBody>
      </p:sp>
      <p:sp>
        <p:nvSpPr>
          <p:cNvPr id="27" name="Text 25"/>
          <p:cNvSpPr/>
          <p:nvPr/>
        </p:nvSpPr>
        <p:spPr>
          <a:xfrm>
            <a:off x="685800" y="6473952"/>
            <a:ext cx="8229600" cy="274320"/>
          </a:xfrm>
          <a:prstGeom prst="rect">
            <a:avLst/>
          </a:prstGeom>
          <a:noFill/>
          <a:ln/>
        </p:spPr>
        <p:txBody>
          <a:bodyPr wrap="square" lIns="0" tIns="0" rIns="0" bIns="0" rtlCol="0" anchor="ctr"/>
          <a:lstStyle/>
          <a:p>
            <a:pPr indent="0" marL="0">
              <a:buNone/>
            </a:pPr>
            <a:r>
              <a:rPr lang="en-US" sz="900" dirty="0">
                <a:solidFill>
                  <a:srgbClr val="6A6D66"/>
                </a:solidFill>
                <a:latin typeface="Calibri" pitchFamily="34" charset="0"/>
                <a:ea typeface="Calibri" pitchFamily="34" charset="-122"/>
                <a:cs typeface="Calibri" pitchFamily="34" charset="-120"/>
              </a:rPr>
              <a:t>one3seven  ·  The journey ahead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3EF"/>
        </a:solidFill>
      </p:bgPr>
    </p:bg>
    <p:spTree>
      <p:nvGrpSpPr>
        <p:cNvPr id="1" name=""/>
        <p:cNvGrpSpPr/>
        <p:nvPr/>
      </p:nvGrpSpPr>
      <p:grpSpPr>
        <a:xfrm>
          <a:off x="0" y="0"/>
          <a:ext cx="0" cy="0"/>
          <a:chOff x="0" y="0"/>
          <a:chExt cx="0" cy="0"/>
        </a:xfrm>
      </p:grpSpPr>
      <p:sp>
        <p:nvSpPr>
          <p:cNvPr id="2" name="Text 0"/>
          <p:cNvSpPr/>
          <p:nvPr/>
        </p:nvSpPr>
        <p:spPr>
          <a:xfrm>
            <a:off x="685800" y="502920"/>
            <a:ext cx="10972800" cy="274320"/>
          </a:xfrm>
          <a:prstGeom prst="rect">
            <a:avLst/>
          </a:prstGeom>
          <a:noFill/>
          <a:ln/>
        </p:spPr>
        <p:txBody>
          <a:bodyPr wrap="square" lIns="0" tIns="0" rIns="0" bIns="0" rtlCol="0" anchor="ctr"/>
          <a:lstStyle/>
          <a:p>
            <a:pPr indent="0" marL="0">
              <a:buNone/>
            </a:pPr>
            <a:r>
              <a:rPr lang="en-US" sz="1100" b="1" spc="300" kern="0" dirty="0">
                <a:solidFill>
                  <a:srgbClr val="5E7268"/>
                </a:solidFill>
                <a:latin typeface="Calibri" pitchFamily="34" charset="0"/>
                <a:ea typeface="Calibri" pitchFamily="34" charset="-122"/>
                <a:cs typeface="Calibri" pitchFamily="34" charset="-120"/>
              </a:rPr>
              <a:t>THE JOURNEY · PHASE 1 · LIVE NOW</a:t>
            </a:r>
            <a:endParaRPr lang="en-US" sz="1100" dirty="0"/>
          </a:p>
        </p:txBody>
      </p:sp>
      <p:sp>
        <p:nvSpPr>
          <p:cNvPr id="3" name="Shape 1"/>
          <p:cNvSpPr/>
          <p:nvPr/>
        </p:nvSpPr>
        <p:spPr>
          <a:xfrm>
            <a:off x="685800" y="868680"/>
            <a:ext cx="914400" cy="914400"/>
          </a:xfrm>
          <a:prstGeom prst="ellipse">
            <a:avLst/>
          </a:prstGeom>
          <a:solidFill>
            <a:srgbClr val="42574E"/>
          </a:solidFill>
          <a:ln/>
        </p:spPr>
      </p:sp>
      <p:sp>
        <p:nvSpPr>
          <p:cNvPr id="4" name="Text 2"/>
          <p:cNvSpPr/>
          <p:nvPr/>
        </p:nvSpPr>
        <p:spPr>
          <a:xfrm>
            <a:off x="685800" y="86868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1</a:t>
            </a:r>
            <a:endParaRPr lang="en-US" sz="3200" dirty="0"/>
          </a:p>
        </p:txBody>
      </p:sp>
      <p:sp>
        <p:nvSpPr>
          <p:cNvPr id="5" name="Text 3"/>
          <p:cNvSpPr/>
          <p:nvPr/>
        </p:nvSpPr>
        <p:spPr>
          <a:xfrm>
            <a:off x="1828800" y="914400"/>
            <a:ext cx="8778240" cy="1005840"/>
          </a:xfrm>
          <a:prstGeom prst="rect">
            <a:avLst/>
          </a:prstGeom>
          <a:noFill/>
          <a:ln/>
        </p:spPr>
        <p:txBody>
          <a:bodyPr wrap="square" lIns="0" tIns="0" rIns="0" bIns="0" rtlCol="0" anchor="ctr"/>
          <a:lstStyle/>
          <a:p>
            <a:pPr indent="0" marL="0">
              <a:lnSpc>
                <a:spcPct val="98000"/>
              </a:lnSpc>
              <a:buNone/>
            </a:pPr>
            <a:r>
              <a:rPr lang="en-US" sz="2700" b="1" dirty="0">
                <a:solidFill>
                  <a:srgbClr val="1B2623"/>
                </a:solidFill>
                <a:latin typeface="Cambria" pitchFamily="34" charset="0"/>
                <a:ea typeface="Cambria" pitchFamily="34" charset="-122"/>
                <a:cs typeface="Cambria" pitchFamily="34" charset="-120"/>
              </a:rPr>
              <a:t>Intake — the organized record</a:t>
            </a:r>
            <a:endParaRPr lang="en-US" sz="2700" dirty="0"/>
          </a:p>
        </p:txBody>
      </p:sp>
      <p:sp>
        <p:nvSpPr>
          <p:cNvPr id="6" name="Shape 4"/>
          <p:cNvSpPr/>
          <p:nvPr/>
        </p:nvSpPr>
        <p:spPr>
          <a:xfrm>
            <a:off x="685800" y="1874520"/>
            <a:ext cx="10835640" cy="457200"/>
          </a:xfrm>
          <a:prstGeom prst="roundRect">
            <a:avLst>
              <a:gd name="adj" fmla="val 20000"/>
            </a:avLst>
          </a:prstGeom>
          <a:solidFill>
            <a:srgbClr val="EAF0EC"/>
          </a:solidFill>
          <a:ln/>
        </p:spPr>
      </p:sp>
      <p:sp>
        <p:nvSpPr>
          <p:cNvPr id="7" name="Text 5"/>
          <p:cNvSpPr/>
          <p:nvPr/>
        </p:nvSpPr>
        <p:spPr>
          <a:xfrm>
            <a:off x="1005840" y="1874520"/>
            <a:ext cx="10241280" cy="457200"/>
          </a:xfrm>
          <a:prstGeom prst="rect">
            <a:avLst/>
          </a:prstGeom>
          <a:noFill/>
          <a:ln/>
        </p:spPr>
        <p:txBody>
          <a:bodyPr wrap="square" lIns="0" tIns="0" rIns="0" bIns="0" rtlCol="0" anchor="ctr"/>
          <a:lstStyle/>
          <a:p>
            <a:pPr indent="0" marL="0">
              <a:buNone/>
            </a:pPr>
            <a:r>
              <a:rPr lang="en-US" sz="1250" b="1" spc="200" kern="0" dirty="0">
                <a:solidFill>
                  <a:srgbClr val="42574E"/>
                </a:solidFill>
                <a:latin typeface="Calibri" pitchFamily="34" charset="0"/>
                <a:ea typeface="Calibri" pitchFamily="34" charset="-122"/>
                <a:cs typeface="Calibri" pitchFamily="34" charset="-120"/>
              </a:rPr>
              <a:t>PRICE   </a:t>
            </a:r>
            <a:pPr indent="0" marL="0">
              <a:buNone/>
            </a:pPr>
            <a:r>
              <a:rPr lang="en-US" sz="1250" b="1" dirty="0">
                <a:solidFill>
                  <a:srgbClr val="1B2623"/>
                </a:solidFill>
                <a:latin typeface="Calibri" pitchFamily="34" charset="0"/>
                <a:ea typeface="Calibri" pitchFamily="34" charset="-122"/>
                <a:cs typeface="Calibri" pitchFamily="34" charset="-120"/>
              </a:rPr>
              <a:t>$249 / $549 / $1,490 per month  ·  free 7-day pilot</a:t>
            </a:r>
            <a:endParaRPr lang="en-US" sz="1250" dirty="0"/>
          </a:p>
        </p:txBody>
      </p:sp>
      <p:sp>
        <p:nvSpPr>
          <p:cNvPr id="8" name="Shape 6"/>
          <p:cNvSpPr/>
          <p:nvPr/>
        </p:nvSpPr>
        <p:spPr>
          <a:xfrm>
            <a:off x="685800" y="2514600"/>
            <a:ext cx="5394960" cy="2487168"/>
          </a:xfrm>
          <a:prstGeom prst="roundRect">
            <a:avLst>
              <a:gd name="adj" fmla="val 4412"/>
            </a:avLst>
          </a:prstGeom>
          <a:solidFill>
            <a:srgbClr val="FBFBFA"/>
          </a:solidFill>
          <a:ln w="12700">
            <a:solidFill>
              <a:srgbClr val="D8E0DA"/>
            </a:solidFill>
            <a:prstDash val="solid"/>
          </a:ln>
        </p:spPr>
      </p:sp>
      <p:sp>
        <p:nvSpPr>
          <p:cNvPr id="9" name="Text 7"/>
          <p:cNvSpPr/>
          <p:nvPr/>
        </p:nvSpPr>
        <p:spPr>
          <a:xfrm>
            <a:off x="1005840" y="2697480"/>
            <a:ext cx="4572000" cy="274320"/>
          </a:xfrm>
          <a:prstGeom prst="rect">
            <a:avLst/>
          </a:prstGeom>
          <a:noFill/>
          <a:ln/>
        </p:spPr>
        <p:txBody>
          <a:bodyPr wrap="square" lIns="0" tIns="0" rIns="0" bIns="0" rtlCol="0" anchor="ctr"/>
          <a:lstStyle/>
          <a:p>
            <a:pPr indent="0" marL="0">
              <a:buNone/>
            </a:pPr>
            <a:r>
              <a:rPr lang="en-US" sz="1050" b="1" spc="200" kern="0" dirty="0">
                <a:solidFill>
                  <a:srgbClr val="42574E"/>
                </a:solidFill>
                <a:latin typeface="Calibri" pitchFamily="34" charset="0"/>
                <a:ea typeface="Calibri" pitchFamily="34" charset="-122"/>
                <a:cs typeface="Calibri" pitchFamily="34" charset="-120"/>
              </a:rPr>
              <a:t>WHAT IT DOES</a:t>
            </a:r>
            <a:endParaRPr lang="en-US" sz="1050" dirty="0"/>
          </a:p>
        </p:txBody>
      </p:sp>
      <p:sp>
        <p:nvSpPr>
          <p:cNvPr id="10" name="Text 8"/>
          <p:cNvSpPr/>
          <p:nvPr/>
        </p:nvSpPr>
        <p:spPr>
          <a:xfrm>
            <a:off x="1005840" y="3063240"/>
            <a:ext cx="4800600" cy="1874520"/>
          </a:xfrm>
          <a:prstGeom prst="rect">
            <a:avLst/>
          </a:prstGeom>
          <a:noFill/>
          <a:ln/>
        </p:spPr>
        <p:txBody>
          <a:bodyPr wrap="square" lIns="0" tIns="0" rIns="0" bIns="0" rtlCol="0" anchor="ctr"/>
          <a:lstStyle/>
          <a:p>
            <a:pPr marL="152400" indent="-152400">
              <a:spcAft>
                <a:spcPts val="700"/>
              </a:spcAft>
              <a:buSzPct val="100000"/>
              <a:buChar char="•"/>
            </a:pPr>
            <a:r>
              <a:rPr lang="en-US" sz="1100" dirty="0">
                <a:solidFill>
                  <a:srgbClr val="20242A"/>
                </a:solidFill>
                <a:latin typeface="Calibri" pitchFamily="34" charset="0"/>
                <a:ea typeface="Calibri" pitchFamily="34" charset="-122"/>
                <a:cs typeface="Calibri" pitchFamily="34" charset="-120"/>
              </a:rPr>
              <a:t>Worker uploads scattered records — texts, pay stubs, letters, screenshots.</a:t>
            </a:r>
            <a:endParaRPr lang="en-US" sz="1100" dirty="0"/>
          </a:p>
          <a:p>
            <a:pPr marL="152400" indent="-152400">
              <a:spcAft>
                <a:spcPts val="700"/>
              </a:spcAft>
              <a:buSzPct val="100000"/>
              <a:buChar char="•"/>
            </a:pPr>
            <a:r>
              <a:rPr lang="en-US" sz="1100" dirty="0">
                <a:solidFill>
                  <a:srgbClr val="20242A"/>
                </a:solidFill>
                <a:latin typeface="Calibri" pitchFamily="34" charset="0"/>
                <a:ea typeface="Calibri" pitchFamily="34" charset="-122"/>
                <a:cs typeface="Calibri" pitchFamily="34" charset="-120"/>
              </a:rPr>
              <a:t>AI organizes them into a source-linked timeline + a review-ready packet.</a:t>
            </a:r>
            <a:endParaRPr lang="en-US" sz="1100" dirty="0"/>
          </a:p>
          <a:p>
            <a:pPr marL="152400" indent="-152400">
              <a:spcAft>
                <a:spcPts val="700"/>
              </a:spcAft>
              <a:buSzPct val="100000"/>
              <a:buChar char="•"/>
            </a:pPr>
            <a:r>
              <a:rPr lang="en-US" sz="1100" dirty="0">
                <a:solidFill>
                  <a:srgbClr val="20242A"/>
                </a:solidFill>
                <a:latin typeface="Calibri" pitchFamily="34" charset="0"/>
                <a:ea typeface="Calibri" pitchFamily="34" charset="-122"/>
                <a:cs typeface="Calibri" pitchFamily="34" charset="-120"/>
              </a:rPr>
              <a:t>Every fact links back to its original source document.</a:t>
            </a:r>
            <a:endParaRPr lang="en-US" sz="1100" dirty="0"/>
          </a:p>
          <a:p>
            <a:pPr marL="152400" indent="-152400">
              <a:spcAft>
                <a:spcPts val="700"/>
              </a:spcAft>
              <a:buSzPct val="100000"/>
              <a:buChar char="•"/>
            </a:pPr>
            <a:r>
              <a:rPr lang="en-US" sz="1100" dirty="0">
                <a:solidFill>
                  <a:srgbClr val="20242A"/>
                </a:solidFill>
                <a:latin typeface="Calibri" pitchFamily="34" charset="0"/>
                <a:ea typeface="Calibri" pitchFamily="34" charset="-122"/>
                <a:cs typeface="Calibri" pitchFamily="34" charset="-120"/>
              </a:rPr>
              <a:t>The worker controls who sees it; the firm receives a clean, organized intake.</a:t>
            </a:r>
            <a:endParaRPr lang="en-US" sz="1100" dirty="0"/>
          </a:p>
        </p:txBody>
      </p:sp>
      <p:sp>
        <p:nvSpPr>
          <p:cNvPr id="11" name="Shape 9"/>
          <p:cNvSpPr/>
          <p:nvPr/>
        </p:nvSpPr>
        <p:spPr>
          <a:xfrm>
            <a:off x="6309360" y="2514600"/>
            <a:ext cx="5212080" cy="2487168"/>
          </a:xfrm>
          <a:prstGeom prst="roundRect">
            <a:avLst>
              <a:gd name="adj" fmla="val 4412"/>
            </a:avLst>
          </a:prstGeom>
          <a:solidFill>
            <a:srgbClr val="42574E"/>
          </a:solidFill>
          <a:ln/>
        </p:spPr>
      </p:sp>
      <p:sp>
        <p:nvSpPr>
          <p:cNvPr id="12" name="Text 10"/>
          <p:cNvSpPr/>
          <p:nvPr/>
        </p:nvSpPr>
        <p:spPr>
          <a:xfrm>
            <a:off x="6629400" y="2697480"/>
            <a:ext cx="4572000" cy="274320"/>
          </a:xfrm>
          <a:prstGeom prst="rect">
            <a:avLst/>
          </a:prstGeom>
          <a:noFill/>
          <a:ln/>
        </p:spPr>
        <p:txBody>
          <a:bodyPr wrap="square" lIns="0" tIns="0" rIns="0" bIns="0" rtlCol="0" anchor="ctr"/>
          <a:lstStyle/>
          <a:p>
            <a:pPr indent="0" marL="0">
              <a:buNone/>
            </a:pPr>
            <a:r>
              <a:rPr lang="en-US" sz="1050" b="1" spc="200" kern="0" dirty="0">
                <a:solidFill>
                  <a:srgbClr val="95AB9B"/>
                </a:solidFill>
                <a:latin typeface="Calibri" pitchFamily="34" charset="0"/>
                <a:ea typeface="Calibri" pitchFamily="34" charset="-122"/>
                <a:cs typeface="Calibri" pitchFamily="34" charset="-120"/>
              </a:rPr>
              <a:t>WHY THIS, WHY NOW</a:t>
            </a:r>
            <a:endParaRPr lang="en-US" sz="1050" dirty="0"/>
          </a:p>
        </p:txBody>
      </p:sp>
      <p:sp>
        <p:nvSpPr>
          <p:cNvPr id="13" name="Text 11"/>
          <p:cNvSpPr/>
          <p:nvPr/>
        </p:nvSpPr>
        <p:spPr>
          <a:xfrm>
            <a:off x="6629400" y="3063240"/>
            <a:ext cx="4617720" cy="1828800"/>
          </a:xfrm>
          <a:prstGeom prst="rect">
            <a:avLst/>
          </a:prstGeom>
          <a:noFill/>
          <a:ln/>
        </p:spPr>
        <p:txBody>
          <a:bodyPr wrap="square" lIns="0" tIns="0" rIns="0" bIns="0" rtlCol="0" anchor="t"/>
          <a:lstStyle/>
          <a:p>
            <a:pPr indent="0" marL="0">
              <a:lnSpc>
                <a:spcPct val="103000"/>
              </a:lnSpc>
              <a:buNone/>
            </a:pPr>
            <a:r>
              <a:rPr lang="en-US" sz="1250" dirty="0">
                <a:solidFill>
                  <a:srgbClr val="EAF0EC"/>
                </a:solidFill>
                <a:latin typeface="Calibri" pitchFamily="34" charset="0"/>
                <a:ea typeface="Calibri" pitchFamily="34" charset="-122"/>
                <a:cs typeface="Calibri" pitchFamily="34" charset="-120"/>
              </a:rPr>
              <a:t>This is the wedge. It solves the shoebox problem on day one, earns firm trust, and generates the relationships and data every later phase is built on. Nothing else opens until this is proven and paying.</a:t>
            </a:r>
            <a:endParaRPr lang="en-US" sz="1250" dirty="0"/>
          </a:p>
        </p:txBody>
      </p:sp>
      <p:sp>
        <p:nvSpPr>
          <p:cNvPr id="14" name="Shape 12"/>
          <p:cNvSpPr/>
          <p:nvPr/>
        </p:nvSpPr>
        <p:spPr>
          <a:xfrm>
            <a:off x="685800" y="5138928"/>
            <a:ext cx="10835640" cy="1097280"/>
          </a:xfrm>
          <a:prstGeom prst="roundRect">
            <a:avLst>
              <a:gd name="adj" fmla="val 10000"/>
            </a:avLst>
          </a:prstGeom>
          <a:solidFill>
            <a:srgbClr val="F3E9CE"/>
          </a:solidFill>
          <a:ln w="12700">
            <a:solidFill>
              <a:srgbClr val="C9A24B"/>
            </a:solidFill>
            <a:prstDash val="solid"/>
          </a:ln>
        </p:spPr>
      </p:sp>
      <p:sp>
        <p:nvSpPr>
          <p:cNvPr id="15" name="Shape 13"/>
          <p:cNvSpPr/>
          <p:nvPr/>
        </p:nvSpPr>
        <p:spPr>
          <a:xfrm>
            <a:off x="960120" y="5440680"/>
            <a:ext cx="502920" cy="502920"/>
          </a:xfrm>
          <a:prstGeom prst="ellipse">
            <a:avLst/>
          </a:prstGeom>
          <a:solidFill>
            <a:srgbClr val="C9A24B"/>
          </a:solidFill>
          <a:ln/>
        </p:spPr>
      </p:sp>
      <p:sp>
        <p:nvSpPr>
          <p:cNvPr id="16" name="Text 14"/>
          <p:cNvSpPr/>
          <p:nvPr/>
        </p:nvSpPr>
        <p:spPr>
          <a:xfrm>
            <a:off x="960120" y="5440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1645920" y="5285232"/>
            <a:ext cx="9601200" cy="274320"/>
          </a:xfrm>
          <a:prstGeom prst="rect">
            <a:avLst/>
          </a:prstGeom>
          <a:noFill/>
          <a:ln/>
        </p:spPr>
        <p:txBody>
          <a:bodyPr wrap="square" lIns="0" tIns="0" rIns="0" bIns="0" rtlCol="0" anchor="ctr"/>
          <a:lstStyle/>
          <a:p>
            <a:pPr indent="0" marL="0">
              <a:buNone/>
            </a:pPr>
            <a:r>
              <a:rPr lang="en-US" sz="1050" b="1" spc="200" kern="0" dirty="0">
                <a:solidFill>
                  <a:srgbClr val="9A772A"/>
                </a:solidFill>
                <a:latin typeface="Calibri" pitchFamily="34" charset="0"/>
                <a:ea typeface="Calibri" pitchFamily="34" charset="-122"/>
                <a:cs typeface="Calibri" pitchFamily="34" charset="-120"/>
              </a:rPr>
              <a:t>GATE TO OPEN THIS PHASE — already open</a:t>
            </a:r>
            <a:endParaRPr lang="en-US" sz="1050" dirty="0"/>
          </a:p>
        </p:txBody>
      </p:sp>
      <p:sp>
        <p:nvSpPr>
          <p:cNvPr id="18" name="Text 16"/>
          <p:cNvSpPr/>
          <p:nvPr/>
        </p:nvSpPr>
        <p:spPr>
          <a:xfrm>
            <a:off x="1645920" y="5559552"/>
            <a:ext cx="9692640" cy="594360"/>
          </a:xfrm>
          <a:prstGeom prst="rect">
            <a:avLst/>
          </a:prstGeom>
          <a:noFill/>
          <a:ln/>
        </p:spPr>
        <p:txBody>
          <a:bodyPr wrap="square" lIns="0" tIns="0" rIns="0" bIns="0" rtlCol="0" anchor="t"/>
          <a:lstStyle/>
          <a:p>
            <a:pPr indent="0" marL="0">
              <a:lnSpc>
                <a:spcPct val="100000"/>
              </a:lnSpc>
              <a:buNone/>
            </a:pPr>
            <a:r>
              <a:rPr lang="en-US" sz="1200" dirty="0">
                <a:solidFill>
                  <a:srgbClr val="20242A"/>
                </a:solidFill>
                <a:latin typeface="Calibri" pitchFamily="34" charset="0"/>
                <a:ea typeface="Calibri" pitchFamily="34" charset="-122"/>
                <a:cs typeface="Calibri" pitchFamily="34" charset="-120"/>
              </a:rPr>
              <a:t>This is the starting line. The gate to open Phase 2: 3 paying firms + at least one “personal touch” objection logged in the CRM.</a:t>
            </a:r>
            <a:endParaRPr lang="en-US" sz="1200" dirty="0"/>
          </a:p>
        </p:txBody>
      </p:sp>
      <p:sp>
        <p:nvSpPr>
          <p:cNvPr id="19" name="Text 17"/>
          <p:cNvSpPr/>
          <p:nvPr/>
        </p:nvSpPr>
        <p:spPr>
          <a:xfrm>
            <a:off x="685800" y="6473952"/>
            <a:ext cx="8229600" cy="274320"/>
          </a:xfrm>
          <a:prstGeom prst="rect">
            <a:avLst/>
          </a:prstGeom>
          <a:noFill/>
          <a:ln/>
        </p:spPr>
        <p:txBody>
          <a:bodyPr wrap="square" lIns="0" tIns="0" rIns="0" bIns="0" rtlCol="0" anchor="ctr"/>
          <a:lstStyle/>
          <a:p>
            <a:pPr indent="0" marL="0">
              <a:buNone/>
            </a:pPr>
            <a:r>
              <a:rPr lang="en-US" sz="900" dirty="0">
                <a:solidFill>
                  <a:srgbClr val="6A6D66"/>
                </a:solidFill>
                <a:latin typeface="Calibri" pitchFamily="34" charset="0"/>
                <a:ea typeface="Calibri" pitchFamily="34" charset="-122"/>
                <a:cs typeface="Calibri" pitchFamily="34" charset="-120"/>
              </a:rPr>
              <a:t>one3seven  ·  The journey ahead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3EF"/>
        </a:solidFill>
      </p:bgPr>
    </p:bg>
    <p:spTree>
      <p:nvGrpSpPr>
        <p:cNvPr id="1" name=""/>
        <p:cNvGrpSpPr/>
        <p:nvPr/>
      </p:nvGrpSpPr>
      <p:grpSpPr>
        <a:xfrm>
          <a:off x="0" y="0"/>
          <a:ext cx="0" cy="0"/>
          <a:chOff x="0" y="0"/>
          <a:chExt cx="0" cy="0"/>
        </a:xfrm>
      </p:grpSpPr>
      <p:sp>
        <p:nvSpPr>
          <p:cNvPr id="2" name="Text 0"/>
          <p:cNvSpPr/>
          <p:nvPr/>
        </p:nvSpPr>
        <p:spPr>
          <a:xfrm>
            <a:off x="685800" y="502920"/>
            <a:ext cx="10972800" cy="274320"/>
          </a:xfrm>
          <a:prstGeom prst="rect">
            <a:avLst/>
          </a:prstGeom>
          <a:noFill/>
          <a:ln/>
        </p:spPr>
        <p:txBody>
          <a:bodyPr wrap="square" lIns="0" tIns="0" rIns="0" bIns="0" rtlCol="0" anchor="ctr"/>
          <a:lstStyle/>
          <a:p>
            <a:pPr indent="0" marL="0">
              <a:buNone/>
            </a:pPr>
            <a:r>
              <a:rPr lang="en-US" sz="1100" b="1" spc="300" kern="0" dirty="0">
                <a:solidFill>
                  <a:srgbClr val="5E7268"/>
                </a:solidFill>
                <a:latin typeface="Calibri" pitchFamily="34" charset="0"/>
                <a:ea typeface="Calibri" pitchFamily="34" charset="-122"/>
                <a:cs typeface="Calibri" pitchFamily="34" charset="-120"/>
              </a:rPr>
              <a:t>THE JOURNEY · PHASE 2 · NEXT</a:t>
            </a:r>
            <a:endParaRPr lang="en-US" sz="1100" dirty="0"/>
          </a:p>
        </p:txBody>
      </p:sp>
      <p:sp>
        <p:nvSpPr>
          <p:cNvPr id="3" name="Shape 1"/>
          <p:cNvSpPr/>
          <p:nvPr/>
        </p:nvSpPr>
        <p:spPr>
          <a:xfrm>
            <a:off x="685800" y="868680"/>
            <a:ext cx="914400" cy="914400"/>
          </a:xfrm>
          <a:prstGeom prst="ellipse">
            <a:avLst/>
          </a:prstGeom>
          <a:solidFill>
            <a:srgbClr val="42574E"/>
          </a:solidFill>
          <a:ln/>
        </p:spPr>
      </p:sp>
      <p:sp>
        <p:nvSpPr>
          <p:cNvPr id="4" name="Text 2"/>
          <p:cNvSpPr/>
          <p:nvPr/>
        </p:nvSpPr>
        <p:spPr>
          <a:xfrm>
            <a:off x="685800" y="86868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2</a:t>
            </a:r>
            <a:endParaRPr lang="en-US" sz="3200" dirty="0"/>
          </a:p>
        </p:txBody>
      </p:sp>
      <p:sp>
        <p:nvSpPr>
          <p:cNvPr id="5" name="Text 3"/>
          <p:cNvSpPr/>
          <p:nvPr/>
        </p:nvSpPr>
        <p:spPr>
          <a:xfrm>
            <a:off x="1828800" y="914400"/>
            <a:ext cx="8778240" cy="1005840"/>
          </a:xfrm>
          <a:prstGeom prst="rect">
            <a:avLst/>
          </a:prstGeom>
          <a:noFill/>
          <a:ln/>
        </p:spPr>
        <p:txBody>
          <a:bodyPr wrap="square" lIns="0" tIns="0" rIns="0" bIns="0" rtlCol="0" anchor="ctr"/>
          <a:lstStyle/>
          <a:p>
            <a:pPr indent="0" marL="0">
              <a:lnSpc>
                <a:spcPct val="98000"/>
              </a:lnSpc>
              <a:buNone/>
            </a:pPr>
            <a:r>
              <a:rPr lang="en-US" sz="2700" b="1" dirty="0">
                <a:solidFill>
                  <a:srgbClr val="1B2623"/>
                </a:solidFill>
                <a:latin typeface="Cambria" pitchFamily="34" charset="0"/>
                <a:ea typeface="Cambria" pitchFamily="34" charset="-122"/>
                <a:cs typeface="Cambria" pitchFamily="34" charset="-120"/>
              </a:rPr>
              <a:t>Litigation Ops + Teleprompt</a:t>
            </a:r>
            <a:endParaRPr lang="en-US" sz="2700" dirty="0"/>
          </a:p>
        </p:txBody>
      </p:sp>
      <p:sp>
        <p:nvSpPr>
          <p:cNvPr id="6" name="Shape 4"/>
          <p:cNvSpPr/>
          <p:nvPr/>
        </p:nvSpPr>
        <p:spPr>
          <a:xfrm>
            <a:off x="685800" y="1874520"/>
            <a:ext cx="10835640" cy="457200"/>
          </a:xfrm>
          <a:prstGeom prst="roundRect">
            <a:avLst>
              <a:gd name="adj" fmla="val 20000"/>
            </a:avLst>
          </a:prstGeom>
          <a:solidFill>
            <a:srgbClr val="EAF0EC"/>
          </a:solidFill>
          <a:ln/>
        </p:spPr>
      </p:sp>
      <p:sp>
        <p:nvSpPr>
          <p:cNvPr id="7" name="Text 5"/>
          <p:cNvSpPr/>
          <p:nvPr/>
        </p:nvSpPr>
        <p:spPr>
          <a:xfrm>
            <a:off x="1005840" y="1874520"/>
            <a:ext cx="10241280" cy="457200"/>
          </a:xfrm>
          <a:prstGeom prst="rect">
            <a:avLst/>
          </a:prstGeom>
          <a:noFill/>
          <a:ln/>
        </p:spPr>
        <p:txBody>
          <a:bodyPr wrap="square" lIns="0" tIns="0" rIns="0" bIns="0" rtlCol="0" anchor="ctr"/>
          <a:lstStyle/>
          <a:p>
            <a:pPr indent="0" marL="0">
              <a:buNone/>
            </a:pPr>
            <a:r>
              <a:rPr lang="en-US" sz="1250" b="1" spc="200" kern="0" dirty="0">
                <a:solidFill>
                  <a:srgbClr val="42574E"/>
                </a:solidFill>
                <a:latin typeface="Calibri" pitchFamily="34" charset="0"/>
                <a:ea typeface="Calibri" pitchFamily="34" charset="-122"/>
                <a:cs typeface="Calibri" pitchFamily="34" charset="-120"/>
              </a:rPr>
              <a:t>PRICE   </a:t>
            </a:r>
            <a:pPr indent="0" marL="0">
              <a:buNone/>
            </a:pPr>
            <a:r>
              <a:rPr lang="en-US" sz="1250" b="1" dirty="0">
                <a:solidFill>
                  <a:srgbClr val="1B2623"/>
                </a:solidFill>
                <a:latin typeface="Calibri" pitchFamily="34" charset="0"/>
                <a:ea typeface="Calibri" pitchFamily="34" charset="-122"/>
                <a:cs typeface="Calibri" pitchFamily="34" charset="-120"/>
              </a:rPr>
              <a:t>Base tier + ~$249/month add-on  ·  illustrative target</a:t>
            </a:r>
            <a:endParaRPr lang="en-US" sz="1250" dirty="0"/>
          </a:p>
        </p:txBody>
      </p:sp>
      <p:sp>
        <p:nvSpPr>
          <p:cNvPr id="8" name="Shape 6"/>
          <p:cNvSpPr/>
          <p:nvPr/>
        </p:nvSpPr>
        <p:spPr>
          <a:xfrm>
            <a:off x="685800" y="2514600"/>
            <a:ext cx="5394960" cy="2487168"/>
          </a:xfrm>
          <a:prstGeom prst="roundRect">
            <a:avLst>
              <a:gd name="adj" fmla="val 4412"/>
            </a:avLst>
          </a:prstGeom>
          <a:solidFill>
            <a:srgbClr val="FBFBFA"/>
          </a:solidFill>
          <a:ln w="12700">
            <a:solidFill>
              <a:srgbClr val="D8E0DA"/>
            </a:solidFill>
            <a:prstDash val="solid"/>
          </a:ln>
        </p:spPr>
      </p:sp>
      <p:sp>
        <p:nvSpPr>
          <p:cNvPr id="9" name="Text 7"/>
          <p:cNvSpPr/>
          <p:nvPr/>
        </p:nvSpPr>
        <p:spPr>
          <a:xfrm>
            <a:off x="1005840" y="2697480"/>
            <a:ext cx="4572000" cy="274320"/>
          </a:xfrm>
          <a:prstGeom prst="rect">
            <a:avLst/>
          </a:prstGeom>
          <a:noFill/>
          <a:ln/>
        </p:spPr>
        <p:txBody>
          <a:bodyPr wrap="square" lIns="0" tIns="0" rIns="0" bIns="0" rtlCol="0" anchor="ctr"/>
          <a:lstStyle/>
          <a:p>
            <a:pPr indent="0" marL="0">
              <a:buNone/>
            </a:pPr>
            <a:r>
              <a:rPr lang="en-US" sz="1050" b="1" spc="200" kern="0" dirty="0">
                <a:solidFill>
                  <a:srgbClr val="42574E"/>
                </a:solidFill>
                <a:latin typeface="Calibri" pitchFamily="34" charset="0"/>
                <a:ea typeface="Calibri" pitchFamily="34" charset="-122"/>
                <a:cs typeface="Calibri" pitchFamily="34" charset="-120"/>
              </a:rPr>
              <a:t>WHAT IT DOES</a:t>
            </a:r>
            <a:endParaRPr lang="en-US" sz="1050" dirty="0"/>
          </a:p>
        </p:txBody>
      </p:sp>
      <p:sp>
        <p:nvSpPr>
          <p:cNvPr id="10" name="Text 8"/>
          <p:cNvSpPr/>
          <p:nvPr/>
        </p:nvSpPr>
        <p:spPr>
          <a:xfrm>
            <a:off x="1005840" y="3063240"/>
            <a:ext cx="4800600" cy="1874520"/>
          </a:xfrm>
          <a:prstGeom prst="rect">
            <a:avLst/>
          </a:prstGeom>
          <a:noFill/>
          <a:ln/>
        </p:spPr>
        <p:txBody>
          <a:bodyPr wrap="square" lIns="0" tIns="0" rIns="0" bIns="0" rtlCol="0" anchor="ctr"/>
          <a:lstStyle/>
          <a:p>
            <a:pPr marL="152400" indent="-152400">
              <a:spcAft>
                <a:spcPts val="700"/>
              </a:spcAft>
              <a:buSzPct val="100000"/>
              <a:buChar char="•"/>
            </a:pPr>
            <a:r>
              <a:rPr lang="en-US" sz="1100" dirty="0">
                <a:solidFill>
                  <a:srgbClr val="20242A"/>
                </a:solidFill>
                <a:latin typeface="Calibri" pitchFamily="34" charset="0"/>
                <a:ea typeface="Calibri" pitchFamily="34" charset="-122"/>
                <a:cs typeface="Calibri" pitchFamily="34" charset="-120"/>
              </a:rPr>
              <a:t>Litigation Ops: surfaces dates for timely review, assembles packets, supports post-intake workflow.</a:t>
            </a:r>
            <a:endParaRPr lang="en-US" sz="1100" dirty="0"/>
          </a:p>
          <a:p>
            <a:pPr marL="152400" indent="-152400">
              <a:spcAft>
                <a:spcPts val="700"/>
              </a:spcAft>
              <a:buSzPct val="100000"/>
              <a:buChar char="•"/>
            </a:pPr>
            <a:r>
              <a:rPr lang="en-US" sz="1100" dirty="0">
                <a:solidFill>
                  <a:srgbClr val="20242A"/>
                </a:solidFill>
                <a:latin typeface="Calibri" pitchFamily="34" charset="0"/>
                <a:ea typeface="Calibri" pitchFamily="34" charset="-122"/>
                <a:cs typeface="Calibri" pitchFamily="34" charset="-120"/>
              </a:rPr>
              <a:t>Teleprompt: AI whispers the next question to a human coordinator — the AI never speaks to the worker; the human keeps the personal touch. Ends with a source-linked packet.</a:t>
            </a:r>
            <a:endParaRPr lang="en-US" sz="1100" dirty="0"/>
          </a:p>
          <a:p>
            <a:pPr marL="152400" indent="-152400">
              <a:spcAft>
                <a:spcPts val="700"/>
              </a:spcAft>
              <a:buSzPct val="100000"/>
              <a:buChar char="•"/>
            </a:pPr>
            <a:r>
              <a:rPr lang="en-US" sz="1100" dirty="0">
                <a:solidFill>
                  <a:srgbClr val="20242A"/>
                </a:solidFill>
                <a:latin typeface="Calibri" pitchFamily="34" charset="0"/>
                <a:ea typeface="Calibri" pitchFamily="34" charset="-122"/>
                <a:cs typeface="Calibri" pitchFamily="34" charset="-120"/>
              </a:rPr>
              <a:t>Accessibility hotline: the same intake inbound by phone — for ADA/disabled, elderly, or non-app callers. Human answers, AI guides, never legal advice.</a:t>
            </a:r>
            <a:endParaRPr lang="en-US" sz="1100" dirty="0"/>
          </a:p>
        </p:txBody>
      </p:sp>
      <p:sp>
        <p:nvSpPr>
          <p:cNvPr id="11" name="Shape 9"/>
          <p:cNvSpPr/>
          <p:nvPr/>
        </p:nvSpPr>
        <p:spPr>
          <a:xfrm>
            <a:off x="6309360" y="2514600"/>
            <a:ext cx="5212080" cy="2487168"/>
          </a:xfrm>
          <a:prstGeom prst="roundRect">
            <a:avLst>
              <a:gd name="adj" fmla="val 4412"/>
            </a:avLst>
          </a:prstGeom>
          <a:solidFill>
            <a:srgbClr val="42574E"/>
          </a:solidFill>
          <a:ln/>
        </p:spPr>
      </p:sp>
      <p:sp>
        <p:nvSpPr>
          <p:cNvPr id="12" name="Text 10"/>
          <p:cNvSpPr/>
          <p:nvPr/>
        </p:nvSpPr>
        <p:spPr>
          <a:xfrm>
            <a:off x="6629400" y="2697480"/>
            <a:ext cx="4572000" cy="274320"/>
          </a:xfrm>
          <a:prstGeom prst="rect">
            <a:avLst/>
          </a:prstGeom>
          <a:noFill/>
          <a:ln/>
        </p:spPr>
        <p:txBody>
          <a:bodyPr wrap="square" lIns="0" tIns="0" rIns="0" bIns="0" rtlCol="0" anchor="ctr"/>
          <a:lstStyle/>
          <a:p>
            <a:pPr indent="0" marL="0">
              <a:buNone/>
            </a:pPr>
            <a:r>
              <a:rPr lang="en-US" sz="1050" b="1" spc="200" kern="0" dirty="0">
                <a:solidFill>
                  <a:srgbClr val="95AB9B"/>
                </a:solidFill>
                <a:latin typeface="Calibri" pitchFamily="34" charset="0"/>
                <a:ea typeface="Calibri" pitchFamily="34" charset="-122"/>
                <a:cs typeface="Calibri" pitchFamily="34" charset="-120"/>
              </a:rPr>
              <a:t>WHY THIS, WHY NOW</a:t>
            </a:r>
            <a:endParaRPr lang="en-US" sz="1050" dirty="0"/>
          </a:p>
        </p:txBody>
      </p:sp>
      <p:sp>
        <p:nvSpPr>
          <p:cNvPr id="13" name="Text 11"/>
          <p:cNvSpPr/>
          <p:nvPr/>
        </p:nvSpPr>
        <p:spPr>
          <a:xfrm>
            <a:off x="6629400" y="3063240"/>
            <a:ext cx="4617720" cy="1828800"/>
          </a:xfrm>
          <a:prstGeom prst="rect">
            <a:avLst/>
          </a:prstGeom>
          <a:noFill/>
          <a:ln/>
        </p:spPr>
        <p:txBody>
          <a:bodyPr wrap="square" lIns="0" tIns="0" rIns="0" bIns="0" rtlCol="0" anchor="t"/>
          <a:lstStyle/>
          <a:p>
            <a:pPr indent="0" marL="0">
              <a:lnSpc>
                <a:spcPct val="103000"/>
              </a:lnSpc>
              <a:buNone/>
            </a:pPr>
            <a:r>
              <a:rPr lang="en-US" sz="1250" dirty="0">
                <a:solidFill>
                  <a:srgbClr val="EAF0EC"/>
                </a:solidFill>
                <a:latin typeface="Calibri" pitchFamily="34" charset="0"/>
                <a:ea typeface="Calibri" pitchFamily="34" charset="-122"/>
                <a:cs typeface="Calibri" pitchFamily="34" charset="-120"/>
              </a:rPr>
              <a:t>Firms want a human on the phone — that’s the “personal touch” objection. Teleprompt keeps the human and makes them superhuman, turning one call into a finished packet. Litigation Ops deepens per-firm value → higher revenue per firm.</a:t>
            </a:r>
            <a:endParaRPr lang="en-US" sz="1250" dirty="0"/>
          </a:p>
        </p:txBody>
      </p:sp>
      <p:sp>
        <p:nvSpPr>
          <p:cNvPr id="14" name="Shape 12"/>
          <p:cNvSpPr/>
          <p:nvPr/>
        </p:nvSpPr>
        <p:spPr>
          <a:xfrm>
            <a:off x="685800" y="5138928"/>
            <a:ext cx="10835640" cy="1097280"/>
          </a:xfrm>
          <a:prstGeom prst="roundRect">
            <a:avLst>
              <a:gd name="adj" fmla="val 10000"/>
            </a:avLst>
          </a:prstGeom>
          <a:solidFill>
            <a:srgbClr val="F3E9CE"/>
          </a:solidFill>
          <a:ln w="12700">
            <a:solidFill>
              <a:srgbClr val="C9A24B"/>
            </a:solidFill>
            <a:prstDash val="solid"/>
          </a:ln>
        </p:spPr>
      </p:sp>
      <p:sp>
        <p:nvSpPr>
          <p:cNvPr id="15" name="Shape 13"/>
          <p:cNvSpPr/>
          <p:nvPr/>
        </p:nvSpPr>
        <p:spPr>
          <a:xfrm>
            <a:off x="960120" y="5440680"/>
            <a:ext cx="502920" cy="502920"/>
          </a:xfrm>
          <a:prstGeom prst="ellipse">
            <a:avLst/>
          </a:prstGeom>
          <a:solidFill>
            <a:srgbClr val="C9A24B"/>
          </a:solidFill>
          <a:ln/>
        </p:spPr>
      </p:sp>
      <p:sp>
        <p:nvSpPr>
          <p:cNvPr id="16" name="Text 14"/>
          <p:cNvSpPr/>
          <p:nvPr/>
        </p:nvSpPr>
        <p:spPr>
          <a:xfrm>
            <a:off x="960120" y="5440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1645920" y="5285232"/>
            <a:ext cx="9601200" cy="274320"/>
          </a:xfrm>
          <a:prstGeom prst="rect">
            <a:avLst/>
          </a:prstGeom>
          <a:noFill/>
          <a:ln/>
        </p:spPr>
        <p:txBody>
          <a:bodyPr wrap="square" lIns="0" tIns="0" rIns="0" bIns="0" rtlCol="0" anchor="ctr"/>
          <a:lstStyle/>
          <a:p>
            <a:pPr indent="0" marL="0">
              <a:buNone/>
            </a:pPr>
            <a:r>
              <a:rPr lang="en-US" sz="1050" b="1" spc="200" kern="0" dirty="0">
                <a:solidFill>
                  <a:srgbClr val="9A772A"/>
                </a:solidFill>
                <a:latin typeface="Calibri" pitchFamily="34" charset="0"/>
                <a:ea typeface="Calibri" pitchFamily="34" charset="-122"/>
                <a:cs typeface="Calibri" pitchFamily="34" charset="-120"/>
              </a:rPr>
              <a:t>GATE TO OPEN THIS PHASE — the trigger</a:t>
            </a:r>
            <a:endParaRPr lang="en-US" sz="1050" dirty="0"/>
          </a:p>
        </p:txBody>
      </p:sp>
      <p:sp>
        <p:nvSpPr>
          <p:cNvPr id="18" name="Text 16"/>
          <p:cNvSpPr/>
          <p:nvPr/>
        </p:nvSpPr>
        <p:spPr>
          <a:xfrm>
            <a:off x="1645920" y="5559552"/>
            <a:ext cx="9692640" cy="594360"/>
          </a:xfrm>
          <a:prstGeom prst="rect">
            <a:avLst/>
          </a:prstGeom>
          <a:noFill/>
          <a:ln/>
        </p:spPr>
        <p:txBody>
          <a:bodyPr wrap="square" lIns="0" tIns="0" rIns="0" bIns="0" rtlCol="0" anchor="t"/>
          <a:lstStyle/>
          <a:p>
            <a:pPr indent="0" marL="0">
              <a:lnSpc>
                <a:spcPct val="100000"/>
              </a:lnSpc>
              <a:buNone/>
            </a:pPr>
            <a:r>
              <a:rPr lang="en-US" sz="1200" dirty="0">
                <a:solidFill>
                  <a:srgbClr val="20242A"/>
                </a:solidFill>
                <a:latin typeface="Calibri" pitchFamily="34" charset="0"/>
                <a:ea typeface="Calibri" pitchFamily="34" charset="-122"/>
                <a:cs typeface="Calibri" pitchFamily="34" charset="-120"/>
              </a:rPr>
              <a:t>3 paying firms + at least one “personal touch” objection logged in the CRM. The objection is the market signal that Teleprompt is wanted.</a:t>
            </a:r>
            <a:endParaRPr lang="en-US" sz="1200" dirty="0"/>
          </a:p>
        </p:txBody>
      </p:sp>
      <p:sp>
        <p:nvSpPr>
          <p:cNvPr id="19" name="Text 17"/>
          <p:cNvSpPr/>
          <p:nvPr/>
        </p:nvSpPr>
        <p:spPr>
          <a:xfrm>
            <a:off x="685800" y="6473952"/>
            <a:ext cx="8229600" cy="274320"/>
          </a:xfrm>
          <a:prstGeom prst="rect">
            <a:avLst/>
          </a:prstGeom>
          <a:noFill/>
          <a:ln/>
        </p:spPr>
        <p:txBody>
          <a:bodyPr wrap="square" lIns="0" tIns="0" rIns="0" bIns="0" rtlCol="0" anchor="ctr"/>
          <a:lstStyle/>
          <a:p>
            <a:pPr indent="0" marL="0">
              <a:buNone/>
            </a:pPr>
            <a:r>
              <a:rPr lang="en-US" sz="900" dirty="0">
                <a:solidFill>
                  <a:srgbClr val="6A6D66"/>
                </a:solidFill>
                <a:latin typeface="Calibri" pitchFamily="34" charset="0"/>
                <a:ea typeface="Calibri" pitchFamily="34" charset="-122"/>
                <a:cs typeface="Calibri" pitchFamily="34" charset="-120"/>
              </a:rPr>
              <a:t>one3seven  ·  The journey ahead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3EF"/>
        </a:solidFill>
      </p:bgPr>
    </p:bg>
    <p:spTree>
      <p:nvGrpSpPr>
        <p:cNvPr id="1" name=""/>
        <p:cNvGrpSpPr/>
        <p:nvPr/>
      </p:nvGrpSpPr>
      <p:grpSpPr>
        <a:xfrm>
          <a:off x="0" y="0"/>
          <a:ext cx="0" cy="0"/>
          <a:chOff x="0" y="0"/>
          <a:chExt cx="0" cy="0"/>
        </a:xfrm>
      </p:grpSpPr>
      <p:sp>
        <p:nvSpPr>
          <p:cNvPr id="2" name="Text 0"/>
          <p:cNvSpPr/>
          <p:nvPr/>
        </p:nvSpPr>
        <p:spPr>
          <a:xfrm>
            <a:off x="685800" y="502920"/>
            <a:ext cx="10972800" cy="274320"/>
          </a:xfrm>
          <a:prstGeom prst="rect">
            <a:avLst/>
          </a:prstGeom>
          <a:noFill/>
          <a:ln/>
        </p:spPr>
        <p:txBody>
          <a:bodyPr wrap="square" lIns="0" tIns="0" rIns="0" bIns="0" rtlCol="0" anchor="ctr"/>
          <a:lstStyle/>
          <a:p>
            <a:pPr indent="0" marL="0">
              <a:buNone/>
            </a:pPr>
            <a:r>
              <a:rPr lang="en-US" sz="1100" b="1" spc="300" kern="0" dirty="0">
                <a:solidFill>
                  <a:srgbClr val="5E7268"/>
                </a:solidFill>
                <a:latin typeface="Calibri" pitchFamily="34" charset="0"/>
                <a:ea typeface="Calibri" pitchFamily="34" charset="-122"/>
                <a:cs typeface="Calibri" pitchFamily="34" charset="-120"/>
              </a:rPr>
              <a:t>THE JOURNEY · PHASE 3 · THEN</a:t>
            </a:r>
            <a:endParaRPr lang="en-US" sz="1100" dirty="0"/>
          </a:p>
        </p:txBody>
      </p:sp>
      <p:sp>
        <p:nvSpPr>
          <p:cNvPr id="3" name="Shape 1"/>
          <p:cNvSpPr/>
          <p:nvPr/>
        </p:nvSpPr>
        <p:spPr>
          <a:xfrm>
            <a:off x="685800" y="868680"/>
            <a:ext cx="914400" cy="914400"/>
          </a:xfrm>
          <a:prstGeom prst="ellipse">
            <a:avLst/>
          </a:prstGeom>
          <a:solidFill>
            <a:srgbClr val="42574E"/>
          </a:solidFill>
          <a:ln/>
        </p:spPr>
      </p:sp>
      <p:sp>
        <p:nvSpPr>
          <p:cNvPr id="4" name="Text 2"/>
          <p:cNvSpPr/>
          <p:nvPr/>
        </p:nvSpPr>
        <p:spPr>
          <a:xfrm>
            <a:off x="685800" y="86868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3</a:t>
            </a:r>
            <a:endParaRPr lang="en-US" sz="3200" dirty="0"/>
          </a:p>
        </p:txBody>
      </p:sp>
      <p:sp>
        <p:nvSpPr>
          <p:cNvPr id="5" name="Text 3"/>
          <p:cNvSpPr/>
          <p:nvPr/>
        </p:nvSpPr>
        <p:spPr>
          <a:xfrm>
            <a:off x="1828800" y="914400"/>
            <a:ext cx="8778240" cy="1005840"/>
          </a:xfrm>
          <a:prstGeom prst="rect">
            <a:avLst/>
          </a:prstGeom>
          <a:noFill/>
          <a:ln/>
        </p:spPr>
        <p:txBody>
          <a:bodyPr wrap="square" lIns="0" tIns="0" rIns="0" bIns="0" rtlCol="0" anchor="ctr"/>
          <a:lstStyle/>
          <a:p>
            <a:pPr indent="0" marL="0">
              <a:lnSpc>
                <a:spcPct val="98000"/>
              </a:lnSpc>
              <a:buNone/>
            </a:pPr>
            <a:r>
              <a:rPr lang="en-US" sz="2700" b="1" dirty="0">
                <a:solidFill>
                  <a:srgbClr val="1B2623"/>
                </a:solidFill>
                <a:latin typeface="Cambria" pitchFamily="34" charset="0"/>
                <a:ea typeface="Cambria" pitchFamily="34" charset="-122"/>
                <a:cs typeface="Cambria" pitchFamily="34" charset="-120"/>
              </a:rPr>
              <a:t>Expert Marketplace + Portable Worker Record</a:t>
            </a:r>
            <a:endParaRPr lang="en-US" sz="2700" dirty="0"/>
          </a:p>
        </p:txBody>
      </p:sp>
      <p:sp>
        <p:nvSpPr>
          <p:cNvPr id="6" name="Shape 4"/>
          <p:cNvSpPr/>
          <p:nvPr/>
        </p:nvSpPr>
        <p:spPr>
          <a:xfrm>
            <a:off x="685800" y="1874520"/>
            <a:ext cx="10835640" cy="457200"/>
          </a:xfrm>
          <a:prstGeom prst="roundRect">
            <a:avLst>
              <a:gd name="adj" fmla="val 20000"/>
            </a:avLst>
          </a:prstGeom>
          <a:solidFill>
            <a:srgbClr val="EAF0EC"/>
          </a:solidFill>
          <a:ln/>
        </p:spPr>
      </p:sp>
      <p:sp>
        <p:nvSpPr>
          <p:cNvPr id="7" name="Text 5"/>
          <p:cNvSpPr/>
          <p:nvPr/>
        </p:nvSpPr>
        <p:spPr>
          <a:xfrm>
            <a:off x="1005840" y="1874520"/>
            <a:ext cx="10241280" cy="457200"/>
          </a:xfrm>
          <a:prstGeom prst="rect">
            <a:avLst/>
          </a:prstGeom>
          <a:noFill/>
          <a:ln/>
        </p:spPr>
        <p:txBody>
          <a:bodyPr wrap="square" lIns="0" tIns="0" rIns="0" bIns="0" rtlCol="0" anchor="ctr"/>
          <a:lstStyle/>
          <a:p>
            <a:pPr indent="0" marL="0">
              <a:buNone/>
            </a:pPr>
            <a:r>
              <a:rPr lang="en-US" sz="1250" b="1" spc="200" kern="0" dirty="0">
                <a:solidFill>
                  <a:srgbClr val="42574E"/>
                </a:solidFill>
                <a:latin typeface="Calibri" pitchFamily="34" charset="0"/>
                <a:ea typeface="Calibri" pitchFamily="34" charset="-122"/>
                <a:cs typeface="Calibri" pitchFamily="34" charset="-120"/>
              </a:rPr>
              <a:t>PRICE   </a:t>
            </a:r>
            <a:pPr indent="0" marL="0">
              <a:buNone/>
            </a:pPr>
            <a:r>
              <a:rPr lang="en-US" sz="1250" b="1" dirty="0">
                <a:solidFill>
                  <a:srgbClr val="1B2623"/>
                </a:solidFill>
                <a:latin typeface="Calibri" pitchFamily="34" charset="0"/>
                <a:ea typeface="Calibri" pitchFamily="34" charset="-122"/>
                <a:cs typeface="Calibri" pitchFamily="34" charset="-120"/>
              </a:rPr>
              <a:t>Subscription + ~15% facilitation fee  ·  counsel-gated</a:t>
            </a:r>
            <a:endParaRPr lang="en-US" sz="1250" dirty="0"/>
          </a:p>
        </p:txBody>
      </p:sp>
      <p:sp>
        <p:nvSpPr>
          <p:cNvPr id="8" name="Shape 6"/>
          <p:cNvSpPr/>
          <p:nvPr/>
        </p:nvSpPr>
        <p:spPr>
          <a:xfrm>
            <a:off x="685800" y="2514600"/>
            <a:ext cx="5394960" cy="2487168"/>
          </a:xfrm>
          <a:prstGeom prst="roundRect">
            <a:avLst>
              <a:gd name="adj" fmla="val 4412"/>
            </a:avLst>
          </a:prstGeom>
          <a:solidFill>
            <a:srgbClr val="FBFBFA"/>
          </a:solidFill>
          <a:ln w="12700">
            <a:solidFill>
              <a:srgbClr val="D8E0DA"/>
            </a:solidFill>
            <a:prstDash val="solid"/>
          </a:ln>
        </p:spPr>
      </p:sp>
      <p:sp>
        <p:nvSpPr>
          <p:cNvPr id="9" name="Text 7"/>
          <p:cNvSpPr/>
          <p:nvPr/>
        </p:nvSpPr>
        <p:spPr>
          <a:xfrm>
            <a:off x="1005840" y="2697480"/>
            <a:ext cx="4572000" cy="274320"/>
          </a:xfrm>
          <a:prstGeom prst="rect">
            <a:avLst/>
          </a:prstGeom>
          <a:noFill/>
          <a:ln/>
        </p:spPr>
        <p:txBody>
          <a:bodyPr wrap="square" lIns="0" tIns="0" rIns="0" bIns="0" rtlCol="0" anchor="ctr"/>
          <a:lstStyle/>
          <a:p>
            <a:pPr indent="0" marL="0">
              <a:buNone/>
            </a:pPr>
            <a:r>
              <a:rPr lang="en-US" sz="1050" b="1" spc="200" kern="0" dirty="0">
                <a:solidFill>
                  <a:srgbClr val="42574E"/>
                </a:solidFill>
                <a:latin typeface="Calibri" pitchFamily="34" charset="0"/>
                <a:ea typeface="Calibri" pitchFamily="34" charset="-122"/>
                <a:cs typeface="Calibri" pitchFamily="34" charset="-120"/>
              </a:rPr>
              <a:t>WHAT IT DOES</a:t>
            </a:r>
            <a:endParaRPr lang="en-US" sz="1050" dirty="0"/>
          </a:p>
        </p:txBody>
      </p:sp>
      <p:sp>
        <p:nvSpPr>
          <p:cNvPr id="10" name="Text 8"/>
          <p:cNvSpPr/>
          <p:nvPr/>
        </p:nvSpPr>
        <p:spPr>
          <a:xfrm>
            <a:off x="1005840" y="3063240"/>
            <a:ext cx="4800600" cy="1874520"/>
          </a:xfrm>
          <a:prstGeom prst="rect">
            <a:avLst/>
          </a:prstGeom>
          <a:noFill/>
          <a:ln/>
        </p:spPr>
        <p:txBody>
          <a:bodyPr wrap="square" lIns="0" tIns="0" rIns="0" bIns="0" rtlCol="0" anchor="ctr"/>
          <a:lstStyle/>
          <a:p>
            <a:pPr marL="152400" indent="-152400">
              <a:spcAft>
                <a:spcPts val="700"/>
              </a:spcAft>
              <a:buSzPct val="100000"/>
              <a:buChar char="•"/>
            </a:pPr>
            <a:r>
              <a:rPr lang="en-US" sz="1100" dirty="0">
                <a:solidFill>
                  <a:srgbClr val="20242A"/>
                </a:solidFill>
                <a:latin typeface="Calibri" pitchFamily="34" charset="0"/>
                <a:ea typeface="Calibri" pitchFamily="34" charset="-122"/>
                <a:cs typeface="Calibri" pitchFamily="34" charset="-120"/>
              </a:rPr>
              <a:t>Expert Marketplace: connect firms to vetted experts; fee on the expert engagement — never the legal fee.</a:t>
            </a:r>
            <a:endParaRPr lang="en-US" sz="1100" dirty="0"/>
          </a:p>
          <a:p>
            <a:pPr marL="152400" indent="-152400">
              <a:spcAft>
                <a:spcPts val="700"/>
              </a:spcAft>
              <a:buSzPct val="100000"/>
              <a:buChar char="•"/>
            </a:pPr>
            <a:r>
              <a:rPr lang="en-US" sz="1100" dirty="0">
                <a:solidFill>
                  <a:srgbClr val="20242A"/>
                </a:solidFill>
                <a:latin typeface="Calibri" pitchFamily="34" charset="0"/>
                <a:ea typeface="Calibri" pitchFamily="34" charset="-122"/>
                <a:cs typeface="Calibri" pitchFamily="34" charset="-120"/>
              </a:rPr>
              <a:t>Digital Case Storage: a firm-side permanent case file.</a:t>
            </a:r>
            <a:endParaRPr lang="en-US" sz="1100" dirty="0"/>
          </a:p>
          <a:p>
            <a:pPr marL="152400" indent="-152400">
              <a:spcAft>
                <a:spcPts val="700"/>
              </a:spcAft>
              <a:buSzPct val="100000"/>
              <a:buChar char="•"/>
            </a:pPr>
            <a:r>
              <a:rPr lang="en-US" sz="1100" dirty="0">
                <a:solidFill>
                  <a:srgbClr val="20242A"/>
                </a:solidFill>
                <a:latin typeface="Calibri" pitchFamily="34" charset="0"/>
                <a:ea typeface="Calibri" pitchFamily="34" charset="-122"/>
                <a:cs typeface="Calibri" pitchFamily="34" charset="-120"/>
              </a:rPr>
              <a:t>Portable Worker Record: a worker-owned record the worker carries and shares across firms.</a:t>
            </a:r>
            <a:endParaRPr lang="en-US" sz="1100" dirty="0"/>
          </a:p>
          <a:p>
            <a:pPr marL="152400" indent="-152400">
              <a:spcAft>
                <a:spcPts val="700"/>
              </a:spcAft>
              <a:buSzPct val="100000"/>
              <a:buChar char="•"/>
            </a:pPr>
            <a:r>
              <a:rPr lang="en-US" sz="1100" dirty="0">
                <a:solidFill>
                  <a:srgbClr val="20242A"/>
                </a:solidFill>
                <a:latin typeface="Calibri" pitchFamily="34" charset="0"/>
                <a:ea typeface="Calibri" pitchFamily="34" charset="-122"/>
                <a:cs typeface="Calibri" pitchFamily="34" charset="-120"/>
              </a:rPr>
              <a:t>The worker’s organized record becomes an asset they own.</a:t>
            </a:r>
            <a:endParaRPr lang="en-US" sz="1100" dirty="0"/>
          </a:p>
        </p:txBody>
      </p:sp>
      <p:sp>
        <p:nvSpPr>
          <p:cNvPr id="11" name="Shape 9"/>
          <p:cNvSpPr/>
          <p:nvPr/>
        </p:nvSpPr>
        <p:spPr>
          <a:xfrm>
            <a:off x="6309360" y="2514600"/>
            <a:ext cx="5212080" cy="2487168"/>
          </a:xfrm>
          <a:prstGeom prst="roundRect">
            <a:avLst>
              <a:gd name="adj" fmla="val 4412"/>
            </a:avLst>
          </a:prstGeom>
          <a:solidFill>
            <a:srgbClr val="42574E"/>
          </a:solidFill>
          <a:ln/>
        </p:spPr>
      </p:sp>
      <p:sp>
        <p:nvSpPr>
          <p:cNvPr id="12" name="Text 10"/>
          <p:cNvSpPr/>
          <p:nvPr/>
        </p:nvSpPr>
        <p:spPr>
          <a:xfrm>
            <a:off x="6629400" y="2697480"/>
            <a:ext cx="4572000" cy="274320"/>
          </a:xfrm>
          <a:prstGeom prst="rect">
            <a:avLst/>
          </a:prstGeom>
          <a:noFill/>
          <a:ln/>
        </p:spPr>
        <p:txBody>
          <a:bodyPr wrap="square" lIns="0" tIns="0" rIns="0" bIns="0" rtlCol="0" anchor="ctr"/>
          <a:lstStyle/>
          <a:p>
            <a:pPr indent="0" marL="0">
              <a:buNone/>
            </a:pPr>
            <a:r>
              <a:rPr lang="en-US" sz="1050" b="1" spc="200" kern="0" dirty="0">
                <a:solidFill>
                  <a:srgbClr val="95AB9B"/>
                </a:solidFill>
                <a:latin typeface="Calibri" pitchFamily="34" charset="0"/>
                <a:ea typeface="Calibri" pitchFamily="34" charset="-122"/>
                <a:cs typeface="Calibri" pitchFamily="34" charset="-120"/>
              </a:rPr>
              <a:t>WHY THIS, WHY NOW</a:t>
            </a:r>
            <a:endParaRPr lang="en-US" sz="1050" dirty="0"/>
          </a:p>
        </p:txBody>
      </p:sp>
      <p:sp>
        <p:nvSpPr>
          <p:cNvPr id="13" name="Text 11"/>
          <p:cNvSpPr/>
          <p:nvPr/>
        </p:nvSpPr>
        <p:spPr>
          <a:xfrm>
            <a:off x="6629400" y="3063240"/>
            <a:ext cx="4617720" cy="1828800"/>
          </a:xfrm>
          <a:prstGeom prst="rect">
            <a:avLst/>
          </a:prstGeom>
          <a:noFill/>
          <a:ln/>
        </p:spPr>
        <p:txBody>
          <a:bodyPr wrap="square" lIns="0" tIns="0" rIns="0" bIns="0" rtlCol="0" anchor="t"/>
          <a:lstStyle/>
          <a:p>
            <a:pPr indent="0" marL="0">
              <a:lnSpc>
                <a:spcPct val="103000"/>
              </a:lnSpc>
              <a:buNone/>
            </a:pPr>
            <a:r>
              <a:rPr lang="en-US" sz="1250" dirty="0">
                <a:solidFill>
                  <a:srgbClr val="EAF0EC"/>
                </a:solidFill>
                <a:latin typeface="Calibri" pitchFamily="34" charset="0"/>
                <a:ea typeface="Calibri" pitchFamily="34" charset="-122"/>
                <a:cs typeface="Calibri" pitchFamily="34" charset="-120"/>
              </a:rPr>
              <a:t>The portable record turns a worker’s file into a movable, owned asset — deepening the moat and setting up the Phase 5 valuation re-rating (from tool to network). The marketplace adds a clean transaction revenue line.</a:t>
            </a:r>
            <a:endParaRPr lang="en-US" sz="1250" dirty="0"/>
          </a:p>
        </p:txBody>
      </p:sp>
      <p:sp>
        <p:nvSpPr>
          <p:cNvPr id="14" name="Shape 12"/>
          <p:cNvSpPr/>
          <p:nvPr/>
        </p:nvSpPr>
        <p:spPr>
          <a:xfrm>
            <a:off x="685800" y="5138928"/>
            <a:ext cx="10835640" cy="1097280"/>
          </a:xfrm>
          <a:prstGeom prst="roundRect">
            <a:avLst>
              <a:gd name="adj" fmla="val 10000"/>
            </a:avLst>
          </a:prstGeom>
          <a:solidFill>
            <a:srgbClr val="F3E9CE"/>
          </a:solidFill>
          <a:ln w="12700">
            <a:solidFill>
              <a:srgbClr val="C9A24B"/>
            </a:solidFill>
            <a:prstDash val="solid"/>
          </a:ln>
        </p:spPr>
      </p:sp>
      <p:sp>
        <p:nvSpPr>
          <p:cNvPr id="15" name="Shape 13"/>
          <p:cNvSpPr/>
          <p:nvPr/>
        </p:nvSpPr>
        <p:spPr>
          <a:xfrm>
            <a:off x="960120" y="5440680"/>
            <a:ext cx="502920" cy="502920"/>
          </a:xfrm>
          <a:prstGeom prst="ellipse">
            <a:avLst/>
          </a:prstGeom>
          <a:solidFill>
            <a:srgbClr val="C9A24B"/>
          </a:solidFill>
          <a:ln/>
        </p:spPr>
      </p:sp>
      <p:sp>
        <p:nvSpPr>
          <p:cNvPr id="16" name="Text 14"/>
          <p:cNvSpPr/>
          <p:nvPr/>
        </p:nvSpPr>
        <p:spPr>
          <a:xfrm>
            <a:off x="960120" y="5440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1645920" y="5285232"/>
            <a:ext cx="9601200" cy="274320"/>
          </a:xfrm>
          <a:prstGeom prst="rect">
            <a:avLst/>
          </a:prstGeom>
          <a:noFill/>
          <a:ln/>
        </p:spPr>
        <p:txBody>
          <a:bodyPr wrap="square" lIns="0" tIns="0" rIns="0" bIns="0" rtlCol="0" anchor="ctr"/>
          <a:lstStyle/>
          <a:p>
            <a:pPr indent="0" marL="0">
              <a:buNone/>
            </a:pPr>
            <a:r>
              <a:rPr lang="en-US" sz="1050" b="1" spc="200" kern="0" dirty="0">
                <a:solidFill>
                  <a:srgbClr val="9A772A"/>
                </a:solidFill>
                <a:latin typeface="Calibri" pitchFamily="34" charset="0"/>
                <a:ea typeface="Calibri" pitchFamily="34" charset="-122"/>
                <a:cs typeface="Calibri" pitchFamily="34" charset="-120"/>
              </a:rPr>
              <a:t>GATE TO OPEN THIS PHASE — proposed</a:t>
            </a:r>
            <a:endParaRPr lang="en-US" sz="1050" dirty="0"/>
          </a:p>
        </p:txBody>
      </p:sp>
      <p:sp>
        <p:nvSpPr>
          <p:cNvPr id="18" name="Text 16"/>
          <p:cNvSpPr/>
          <p:nvPr/>
        </p:nvSpPr>
        <p:spPr>
          <a:xfrm>
            <a:off x="1645920" y="5559552"/>
            <a:ext cx="9692640" cy="594360"/>
          </a:xfrm>
          <a:prstGeom prst="rect">
            <a:avLst/>
          </a:prstGeom>
          <a:noFill/>
          <a:ln/>
        </p:spPr>
        <p:txBody>
          <a:bodyPr wrap="square" lIns="0" tIns="0" rIns="0" bIns="0" rtlCol="0" anchor="t"/>
          <a:lstStyle/>
          <a:p>
            <a:pPr indent="0" marL="0">
              <a:lnSpc>
                <a:spcPct val="100000"/>
              </a:lnSpc>
              <a:buNone/>
            </a:pPr>
            <a:r>
              <a:rPr lang="en-US" sz="1200" dirty="0">
                <a:solidFill>
                  <a:srgbClr val="20242A"/>
                </a:solidFill>
                <a:latin typeface="Calibri" pitchFamily="34" charset="0"/>
                <a:ea typeface="Calibri" pitchFamily="34" charset="-122"/>
                <a:cs typeface="Calibri" pitchFamily="34" charset="-120"/>
              </a:rPr>
              <a:t>Teleprompt live across multiple firms + logged demand for cross-firm portability + counsel review of the marketplace fee scheduled. Stays dark until counsel signs off.</a:t>
            </a:r>
            <a:endParaRPr lang="en-US" sz="1200" dirty="0"/>
          </a:p>
        </p:txBody>
      </p:sp>
      <p:sp>
        <p:nvSpPr>
          <p:cNvPr id="19" name="Text 17"/>
          <p:cNvSpPr/>
          <p:nvPr/>
        </p:nvSpPr>
        <p:spPr>
          <a:xfrm>
            <a:off x="685800" y="6473952"/>
            <a:ext cx="8229600" cy="274320"/>
          </a:xfrm>
          <a:prstGeom prst="rect">
            <a:avLst/>
          </a:prstGeom>
          <a:noFill/>
          <a:ln/>
        </p:spPr>
        <p:txBody>
          <a:bodyPr wrap="square" lIns="0" tIns="0" rIns="0" bIns="0" rtlCol="0" anchor="ctr"/>
          <a:lstStyle/>
          <a:p>
            <a:pPr indent="0" marL="0">
              <a:buNone/>
            </a:pPr>
            <a:r>
              <a:rPr lang="en-US" sz="900" dirty="0">
                <a:solidFill>
                  <a:srgbClr val="6A6D66"/>
                </a:solidFill>
                <a:latin typeface="Calibri" pitchFamily="34" charset="0"/>
                <a:ea typeface="Calibri" pitchFamily="34" charset="-122"/>
                <a:cs typeface="Calibri" pitchFamily="34" charset="-120"/>
              </a:rPr>
              <a:t>one3seven  ·  The journey ahead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3EF"/>
        </a:solidFill>
      </p:bgPr>
    </p:bg>
    <p:spTree>
      <p:nvGrpSpPr>
        <p:cNvPr id="1" name=""/>
        <p:cNvGrpSpPr/>
        <p:nvPr/>
      </p:nvGrpSpPr>
      <p:grpSpPr>
        <a:xfrm>
          <a:off x="0" y="0"/>
          <a:ext cx="0" cy="0"/>
          <a:chOff x="0" y="0"/>
          <a:chExt cx="0" cy="0"/>
        </a:xfrm>
      </p:grpSpPr>
      <p:sp>
        <p:nvSpPr>
          <p:cNvPr id="2" name="Text 0"/>
          <p:cNvSpPr/>
          <p:nvPr/>
        </p:nvSpPr>
        <p:spPr>
          <a:xfrm>
            <a:off x="685800" y="502920"/>
            <a:ext cx="10972800" cy="274320"/>
          </a:xfrm>
          <a:prstGeom prst="rect">
            <a:avLst/>
          </a:prstGeom>
          <a:noFill/>
          <a:ln/>
        </p:spPr>
        <p:txBody>
          <a:bodyPr wrap="square" lIns="0" tIns="0" rIns="0" bIns="0" rtlCol="0" anchor="ctr"/>
          <a:lstStyle/>
          <a:p>
            <a:pPr indent="0" marL="0">
              <a:buNone/>
            </a:pPr>
            <a:r>
              <a:rPr lang="en-US" sz="1100" b="1" spc="300" kern="0" dirty="0">
                <a:solidFill>
                  <a:srgbClr val="5E7268"/>
                </a:solidFill>
                <a:latin typeface="Calibri" pitchFamily="34" charset="0"/>
                <a:ea typeface="Calibri" pitchFamily="34" charset="-122"/>
                <a:cs typeface="Calibri" pitchFamily="34" charset="-120"/>
              </a:rPr>
              <a:t>THE JOURNEY · PHASE 4 · LATER</a:t>
            </a:r>
            <a:endParaRPr lang="en-US" sz="1100" dirty="0"/>
          </a:p>
        </p:txBody>
      </p:sp>
      <p:sp>
        <p:nvSpPr>
          <p:cNvPr id="3" name="Shape 1"/>
          <p:cNvSpPr/>
          <p:nvPr/>
        </p:nvSpPr>
        <p:spPr>
          <a:xfrm>
            <a:off x="685800" y="868680"/>
            <a:ext cx="914400" cy="914400"/>
          </a:xfrm>
          <a:prstGeom prst="ellipse">
            <a:avLst/>
          </a:prstGeom>
          <a:solidFill>
            <a:srgbClr val="42574E"/>
          </a:solidFill>
          <a:ln/>
        </p:spPr>
      </p:sp>
      <p:sp>
        <p:nvSpPr>
          <p:cNvPr id="4" name="Text 2"/>
          <p:cNvSpPr/>
          <p:nvPr/>
        </p:nvSpPr>
        <p:spPr>
          <a:xfrm>
            <a:off x="685800" y="86868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4</a:t>
            </a:r>
            <a:endParaRPr lang="en-US" sz="3200" dirty="0"/>
          </a:p>
        </p:txBody>
      </p:sp>
      <p:sp>
        <p:nvSpPr>
          <p:cNvPr id="5" name="Text 3"/>
          <p:cNvSpPr/>
          <p:nvPr/>
        </p:nvSpPr>
        <p:spPr>
          <a:xfrm>
            <a:off x="1828800" y="914400"/>
            <a:ext cx="8778240" cy="1005840"/>
          </a:xfrm>
          <a:prstGeom prst="rect">
            <a:avLst/>
          </a:prstGeom>
          <a:noFill/>
          <a:ln/>
        </p:spPr>
        <p:txBody>
          <a:bodyPr wrap="square" lIns="0" tIns="0" rIns="0" bIns="0" rtlCol="0" anchor="ctr"/>
          <a:lstStyle/>
          <a:p>
            <a:pPr indent="0" marL="0">
              <a:lnSpc>
                <a:spcPct val="98000"/>
              </a:lnSpc>
              <a:buNone/>
            </a:pPr>
            <a:r>
              <a:rPr lang="en-US" sz="2700" b="1" dirty="0">
                <a:solidFill>
                  <a:srgbClr val="1B2623"/>
                </a:solidFill>
                <a:latin typeface="Cambria" pitchFamily="34" charset="0"/>
                <a:ea typeface="Cambria" pitchFamily="34" charset="-122"/>
                <a:cs typeface="Cambria" pitchFamily="34" charset="-120"/>
              </a:rPr>
              <a:t>Funding Facilitation</a:t>
            </a:r>
            <a:endParaRPr lang="en-US" sz="2700" dirty="0"/>
          </a:p>
        </p:txBody>
      </p:sp>
      <p:sp>
        <p:nvSpPr>
          <p:cNvPr id="6" name="Shape 4"/>
          <p:cNvSpPr/>
          <p:nvPr/>
        </p:nvSpPr>
        <p:spPr>
          <a:xfrm>
            <a:off x="685800" y="1874520"/>
            <a:ext cx="10835640" cy="457200"/>
          </a:xfrm>
          <a:prstGeom prst="roundRect">
            <a:avLst>
              <a:gd name="adj" fmla="val 20000"/>
            </a:avLst>
          </a:prstGeom>
          <a:solidFill>
            <a:srgbClr val="EAF0EC"/>
          </a:solidFill>
          <a:ln/>
        </p:spPr>
      </p:sp>
      <p:sp>
        <p:nvSpPr>
          <p:cNvPr id="7" name="Text 5"/>
          <p:cNvSpPr/>
          <p:nvPr/>
        </p:nvSpPr>
        <p:spPr>
          <a:xfrm>
            <a:off x="1005840" y="1874520"/>
            <a:ext cx="10241280" cy="457200"/>
          </a:xfrm>
          <a:prstGeom prst="rect">
            <a:avLst/>
          </a:prstGeom>
          <a:noFill/>
          <a:ln/>
        </p:spPr>
        <p:txBody>
          <a:bodyPr wrap="square" lIns="0" tIns="0" rIns="0" bIns="0" rtlCol="0" anchor="ctr"/>
          <a:lstStyle/>
          <a:p>
            <a:pPr indent="0" marL="0">
              <a:buNone/>
            </a:pPr>
            <a:r>
              <a:rPr lang="en-US" sz="1250" b="1" spc="200" kern="0" dirty="0">
                <a:solidFill>
                  <a:srgbClr val="42574E"/>
                </a:solidFill>
                <a:latin typeface="Calibri" pitchFamily="34" charset="0"/>
                <a:ea typeface="Calibri" pitchFamily="34" charset="-122"/>
                <a:cs typeface="Calibri" pitchFamily="34" charset="-120"/>
              </a:rPr>
              <a:t>PRICE   </a:t>
            </a:r>
            <a:pPr indent="0" marL="0">
              <a:buNone/>
            </a:pPr>
            <a:r>
              <a:rPr lang="en-US" sz="1250" b="1" dirty="0">
                <a:solidFill>
                  <a:srgbClr val="1B2623"/>
                </a:solidFill>
                <a:latin typeface="Calibri" pitchFamily="34" charset="0"/>
                <a:ea typeface="Calibri" pitchFamily="34" charset="-122"/>
                <a:cs typeface="Calibri" pitchFamily="34" charset="-120"/>
              </a:rPr>
              <a:t>Subscription + ~1–2% referral fee  ·  regulation-gated</a:t>
            </a:r>
            <a:endParaRPr lang="en-US" sz="1250" dirty="0"/>
          </a:p>
        </p:txBody>
      </p:sp>
      <p:sp>
        <p:nvSpPr>
          <p:cNvPr id="8" name="Shape 6"/>
          <p:cNvSpPr/>
          <p:nvPr/>
        </p:nvSpPr>
        <p:spPr>
          <a:xfrm>
            <a:off x="685800" y="2514600"/>
            <a:ext cx="5394960" cy="2487168"/>
          </a:xfrm>
          <a:prstGeom prst="roundRect">
            <a:avLst>
              <a:gd name="adj" fmla="val 4412"/>
            </a:avLst>
          </a:prstGeom>
          <a:solidFill>
            <a:srgbClr val="FBFBFA"/>
          </a:solidFill>
          <a:ln w="12700">
            <a:solidFill>
              <a:srgbClr val="D8E0DA"/>
            </a:solidFill>
            <a:prstDash val="solid"/>
          </a:ln>
        </p:spPr>
      </p:sp>
      <p:sp>
        <p:nvSpPr>
          <p:cNvPr id="9" name="Text 7"/>
          <p:cNvSpPr/>
          <p:nvPr/>
        </p:nvSpPr>
        <p:spPr>
          <a:xfrm>
            <a:off x="1005840" y="2697480"/>
            <a:ext cx="4572000" cy="274320"/>
          </a:xfrm>
          <a:prstGeom prst="rect">
            <a:avLst/>
          </a:prstGeom>
          <a:noFill/>
          <a:ln/>
        </p:spPr>
        <p:txBody>
          <a:bodyPr wrap="square" lIns="0" tIns="0" rIns="0" bIns="0" rtlCol="0" anchor="ctr"/>
          <a:lstStyle/>
          <a:p>
            <a:pPr indent="0" marL="0">
              <a:buNone/>
            </a:pPr>
            <a:r>
              <a:rPr lang="en-US" sz="1050" b="1" spc="200" kern="0" dirty="0">
                <a:solidFill>
                  <a:srgbClr val="42574E"/>
                </a:solidFill>
                <a:latin typeface="Calibri" pitchFamily="34" charset="0"/>
                <a:ea typeface="Calibri" pitchFamily="34" charset="-122"/>
                <a:cs typeface="Calibri" pitchFamily="34" charset="-120"/>
              </a:rPr>
              <a:t>WHAT IT DOES</a:t>
            </a:r>
            <a:endParaRPr lang="en-US" sz="1050" dirty="0"/>
          </a:p>
        </p:txBody>
      </p:sp>
      <p:sp>
        <p:nvSpPr>
          <p:cNvPr id="10" name="Text 8"/>
          <p:cNvSpPr/>
          <p:nvPr/>
        </p:nvSpPr>
        <p:spPr>
          <a:xfrm>
            <a:off x="1005840" y="3063240"/>
            <a:ext cx="4800600" cy="1874520"/>
          </a:xfrm>
          <a:prstGeom prst="rect">
            <a:avLst/>
          </a:prstGeom>
          <a:noFill/>
          <a:ln/>
        </p:spPr>
        <p:txBody>
          <a:bodyPr wrap="square" lIns="0" tIns="0" rIns="0" bIns="0" rtlCol="0" anchor="ctr"/>
          <a:lstStyle/>
          <a:p>
            <a:pPr marL="152400" indent="-152400">
              <a:spcAft>
                <a:spcPts val="700"/>
              </a:spcAft>
              <a:buSzPct val="100000"/>
              <a:buChar char="•"/>
            </a:pPr>
            <a:r>
              <a:rPr lang="en-US" sz="1100" dirty="0">
                <a:solidFill>
                  <a:srgbClr val="20242A"/>
                </a:solidFill>
                <a:latin typeface="Calibri" pitchFamily="34" charset="0"/>
                <a:ea typeface="Calibri" pitchFamily="34" charset="-122"/>
                <a:cs typeface="Calibri" pitchFamily="34" charset="-120"/>
              </a:rPr>
              <a:t>Introduce firms and workers to litigation-finance partners.</a:t>
            </a:r>
            <a:endParaRPr lang="en-US" sz="1100" dirty="0"/>
          </a:p>
          <a:p>
            <a:pPr marL="152400" indent="-152400">
              <a:spcAft>
                <a:spcPts val="700"/>
              </a:spcAft>
              <a:buSzPct val="100000"/>
              <a:buChar char="•"/>
            </a:pPr>
            <a:r>
              <a:rPr lang="en-US" sz="1100" dirty="0">
                <a:solidFill>
                  <a:srgbClr val="20242A"/>
                </a:solidFill>
                <a:latin typeface="Calibri" pitchFamily="34" charset="0"/>
                <a:ea typeface="Calibri" pitchFamily="34" charset="-122"/>
                <a:cs typeface="Calibri" pitchFamily="34" charset="-120"/>
              </a:rPr>
              <a:t>one3seven’s organized record makes a matter fundable.</a:t>
            </a:r>
            <a:endParaRPr lang="en-US" sz="1100" dirty="0"/>
          </a:p>
          <a:p>
            <a:pPr marL="152400" indent="-152400">
              <a:spcAft>
                <a:spcPts val="700"/>
              </a:spcAft>
              <a:buSzPct val="100000"/>
              <a:buChar char="•"/>
            </a:pPr>
            <a:r>
              <a:rPr lang="en-US" sz="1100" dirty="0">
                <a:solidFill>
                  <a:srgbClr val="20242A"/>
                </a:solidFill>
                <a:latin typeface="Calibri" pitchFamily="34" charset="0"/>
                <a:ea typeface="Calibri" pitchFamily="34" charset="-122"/>
                <a:cs typeface="Calibri" pitchFamily="34" charset="-120"/>
              </a:rPr>
              <a:t>one3seven is a referrer, never a lender — a facilitation fee, not interest.</a:t>
            </a:r>
            <a:endParaRPr lang="en-US" sz="1100" dirty="0"/>
          </a:p>
          <a:p>
            <a:pPr marL="152400" indent="-152400">
              <a:spcAft>
                <a:spcPts val="700"/>
              </a:spcAft>
              <a:buSzPct val="100000"/>
              <a:buChar char="•"/>
            </a:pPr>
            <a:r>
              <a:rPr lang="en-US" sz="1100" dirty="0">
                <a:solidFill>
                  <a:srgbClr val="20242A"/>
                </a:solidFill>
                <a:latin typeface="Calibri" pitchFamily="34" charset="0"/>
                <a:ea typeface="Calibri" pitchFamily="34" charset="-122"/>
                <a:cs typeface="Calibri" pitchFamily="34" charset="-120"/>
              </a:rPr>
              <a:t>No one3seven capital ever enters a case.</a:t>
            </a:r>
            <a:endParaRPr lang="en-US" sz="1100" dirty="0"/>
          </a:p>
        </p:txBody>
      </p:sp>
      <p:sp>
        <p:nvSpPr>
          <p:cNvPr id="11" name="Shape 9"/>
          <p:cNvSpPr/>
          <p:nvPr/>
        </p:nvSpPr>
        <p:spPr>
          <a:xfrm>
            <a:off x="6309360" y="2514600"/>
            <a:ext cx="5212080" cy="2487168"/>
          </a:xfrm>
          <a:prstGeom prst="roundRect">
            <a:avLst>
              <a:gd name="adj" fmla="val 4412"/>
            </a:avLst>
          </a:prstGeom>
          <a:solidFill>
            <a:srgbClr val="42574E"/>
          </a:solidFill>
          <a:ln/>
        </p:spPr>
      </p:sp>
      <p:sp>
        <p:nvSpPr>
          <p:cNvPr id="12" name="Text 10"/>
          <p:cNvSpPr/>
          <p:nvPr/>
        </p:nvSpPr>
        <p:spPr>
          <a:xfrm>
            <a:off x="6629400" y="2697480"/>
            <a:ext cx="4572000" cy="274320"/>
          </a:xfrm>
          <a:prstGeom prst="rect">
            <a:avLst/>
          </a:prstGeom>
          <a:noFill/>
          <a:ln/>
        </p:spPr>
        <p:txBody>
          <a:bodyPr wrap="square" lIns="0" tIns="0" rIns="0" bIns="0" rtlCol="0" anchor="ctr"/>
          <a:lstStyle/>
          <a:p>
            <a:pPr indent="0" marL="0">
              <a:buNone/>
            </a:pPr>
            <a:r>
              <a:rPr lang="en-US" sz="1050" b="1" spc="200" kern="0" dirty="0">
                <a:solidFill>
                  <a:srgbClr val="95AB9B"/>
                </a:solidFill>
                <a:latin typeface="Calibri" pitchFamily="34" charset="0"/>
                <a:ea typeface="Calibri" pitchFamily="34" charset="-122"/>
                <a:cs typeface="Calibri" pitchFamily="34" charset="-120"/>
              </a:rPr>
              <a:t>WHY THIS, WHY NOW</a:t>
            </a:r>
            <a:endParaRPr lang="en-US" sz="1050" dirty="0"/>
          </a:p>
        </p:txBody>
      </p:sp>
      <p:sp>
        <p:nvSpPr>
          <p:cNvPr id="13" name="Text 11"/>
          <p:cNvSpPr/>
          <p:nvPr/>
        </p:nvSpPr>
        <p:spPr>
          <a:xfrm>
            <a:off x="6629400" y="3063240"/>
            <a:ext cx="4617720" cy="1828800"/>
          </a:xfrm>
          <a:prstGeom prst="rect">
            <a:avLst/>
          </a:prstGeom>
          <a:noFill/>
          <a:ln/>
        </p:spPr>
        <p:txBody>
          <a:bodyPr wrap="square" lIns="0" tIns="0" rIns="0" bIns="0" rtlCol="0" anchor="t"/>
          <a:lstStyle/>
          <a:p>
            <a:pPr indent="0" marL="0">
              <a:lnSpc>
                <a:spcPct val="103000"/>
              </a:lnSpc>
              <a:buNone/>
            </a:pPr>
            <a:r>
              <a:rPr lang="en-US" sz="1250" dirty="0">
                <a:solidFill>
                  <a:srgbClr val="EAF0EC"/>
                </a:solidFill>
                <a:latin typeface="Calibri" pitchFamily="34" charset="0"/>
                <a:ea typeface="Calibri" pitchFamily="34" charset="-122"/>
                <a:cs typeface="Calibri" pitchFamily="34" charset="-120"/>
              </a:rPr>
              <a:t>Strong matters stall for lack of capital. The organized record de-risks funding, and one3seven earns a facilitation fee without ever touching lending regulation — because it never lends.</a:t>
            </a:r>
            <a:endParaRPr lang="en-US" sz="1250" dirty="0"/>
          </a:p>
        </p:txBody>
      </p:sp>
      <p:sp>
        <p:nvSpPr>
          <p:cNvPr id="14" name="Shape 12"/>
          <p:cNvSpPr/>
          <p:nvPr/>
        </p:nvSpPr>
        <p:spPr>
          <a:xfrm>
            <a:off x="685800" y="5138928"/>
            <a:ext cx="10835640" cy="1097280"/>
          </a:xfrm>
          <a:prstGeom prst="roundRect">
            <a:avLst>
              <a:gd name="adj" fmla="val 10000"/>
            </a:avLst>
          </a:prstGeom>
          <a:solidFill>
            <a:srgbClr val="F3E9CE"/>
          </a:solidFill>
          <a:ln w="12700">
            <a:solidFill>
              <a:srgbClr val="C9A24B"/>
            </a:solidFill>
            <a:prstDash val="solid"/>
          </a:ln>
        </p:spPr>
      </p:sp>
      <p:sp>
        <p:nvSpPr>
          <p:cNvPr id="15" name="Shape 13"/>
          <p:cNvSpPr/>
          <p:nvPr/>
        </p:nvSpPr>
        <p:spPr>
          <a:xfrm>
            <a:off x="960120" y="5440680"/>
            <a:ext cx="502920" cy="502920"/>
          </a:xfrm>
          <a:prstGeom prst="ellipse">
            <a:avLst/>
          </a:prstGeom>
          <a:solidFill>
            <a:srgbClr val="C9A24B"/>
          </a:solidFill>
          <a:ln/>
        </p:spPr>
      </p:sp>
      <p:sp>
        <p:nvSpPr>
          <p:cNvPr id="16" name="Text 14"/>
          <p:cNvSpPr/>
          <p:nvPr/>
        </p:nvSpPr>
        <p:spPr>
          <a:xfrm>
            <a:off x="960120" y="5440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1645920" y="5285232"/>
            <a:ext cx="9601200" cy="274320"/>
          </a:xfrm>
          <a:prstGeom prst="rect">
            <a:avLst/>
          </a:prstGeom>
          <a:noFill/>
          <a:ln/>
        </p:spPr>
        <p:txBody>
          <a:bodyPr wrap="square" lIns="0" tIns="0" rIns="0" bIns="0" rtlCol="0" anchor="ctr"/>
          <a:lstStyle/>
          <a:p>
            <a:pPr indent="0" marL="0">
              <a:buNone/>
            </a:pPr>
            <a:r>
              <a:rPr lang="en-US" sz="1050" b="1" spc="200" kern="0" dirty="0">
                <a:solidFill>
                  <a:srgbClr val="9A772A"/>
                </a:solidFill>
                <a:latin typeface="Calibri" pitchFamily="34" charset="0"/>
                <a:ea typeface="Calibri" pitchFamily="34" charset="-122"/>
                <a:cs typeface="Calibri" pitchFamily="34" charset="-120"/>
              </a:rPr>
              <a:t>GATE TO OPEN THIS PHASE — proposed</a:t>
            </a:r>
            <a:endParaRPr lang="en-US" sz="1050" dirty="0"/>
          </a:p>
        </p:txBody>
      </p:sp>
      <p:sp>
        <p:nvSpPr>
          <p:cNvPr id="18" name="Text 16"/>
          <p:cNvSpPr/>
          <p:nvPr/>
        </p:nvSpPr>
        <p:spPr>
          <a:xfrm>
            <a:off x="1645920" y="5559552"/>
            <a:ext cx="9692640" cy="594360"/>
          </a:xfrm>
          <a:prstGeom prst="rect">
            <a:avLst/>
          </a:prstGeom>
          <a:noFill/>
          <a:ln/>
        </p:spPr>
        <p:txBody>
          <a:bodyPr wrap="square" lIns="0" tIns="0" rIns="0" bIns="0" rtlCol="0" anchor="t"/>
          <a:lstStyle/>
          <a:p>
            <a:pPr indent="0" marL="0">
              <a:lnSpc>
                <a:spcPct val="100000"/>
              </a:lnSpc>
              <a:buNone/>
            </a:pPr>
            <a:r>
              <a:rPr lang="en-US" sz="1200" dirty="0">
                <a:solidFill>
                  <a:srgbClr val="20242A"/>
                </a:solidFill>
                <a:latin typeface="Calibri" pitchFamily="34" charset="0"/>
                <a:ea typeface="Calibri" pitchFamily="34" charset="-122"/>
                <a:cs typeface="Calibri" pitchFamily="34" charset="-120"/>
              </a:rPr>
              <a:t>Regulatory path cleared + a signed funding partner. This line stays completely dark until legal signs off on the structure.</a:t>
            </a:r>
            <a:endParaRPr lang="en-US" sz="1200" dirty="0"/>
          </a:p>
        </p:txBody>
      </p:sp>
      <p:sp>
        <p:nvSpPr>
          <p:cNvPr id="19" name="Text 17"/>
          <p:cNvSpPr/>
          <p:nvPr/>
        </p:nvSpPr>
        <p:spPr>
          <a:xfrm>
            <a:off x="685800" y="6473952"/>
            <a:ext cx="8229600" cy="274320"/>
          </a:xfrm>
          <a:prstGeom prst="rect">
            <a:avLst/>
          </a:prstGeom>
          <a:noFill/>
          <a:ln/>
        </p:spPr>
        <p:txBody>
          <a:bodyPr wrap="square" lIns="0" tIns="0" rIns="0" bIns="0" rtlCol="0" anchor="ctr"/>
          <a:lstStyle/>
          <a:p>
            <a:pPr indent="0" marL="0">
              <a:buNone/>
            </a:pPr>
            <a:r>
              <a:rPr lang="en-US" sz="900" dirty="0">
                <a:solidFill>
                  <a:srgbClr val="6A6D66"/>
                </a:solidFill>
                <a:latin typeface="Calibri" pitchFamily="34" charset="0"/>
                <a:ea typeface="Calibri" pitchFamily="34" charset="-122"/>
                <a:cs typeface="Calibri" pitchFamily="34" charset="-120"/>
              </a:rPr>
              <a:t>one3seven  ·  The journey ahead</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3EF"/>
        </a:solidFill>
      </p:bgPr>
    </p:bg>
    <p:spTree>
      <p:nvGrpSpPr>
        <p:cNvPr id="1" name=""/>
        <p:cNvGrpSpPr/>
        <p:nvPr/>
      </p:nvGrpSpPr>
      <p:grpSpPr>
        <a:xfrm>
          <a:off x="0" y="0"/>
          <a:ext cx="0" cy="0"/>
          <a:chOff x="0" y="0"/>
          <a:chExt cx="0" cy="0"/>
        </a:xfrm>
      </p:grpSpPr>
      <p:sp>
        <p:nvSpPr>
          <p:cNvPr id="2" name="Text 0"/>
          <p:cNvSpPr/>
          <p:nvPr/>
        </p:nvSpPr>
        <p:spPr>
          <a:xfrm>
            <a:off x="685800" y="502920"/>
            <a:ext cx="10972800" cy="274320"/>
          </a:xfrm>
          <a:prstGeom prst="rect">
            <a:avLst/>
          </a:prstGeom>
          <a:noFill/>
          <a:ln/>
        </p:spPr>
        <p:txBody>
          <a:bodyPr wrap="square" lIns="0" tIns="0" rIns="0" bIns="0" rtlCol="0" anchor="ctr"/>
          <a:lstStyle/>
          <a:p>
            <a:pPr indent="0" marL="0">
              <a:buNone/>
            </a:pPr>
            <a:r>
              <a:rPr lang="en-US" sz="1100" b="1" spc="300" kern="0" dirty="0">
                <a:solidFill>
                  <a:srgbClr val="5E7268"/>
                </a:solidFill>
                <a:latin typeface="Calibri" pitchFamily="34" charset="0"/>
                <a:ea typeface="Calibri" pitchFamily="34" charset="-122"/>
                <a:cs typeface="Calibri" pitchFamily="34" charset="-120"/>
              </a:rPr>
              <a:t>THE JOURNEY · PHASE 5 · HORIZON</a:t>
            </a:r>
            <a:endParaRPr lang="en-US" sz="1100" dirty="0"/>
          </a:p>
        </p:txBody>
      </p:sp>
      <p:sp>
        <p:nvSpPr>
          <p:cNvPr id="3" name="Shape 1"/>
          <p:cNvSpPr/>
          <p:nvPr/>
        </p:nvSpPr>
        <p:spPr>
          <a:xfrm>
            <a:off x="685800" y="868680"/>
            <a:ext cx="914400" cy="914400"/>
          </a:xfrm>
          <a:prstGeom prst="ellipse">
            <a:avLst/>
          </a:prstGeom>
          <a:solidFill>
            <a:srgbClr val="42574E"/>
          </a:solidFill>
          <a:ln/>
        </p:spPr>
      </p:sp>
      <p:sp>
        <p:nvSpPr>
          <p:cNvPr id="4" name="Text 2"/>
          <p:cNvSpPr/>
          <p:nvPr/>
        </p:nvSpPr>
        <p:spPr>
          <a:xfrm>
            <a:off x="685800" y="86868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5</a:t>
            </a:r>
            <a:endParaRPr lang="en-US" sz="3200" dirty="0"/>
          </a:p>
        </p:txBody>
      </p:sp>
      <p:sp>
        <p:nvSpPr>
          <p:cNvPr id="5" name="Text 3"/>
          <p:cNvSpPr/>
          <p:nvPr/>
        </p:nvSpPr>
        <p:spPr>
          <a:xfrm>
            <a:off x="1828800" y="914400"/>
            <a:ext cx="8778240" cy="1005840"/>
          </a:xfrm>
          <a:prstGeom prst="rect">
            <a:avLst/>
          </a:prstGeom>
          <a:noFill/>
          <a:ln/>
        </p:spPr>
        <p:txBody>
          <a:bodyPr wrap="square" lIns="0" tIns="0" rIns="0" bIns="0" rtlCol="0" anchor="ctr"/>
          <a:lstStyle/>
          <a:p>
            <a:pPr indent="0" marL="0">
              <a:lnSpc>
                <a:spcPct val="98000"/>
              </a:lnSpc>
              <a:buNone/>
            </a:pPr>
            <a:r>
              <a:rPr lang="en-US" sz="2700" b="1" dirty="0">
                <a:solidFill>
                  <a:srgbClr val="1B2623"/>
                </a:solidFill>
                <a:latin typeface="Cambria" pitchFamily="34" charset="0"/>
                <a:ea typeface="Cambria" pitchFamily="34" charset="-122"/>
                <a:cs typeface="Cambria" pitchFamily="34" charset="-120"/>
              </a:rPr>
              <a:t>Expansion — new verticals</a:t>
            </a:r>
            <a:endParaRPr lang="en-US" sz="2700" dirty="0"/>
          </a:p>
        </p:txBody>
      </p:sp>
      <p:sp>
        <p:nvSpPr>
          <p:cNvPr id="6" name="Shape 4"/>
          <p:cNvSpPr/>
          <p:nvPr/>
        </p:nvSpPr>
        <p:spPr>
          <a:xfrm>
            <a:off x="685800" y="1874520"/>
            <a:ext cx="10835640" cy="457200"/>
          </a:xfrm>
          <a:prstGeom prst="roundRect">
            <a:avLst>
              <a:gd name="adj" fmla="val 20000"/>
            </a:avLst>
          </a:prstGeom>
          <a:solidFill>
            <a:srgbClr val="EAF0EC"/>
          </a:solidFill>
          <a:ln/>
        </p:spPr>
      </p:sp>
      <p:sp>
        <p:nvSpPr>
          <p:cNvPr id="7" name="Text 5"/>
          <p:cNvSpPr/>
          <p:nvPr/>
        </p:nvSpPr>
        <p:spPr>
          <a:xfrm>
            <a:off x="1005840" y="1874520"/>
            <a:ext cx="10241280" cy="457200"/>
          </a:xfrm>
          <a:prstGeom prst="rect">
            <a:avLst/>
          </a:prstGeom>
          <a:noFill/>
          <a:ln/>
        </p:spPr>
        <p:txBody>
          <a:bodyPr wrap="square" lIns="0" tIns="0" rIns="0" bIns="0" rtlCol="0" anchor="ctr"/>
          <a:lstStyle/>
          <a:p>
            <a:pPr indent="0" marL="0">
              <a:buNone/>
            </a:pPr>
            <a:r>
              <a:rPr lang="en-US" sz="1250" b="1" spc="200" kern="0" dirty="0">
                <a:solidFill>
                  <a:srgbClr val="42574E"/>
                </a:solidFill>
                <a:latin typeface="Calibri" pitchFamily="34" charset="0"/>
                <a:ea typeface="Calibri" pitchFamily="34" charset="-122"/>
                <a:cs typeface="Calibri" pitchFamily="34" charset="-120"/>
              </a:rPr>
              <a:t>PRICE   </a:t>
            </a:r>
            <a:pPr indent="0" marL="0">
              <a:buNone/>
            </a:pPr>
            <a:r>
              <a:rPr lang="en-US" sz="1250" b="1" dirty="0">
                <a:solidFill>
                  <a:srgbClr val="1B2623"/>
                </a:solidFill>
                <a:latin typeface="Calibri" pitchFamily="34" charset="0"/>
                <a:ea typeface="Calibri" pitchFamily="34" charset="-122"/>
                <a:cs typeface="Calibri" pitchFamily="34" charset="-120"/>
              </a:rPr>
              <a:t>$249 / $549 / $1,490 tiers × each new vertical</a:t>
            </a:r>
            <a:endParaRPr lang="en-US" sz="1250" dirty="0"/>
          </a:p>
        </p:txBody>
      </p:sp>
      <p:sp>
        <p:nvSpPr>
          <p:cNvPr id="8" name="Shape 6"/>
          <p:cNvSpPr/>
          <p:nvPr/>
        </p:nvSpPr>
        <p:spPr>
          <a:xfrm>
            <a:off x="685800" y="2514600"/>
            <a:ext cx="5394960" cy="2487168"/>
          </a:xfrm>
          <a:prstGeom prst="roundRect">
            <a:avLst>
              <a:gd name="adj" fmla="val 4412"/>
            </a:avLst>
          </a:prstGeom>
          <a:solidFill>
            <a:srgbClr val="FBFBFA"/>
          </a:solidFill>
          <a:ln w="12700">
            <a:solidFill>
              <a:srgbClr val="D8E0DA"/>
            </a:solidFill>
            <a:prstDash val="solid"/>
          </a:ln>
        </p:spPr>
      </p:sp>
      <p:sp>
        <p:nvSpPr>
          <p:cNvPr id="9" name="Text 7"/>
          <p:cNvSpPr/>
          <p:nvPr/>
        </p:nvSpPr>
        <p:spPr>
          <a:xfrm>
            <a:off x="1005840" y="2697480"/>
            <a:ext cx="4572000" cy="274320"/>
          </a:xfrm>
          <a:prstGeom prst="rect">
            <a:avLst/>
          </a:prstGeom>
          <a:noFill/>
          <a:ln/>
        </p:spPr>
        <p:txBody>
          <a:bodyPr wrap="square" lIns="0" tIns="0" rIns="0" bIns="0" rtlCol="0" anchor="ctr"/>
          <a:lstStyle/>
          <a:p>
            <a:pPr indent="0" marL="0">
              <a:buNone/>
            </a:pPr>
            <a:r>
              <a:rPr lang="en-US" sz="1050" b="1" spc="200" kern="0" dirty="0">
                <a:solidFill>
                  <a:srgbClr val="42574E"/>
                </a:solidFill>
                <a:latin typeface="Calibri" pitchFamily="34" charset="0"/>
                <a:ea typeface="Calibri" pitchFamily="34" charset="-122"/>
                <a:cs typeface="Calibri" pitchFamily="34" charset="-120"/>
              </a:rPr>
              <a:t>WHAT IT DOES</a:t>
            </a:r>
            <a:endParaRPr lang="en-US" sz="1050" dirty="0"/>
          </a:p>
        </p:txBody>
      </p:sp>
      <p:sp>
        <p:nvSpPr>
          <p:cNvPr id="10" name="Text 8"/>
          <p:cNvSpPr/>
          <p:nvPr/>
        </p:nvSpPr>
        <p:spPr>
          <a:xfrm>
            <a:off x="1005840" y="3063240"/>
            <a:ext cx="4800600" cy="1874520"/>
          </a:xfrm>
          <a:prstGeom prst="rect">
            <a:avLst/>
          </a:prstGeom>
          <a:noFill/>
          <a:ln/>
        </p:spPr>
        <p:txBody>
          <a:bodyPr wrap="square" lIns="0" tIns="0" rIns="0" bIns="0" rtlCol="0" anchor="ctr"/>
          <a:lstStyle/>
          <a:p>
            <a:pPr marL="152400" indent="-152400">
              <a:spcAft>
                <a:spcPts val="700"/>
              </a:spcAft>
              <a:buSzPct val="100000"/>
              <a:buChar char="•"/>
            </a:pPr>
            <a:r>
              <a:rPr lang="en-US" sz="1100" dirty="0">
                <a:solidFill>
                  <a:srgbClr val="20242A"/>
                </a:solidFill>
                <a:latin typeface="Calibri" pitchFamily="34" charset="0"/>
                <a:ea typeface="Calibri" pitchFamily="34" charset="-122"/>
                <a:cs typeface="Calibri" pitchFamily="34" charset="-120"/>
              </a:rPr>
              <a:t>The same “organize, never conclude” engine pointed at a new vertical.</a:t>
            </a:r>
            <a:endParaRPr lang="en-US" sz="1100" dirty="0"/>
          </a:p>
          <a:p>
            <a:pPr marL="152400" indent="-152400">
              <a:spcAft>
                <a:spcPts val="700"/>
              </a:spcAft>
              <a:buSzPct val="100000"/>
              <a:buChar char="•"/>
            </a:pPr>
            <a:r>
              <a:rPr lang="en-US" sz="1100" dirty="0">
                <a:solidFill>
                  <a:srgbClr val="20242A"/>
                </a:solidFill>
                <a:latin typeface="Calibri" pitchFamily="34" charset="0"/>
                <a:ea typeface="Calibri" pitchFamily="34" charset="-122"/>
                <a:cs typeface="Calibri" pitchFamily="34" charset="-120"/>
              </a:rPr>
              <a:t>Insurance / public adjusters is validation vertical #2.</a:t>
            </a:r>
            <a:endParaRPr lang="en-US" sz="1100" dirty="0"/>
          </a:p>
          <a:p>
            <a:pPr marL="152400" indent="-152400">
              <a:spcAft>
                <a:spcPts val="700"/>
              </a:spcAft>
              <a:buSzPct val="100000"/>
              <a:buChar char="•"/>
            </a:pPr>
            <a:r>
              <a:rPr lang="en-US" sz="1100" dirty="0">
                <a:solidFill>
                  <a:srgbClr val="20242A"/>
                </a:solidFill>
                <a:latin typeface="Calibri" pitchFamily="34" charset="0"/>
                <a:ea typeface="Calibri" pitchFamily="34" charset="-122"/>
                <a:cs typeface="Calibri" pitchFamily="34" charset="-120"/>
              </a:rPr>
              <a:t>Portable Worker Record + accumulated data drive a platform re-rating.</a:t>
            </a:r>
            <a:endParaRPr lang="en-US" sz="1100" dirty="0"/>
          </a:p>
          <a:p>
            <a:pPr marL="152400" indent="-152400">
              <a:spcAft>
                <a:spcPts val="700"/>
              </a:spcAft>
              <a:buSzPct val="100000"/>
              <a:buChar char="•"/>
            </a:pPr>
            <a:r>
              <a:rPr lang="en-US" sz="1100" dirty="0">
                <a:solidFill>
                  <a:srgbClr val="20242A"/>
                </a:solidFill>
                <a:latin typeface="Calibri" pitchFamily="34" charset="0"/>
                <a:ea typeface="Calibri" pitchFamily="34" charset="-122"/>
                <a:cs typeface="Calibri" pitchFamily="34" charset="-120"/>
              </a:rPr>
              <a:t>Growth on infrastructure that’s already paid for.</a:t>
            </a:r>
            <a:endParaRPr lang="en-US" sz="1100" dirty="0"/>
          </a:p>
        </p:txBody>
      </p:sp>
      <p:sp>
        <p:nvSpPr>
          <p:cNvPr id="11" name="Shape 9"/>
          <p:cNvSpPr/>
          <p:nvPr/>
        </p:nvSpPr>
        <p:spPr>
          <a:xfrm>
            <a:off x="6309360" y="2514600"/>
            <a:ext cx="5212080" cy="2487168"/>
          </a:xfrm>
          <a:prstGeom prst="roundRect">
            <a:avLst>
              <a:gd name="adj" fmla="val 4412"/>
            </a:avLst>
          </a:prstGeom>
          <a:solidFill>
            <a:srgbClr val="42574E"/>
          </a:solidFill>
          <a:ln/>
        </p:spPr>
      </p:sp>
      <p:sp>
        <p:nvSpPr>
          <p:cNvPr id="12" name="Text 10"/>
          <p:cNvSpPr/>
          <p:nvPr/>
        </p:nvSpPr>
        <p:spPr>
          <a:xfrm>
            <a:off x="6629400" y="2697480"/>
            <a:ext cx="4572000" cy="274320"/>
          </a:xfrm>
          <a:prstGeom prst="rect">
            <a:avLst/>
          </a:prstGeom>
          <a:noFill/>
          <a:ln/>
        </p:spPr>
        <p:txBody>
          <a:bodyPr wrap="square" lIns="0" tIns="0" rIns="0" bIns="0" rtlCol="0" anchor="ctr"/>
          <a:lstStyle/>
          <a:p>
            <a:pPr indent="0" marL="0">
              <a:buNone/>
            </a:pPr>
            <a:r>
              <a:rPr lang="en-US" sz="1050" b="1" spc="200" kern="0" dirty="0">
                <a:solidFill>
                  <a:srgbClr val="95AB9B"/>
                </a:solidFill>
                <a:latin typeface="Calibri" pitchFamily="34" charset="0"/>
                <a:ea typeface="Calibri" pitchFamily="34" charset="-122"/>
                <a:cs typeface="Calibri" pitchFamily="34" charset="-120"/>
              </a:rPr>
              <a:t>WHY THIS, WHY NOW</a:t>
            </a:r>
            <a:endParaRPr lang="en-US" sz="1050" dirty="0"/>
          </a:p>
        </p:txBody>
      </p:sp>
      <p:sp>
        <p:nvSpPr>
          <p:cNvPr id="13" name="Text 11"/>
          <p:cNvSpPr/>
          <p:nvPr/>
        </p:nvSpPr>
        <p:spPr>
          <a:xfrm>
            <a:off x="6629400" y="3063240"/>
            <a:ext cx="4617720" cy="1828800"/>
          </a:xfrm>
          <a:prstGeom prst="rect">
            <a:avLst/>
          </a:prstGeom>
          <a:noFill/>
          <a:ln/>
        </p:spPr>
        <p:txBody>
          <a:bodyPr wrap="square" lIns="0" tIns="0" rIns="0" bIns="0" rtlCol="0" anchor="t"/>
          <a:lstStyle/>
          <a:p>
            <a:pPr indent="0" marL="0">
              <a:lnSpc>
                <a:spcPct val="103000"/>
              </a:lnSpc>
              <a:buNone/>
            </a:pPr>
            <a:r>
              <a:rPr lang="en-US" sz="1250" dirty="0">
                <a:solidFill>
                  <a:srgbClr val="EAF0EC"/>
                </a:solidFill>
                <a:latin typeface="Calibri" pitchFamily="34" charset="0"/>
                <a:ea typeface="Calibri" pitchFamily="34" charset="-122"/>
                <a:cs typeface="Calibri" pitchFamily="34" charset="-120"/>
              </a:rPr>
              <a:t>The engine is vertical-agnostic. Each new vertical multiplies the subscription base on infrastructure that already exists — the cheapest, highest-margin growth there is, and the moment the story re-rates from “tool” to “platform.”</a:t>
            </a:r>
            <a:endParaRPr lang="en-US" sz="1250" dirty="0"/>
          </a:p>
        </p:txBody>
      </p:sp>
      <p:sp>
        <p:nvSpPr>
          <p:cNvPr id="14" name="Shape 12"/>
          <p:cNvSpPr/>
          <p:nvPr/>
        </p:nvSpPr>
        <p:spPr>
          <a:xfrm>
            <a:off x="685800" y="5138928"/>
            <a:ext cx="10835640" cy="1097280"/>
          </a:xfrm>
          <a:prstGeom prst="roundRect">
            <a:avLst>
              <a:gd name="adj" fmla="val 10000"/>
            </a:avLst>
          </a:prstGeom>
          <a:solidFill>
            <a:srgbClr val="F3E9CE"/>
          </a:solidFill>
          <a:ln w="12700">
            <a:solidFill>
              <a:srgbClr val="C9A24B"/>
            </a:solidFill>
            <a:prstDash val="solid"/>
          </a:ln>
        </p:spPr>
      </p:sp>
      <p:sp>
        <p:nvSpPr>
          <p:cNvPr id="15" name="Shape 13"/>
          <p:cNvSpPr/>
          <p:nvPr/>
        </p:nvSpPr>
        <p:spPr>
          <a:xfrm>
            <a:off x="960120" y="5440680"/>
            <a:ext cx="502920" cy="502920"/>
          </a:xfrm>
          <a:prstGeom prst="ellipse">
            <a:avLst/>
          </a:prstGeom>
          <a:solidFill>
            <a:srgbClr val="C9A24B"/>
          </a:solidFill>
          <a:ln/>
        </p:spPr>
      </p:sp>
      <p:sp>
        <p:nvSpPr>
          <p:cNvPr id="16" name="Text 14"/>
          <p:cNvSpPr/>
          <p:nvPr/>
        </p:nvSpPr>
        <p:spPr>
          <a:xfrm>
            <a:off x="960120" y="5440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1645920" y="5285232"/>
            <a:ext cx="9601200" cy="274320"/>
          </a:xfrm>
          <a:prstGeom prst="rect">
            <a:avLst/>
          </a:prstGeom>
          <a:noFill/>
          <a:ln/>
        </p:spPr>
        <p:txBody>
          <a:bodyPr wrap="square" lIns="0" tIns="0" rIns="0" bIns="0" rtlCol="0" anchor="ctr"/>
          <a:lstStyle/>
          <a:p>
            <a:pPr indent="0" marL="0">
              <a:buNone/>
            </a:pPr>
            <a:r>
              <a:rPr lang="en-US" sz="1050" b="1" spc="200" kern="0" dirty="0">
                <a:solidFill>
                  <a:srgbClr val="9A772A"/>
                </a:solidFill>
                <a:latin typeface="Calibri" pitchFamily="34" charset="0"/>
                <a:ea typeface="Calibri" pitchFamily="34" charset="-122"/>
                <a:cs typeface="Calibri" pitchFamily="34" charset="-120"/>
              </a:rPr>
              <a:t>GATE TO OPEN THIS PHASE — proposed</a:t>
            </a:r>
            <a:endParaRPr lang="en-US" sz="1050" dirty="0"/>
          </a:p>
        </p:txBody>
      </p:sp>
      <p:sp>
        <p:nvSpPr>
          <p:cNvPr id="18" name="Text 16"/>
          <p:cNvSpPr/>
          <p:nvPr/>
        </p:nvSpPr>
        <p:spPr>
          <a:xfrm>
            <a:off x="1645920" y="5559552"/>
            <a:ext cx="9692640" cy="594360"/>
          </a:xfrm>
          <a:prstGeom prst="rect">
            <a:avLst/>
          </a:prstGeom>
          <a:noFill/>
          <a:ln/>
        </p:spPr>
        <p:txBody>
          <a:bodyPr wrap="square" lIns="0" tIns="0" rIns="0" bIns="0" rtlCol="0" anchor="t"/>
          <a:lstStyle/>
          <a:p>
            <a:pPr indent="0" marL="0">
              <a:lnSpc>
                <a:spcPct val="100000"/>
              </a:lnSpc>
              <a:buNone/>
            </a:pPr>
            <a:r>
              <a:rPr lang="en-US" sz="1200" dirty="0">
                <a:solidFill>
                  <a:srgbClr val="20242A"/>
                </a:solidFill>
                <a:latin typeface="Calibri" pitchFamily="34" charset="0"/>
                <a:ea typeface="Calibri" pitchFamily="34" charset="-122"/>
                <a:cs typeface="Calibri" pitchFamily="34" charset="-120"/>
              </a:rPr>
              <a:t>3 paying firms in a second vertical — the same proof-first bar as Phase 1. We expand only when a new vertical proves it will pay.</a:t>
            </a:r>
            <a:endParaRPr lang="en-US" sz="1200" dirty="0"/>
          </a:p>
        </p:txBody>
      </p:sp>
      <p:sp>
        <p:nvSpPr>
          <p:cNvPr id="19" name="Text 17"/>
          <p:cNvSpPr/>
          <p:nvPr/>
        </p:nvSpPr>
        <p:spPr>
          <a:xfrm>
            <a:off x="685800" y="6473952"/>
            <a:ext cx="8229600" cy="274320"/>
          </a:xfrm>
          <a:prstGeom prst="rect">
            <a:avLst/>
          </a:prstGeom>
          <a:noFill/>
          <a:ln/>
        </p:spPr>
        <p:txBody>
          <a:bodyPr wrap="square" lIns="0" tIns="0" rIns="0" bIns="0" rtlCol="0" anchor="ctr"/>
          <a:lstStyle/>
          <a:p>
            <a:pPr indent="0" marL="0">
              <a:buNone/>
            </a:pPr>
            <a:r>
              <a:rPr lang="en-US" sz="900" dirty="0">
                <a:solidFill>
                  <a:srgbClr val="6A6D66"/>
                </a:solidFill>
                <a:latin typeface="Calibri" pitchFamily="34" charset="0"/>
                <a:ea typeface="Calibri" pitchFamily="34" charset="-122"/>
                <a:cs typeface="Calibri" pitchFamily="34" charset="-120"/>
              </a:rPr>
              <a:t>one3seven  ·  The journey ahead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42574E"/>
        </a:solidFill>
      </p:bgPr>
    </p:bg>
    <p:spTree>
      <p:nvGrpSpPr>
        <p:cNvPr id="1" name=""/>
        <p:cNvGrpSpPr/>
        <p:nvPr/>
      </p:nvGrpSpPr>
      <p:grpSpPr>
        <a:xfrm>
          <a:off x="0" y="0"/>
          <a:ext cx="0" cy="0"/>
          <a:chOff x="0" y="0"/>
          <a:chExt cx="0" cy="0"/>
        </a:xfrm>
      </p:grpSpPr>
      <p:sp>
        <p:nvSpPr>
          <p:cNvPr id="2" name="Shape 0"/>
          <p:cNvSpPr/>
          <p:nvPr/>
        </p:nvSpPr>
        <p:spPr>
          <a:xfrm>
            <a:off x="9509760" y="-2377440"/>
            <a:ext cx="5486400" cy="5486400"/>
          </a:xfrm>
          <a:prstGeom prst="ellipse">
            <a:avLst/>
          </a:prstGeom>
          <a:solidFill>
            <a:srgbClr val="374A42"/>
          </a:solidFill>
          <a:ln/>
        </p:spPr>
      </p:sp>
      <p:sp>
        <p:nvSpPr>
          <p:cNvPr id="3" name="Text 1"/>
          <p:cNvSpPr/>
          <p:nvPr/>
        </p:nvSpPr>
        <p:spPr>
          <a:xfrm>
            <a:off x="685800" y="640080"/>
            <a:ext cx="10972800" cy="274320"/>
          </a:xfrm>
          <a:prstGeom prst="rect">
            <a:avLst/>
          </a:prstGeom>
          <a:noFill/>
          <a:ln/>
        </p:spPr>
        <p:txBody>
          <a:bodyPr wrap="square" lIns="0" tIns="0" rIns="0" bIns="0" rtlCol="0" anchor="ctr"/>
          <a:lstStyle/>
          <a:p>
            <a:pPr indent="0" marL="0">
              <a:buNone/>
            </a:pPr>
            <a:r>
              <a:rPr lang="en-US" sz="1100" b="1" spc="300" kern="0" dirty="0">
                <a:solidFill>
                  <a:srgbClr val="95AB9B"/>
                </a:solidFill>
                <a:latin typeface="Calibri" pitchFamily="34" charset="0"/>
                <a:ea typeface="Calibri" pitchFamily="34" charset="-122"/>
                <a:cs typeface="Calibri" pitchFamily="34" charset="-120"/>
              </a:rPr>
              <a:t>BEYOND ONE3SEVEN · THE VENTURE HORIZON</a:t>
            </a:r>
            <a:endParaRPr lang="en-US" sz="1100" dirty="0"/>
          </a:p>
        </p:txBody>
      </p:sp>
      <p:sp>
        <p:nvSpPr>
          <p:cNvPr id="4" name="Text 2"/>
          <p:cNvSpPr/>
          <p:nvPr/>
        </p:nvSpPr>
        <p:spPr>
          <a:xfrm>
            <a:off x="685800" y="1051560"/>
            <a:ext cx="10515600" cy="1005840"/>
          </a:xfrm>
          <a:prstGeom prst="rect">
            <a:avLst/>
          </a:prstGeom>
          <a:noFill/>
          <a:ln/>
        </p:spPr>
        <p:txBody>
          <a:bodyPr wrap="square" lIns="0" tIns="0" rIns="0" bIns="0" rtlCol="0" anchor="ctr"/>
          <a:lstStyle/>
          <a:p>
            <a:pPr indent="0" marL="0">
              <a:lnSpc>
                <a:spcPct val="98000"/>
              </a:lnSpc>
              <a:buNone/>
            </a:pPr>
            <a:r>
              <a:rPr lang="en-US" sz="2800" b="1" dirty="0">
                <a:solidFill>
                  <a:srgbClr val="FFFFFF"/>
                </a:solidFill>
                <a:latin typeface="Cambria" pitchFamily="34" charset="0"/>
                <a:ea typeface="Cambria" pitchFamily="34" charset="-122"/>
                <a:cs typeface="Cambria" pitchFamily="34" charset="-120"/>
              </a:rPr>
              <a:t>The founding team’s broader portfolio.</a:t>
            </a:r>
            <a:endParaRPr lang="en-US" sz="2800" dirty="0"/>
          </a:p>
        </p:txBody>
      </p:sp>
      <p:sp>
        <p:nvSpPr>
          <p:cNvPr id="5" name="Shape 3"/>
          <p:cNvSpPr/>
          <p:nvPr/>
        </p:nvSpPr>
        <p:spPr>
          <a:xfrm>
            <a:off x="685800" y="2194560"/>
            <a:ext cx="5257800" cy="3200400"/>
          </a:xfrm>
          <a:prstGeom prst="roundRect">
            <a:avLst>
              <a:gd name="adj" fmla="val 3429"/>
            </a:avLst>
          </a:prstGeom>
          <a:solidFill>
            <a:srgbClr val="34473F"/>
          </a:solidFill>
          <a:ln/>
        </p:spPr>
      </p:sp>
      <p:sp>
        <p:nvSpPr>
          <p:cNvPr id="6" name="Text 4"/>
          <p:cNvSpPr/>
          <p:nvPr/>
        </p:nvSpPr>
        <p:spPr>
          <a:xfrm>
            <a:off x="1051560" y="2423160"/>
            <a:ext cx="45720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Legal Fleet</a:t>
            </a:r>
            <a:endParaRPr lang="en-US" sz="2200" dirty="0"/>
          </a:p>
        </p:txBody>
      </p:sp>
      <p:sp>
        <p:nvSpPr>
          <p:cNvPr id="7" name="Text 5"/>
          <p:cNvSpPr/>
          <p:nvPr/>
        </p:nvSpPr>
        <p:spPr>
          <a:xfrm>
            <a:off x="1051560" y="2926080"/>
            <a:ext cx="4572000" cy="320040"/>
          </a:xfrm>
          <a:prstGeom prst="rect">
            <a:avLst/>
          </a:prstGeom>
          <a:noFill/>
          <a:ln/>
        </p:spPr>
        <p:txBody>
          <a:bodyPr wrap="square" lIns="0" tIns="0" rIns="0" bIns="0" rtlCol="0" anchor="ctr"/>
          <a:lstStyle/>
          <a:p>
            <a:pPr indent="0" marL="0">
              <a:buNone/>
            </a:pPr>
            <a:r>
              <a:rPr lang="en-US" sz="1200" b="1" dirty="0">
                <a:solidFill>
                  <a:srgbClr val="C9A24B"/>
                </a:solidFill>
                <a:latin typeface="Calibri" pitchFamily="34" charset="0"/>
                <a:ea typeface="Calibri" pitchFamily="34" charset="-122"/>
                <a:cs typeface="Calibri" pitchFamily="34" charset="-120"/>
              </a:rPr>
              <a:t>Mobile deposition &amp; conference unit</a:t>
            </a:r>
            <a:endParaRPr lang="en-US" sz="1200" dirty="0"/>
          </a:p>
        </p:txBody>
      </p:sp>
      <p:sp>
        <p:nvSpPr>
          <p:cNvPr id="8" name="Text 6"/>
          <p:cNvSpPr/>
          <p:nvPr/>
        </p:nvSpPr>
        <p:spPr>
          <a:xfrm>
            <a:off x="1051560" y="3383280"/>
            <a:ext cx="4572000" cy="1828800"/>
          </a:xfrm>
          <a:prstGeom prst="rect">
            <a:avLst/>
          </a:prstGeom>
          <a:noFill/>
          <a:ln/>
        </p:spPr>
        <p:txBody>
          <a:bodyPr wrap="square" lIns="0" tIns="0" rIns="0" bIns="0" rtlCol="0" anchor="t"/>
          <a:lstStyle/>
          <a:p>
            <a:pPr indent="0" marL="0">
              <a:lnSpc>
                <a:spcPct val="105000"/>
              </a:lnSpc>
              <a:buNone/>
            </a:pPr>
            <a:r>
              <a:rPr lang="en-US" sz="1200" dirty="0">
                <a:solidFill>
                  <a:srgbClr val="EAF0EC"/>
                </a:solidFill>
                <a:latin typeface="Calibri" pitchFamily="34" charset="0"/>
                <a:ea typeface="Calibri" pitchFamily="34" charset="-122"/>
                <a:cs typeface="Calibri" pitchFamily="34" charset="-120"/>
              </a:rPr>
              <a:t>A luxury mobile unit bringing professional deposition and conference space to rural areas — where none exists today. Rooted in Victoria’s court-reporting agency experience since 2021. Likely operator: Tad. A physical-service line adjacent to the legal ecosystem.</a:t>
            </a:r>
            <a:endParaRPr lang="en-US" sz="1200" dirty="0"/>
          </a:p>
        </p:txBody>
      </p:sp>
      <p:sp>
        <p:nvSpPr>
          <p:cNvPr id="9" name="Shape 7"/>
          <p:cNvSpPr/>
          <p:nvPr/>
        </p:nvSpPr>
        <p:spPr>
          <a:xfrm>
            <a:off x="6172200" y="2194560"/>
            <a:ext cx="5257800" cy="3200400"/>
          </a:xfrm>
          <a:prstGeom prst="roundRect">
            <a:avLst>
              <a:gd name="adj" fmla="val 3429"/>
            </a:avLst>
          </a:prstGeom>
          <a:solidFill>
            <a:srgbClr val="34473F"/>
          </a:solidFill>
          <a:ln/>
        </p:spPr>
      </p:sp>
      <p:sp>
        <p:nvSpPr>
          <p:cNvPr id="10" name="Text 8"/>
          <p:cNvSpPr/>
          <p:nvPr/>
        </p:nvSpPr>
        <p:spPr>
          <a:xfrm>
            <a:off x="6537960" y="2423160"/>
            <a:ext cx="45720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Journey School</a:t>
            </a:r>
            <a:endParaRPr lang="en-US" sz="2200" dirty="0"/>
          </a:p>
        </p:txBody>
      </p:sp>
      <p:sp>
        <p:nvSpPr>
          <p:cNvPr id="11" name="Text 9"/>
          <p:cNvSpPr/>
          <p:nvPr/>
        </p:nvSpPr>
        <p:spPr>
          <a:xfrm>
            <a:off x="6537960" y="2926080"/>
            <a:ext cx="4572000" cy="320040"/>
          </a:xfrm>
          <a:prstGeom prst="rect">
            <a:avLst/>
          </a:prstGeom>
          <a:noFill/>
          <a:ln/>
        </p:spPr>
        <p:txBody>
          <a:bodyPr wrap="square" lIns="0" tIns="0" rIns="0" bIns="0" rtlCol="0" anchor="ctr"/>
          <a:lstStyle/>
          <a:p>
            <a:pPr indent="0" marL="0">
              <a:buNone/>
            </a:pPr>
            <a:r>
              <a:rPr lang="en-US" sz="1200" b="1" dirty="0">
                <a:solidFill>
                  <a:srgbClr val="C9A24B"/>
                </a:solidFill>
                <a:latin typeface="Calibri" pitchFamily="34" charset="0"/>
                <a:ea typeface="Calibri" pitchFamily="34" charset="-122"/>
                <a:cs typeface="Calibri" pitchFamily="34" charset="-120"/>
              </a:rPr>
              <a:t>GPS-aware homeschool curriculum app</a:t>
            </a:r>
            <a:endParaRPr lang="en-US" sz="1200" dirty="0"/>
          </a:p>
        </p:txBody>
      </p:sp>
      <p:sp>
        <p:nvSpPr>
          <p:cNvPr id="12" name="Text 10"/>
          <p:cNvSpPr/>
          <p:nvPr/>
        </p:nvSpPr>
        <p:spPr>
          <a:xfrm>
            <a:off x="6537960" y="3383280"/>
            <a:ext cx="4572000" cy="1828800"/>
          </a:xfrm>
          <a:prstGeom prst="rect">
            <a:avLst/>
          </a:prstGeom>
          <a:noFill/>
          <a:ln/>
        </p:spPr>
        <p:txBody>
          <a:bodyPr wrap="square" lIns="0" tIns="0" rIns="0" bIns="0" rtlCol="0" anchor="t"/>
          <a:lstStyle/>
          <a:p>
            <a:pPr indent="0" marL="0">
              <a:lnSpc>
                <a:spcPct val="105000"/>
              </a:lnSpc>
              <a:buNone/>
            </a:pPr>
            <a:r>
              <a:rPr lang="en-US" sz="1200" dirty="0">
                <a:solidFill>
                  <a:srgbClr val="EAF0EC"/>
                </a:solidFill>
                <a:latin typeface="Calibri" pitchFamily="34" charset="0"/>
                <a:ea typeface="Calibri" pitchFamily="34" charset="-122"/>
                <a:cs typeface="Calibri" pitchFamily="34" charset="-120"/>
              </a:rPr>
              <a:t>A curriculum app for traveling families that adapts to where they are — turning the road into the classroom. Domain already registered. Shares the worker/family-first DNA and the same build muscle.</a:t>
            </a:r>
            <a:endParaRPr lang="en-US" sz="1200" dirty="0"/>
          </a:p>
        </p:txBody>
      </p:sp>
      <p:sp>
        <p:nvSpPr>
          <p:cNvPr id="13" name="Shape 11"/>
          <p:cNvSpPr/>
          <p:nvPr/>
        </p:nvSpPr>
        <p:spPr>
          <a:xfrm>
            <a:off x="685800" y="5623560"/>
            <a:ext cx="10835640" cy="457200"/>
          </a:xfrm>
          <a:prstGeom prst="roundRect">
            <a:avLst>
              <a:gd name="adj" fmla="val 50000"/>
            </a:avLst>
          </a:prstGeom>
          <a:solidFill>
            <a:srgbClr val="2E3D37"/>
          </a:solidFill>
          <a:ln/>
        </p:spPr>
      </p:sp>
      <p:sp>
        <p:nvSpPr>
          <p:cNvPr id="14" name="Text 12"/>
          <p:cNvSpPr/>
          <p:nvPr/>
        </p:nvSpPr>
        <p:spPr>
          <a:xfrm>
            <a:off x="685800" y="5623560"/>
            <a:ext cx="10835640" cy="457200"/>
          </a:xfrm>
          <a:prstGeom prst="rect">
            <a:avLst/>
          </a:prstGeom>
          <a:noFill/>
          <a:ln/>
        </p:spPr>
        <p:txBody>
          <a:bodyPr wrap="square" lIns="0" tIns="0" rIns="0" bIns="0" rtlCol="0" anchor="ctr"/>
          <a:lstStyle/>
          <a:p>
            <a:pPr algn="ctr" indent="0" marL="0">
              <a:buNone/>
            </a:pPr>
            <a:r>
              <a:rPr lang="en-US" sz="1100" b="1" dirty="0">
                <a:solidFill>
                  <a:srgbClr val="95AB9B"/>
                </a:solidFill>
                <a:latin typeface="Calibri" pitchFamily="34" charset="0"/>
                <a:ea typeface="Calibri" pitchFamily="34" charset="-122"/>
                <a:cs typeface="Calibri" pitchFamily="34" charset="-120"/>
              </a:rPr>
              <a:t>Separate ventures — shown for vision. They don’t compete for one3seven’s focus or capital.</a:t>
            </a:r>
            <a:endParaRPr lang="en-US" sz="1100" dirty="0"/>
          </a:p>
        </p:txBody>
      </p:sp>
      <p:sp>
        <p:nvSpPr>
          <p:cNvPr id="15" name="Text 13"/>
          <p:cNvSpPr/>
          <p:nvPr/>
        </p:nvSpPr>
        <p:spPr>
          <a:xfrm>
            <a:off x="685800" y="6355080"/>
            <a:ext cx="8229600" cy="274320"/>
          </a:xfrm>
          <a:prstGeom prst="rect">
            <a:avLst/>
          </a:prstGeom>
          <a:noFill/>
          <a:ln/>
        </p:spPr>
        <p:txBody>
          <a:bodyPr wrap="square" lIns="0" tIns="0" rIns="0" bIns="0" rtlCol="0" anchor="ctr"/>
          <a:lstStyle/>
          <a:p>
            <a:pPr indent="0" marL="0">
              <a:buNone/>
            </a:pPr>
            <a:r>
              <a:rPr lang="en-US" sz="900" dirty="0">
                <a:solidFill>
                  <a:srgbClr val="8FA396"/>
                </a:solidFill>
                <a:latin typeface="Calibri" pitchFamily="34" charset="0"/>
                <a:ea typeface="Calibri" pitchFamily="34" charset="-122"/>
                <a:cs typeface="Calibri" pitchFamily="34" charset="-120"/>
              </a:rPr>
              <a:t>one3seven  ·  The journey ahead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623"/>
        </a:solidFill>
      </p:bgPr>
    </p:bg>
    <p:spTree>
      <p:nvGrpSpPr>
        <p:cNvPr id="1" name=""/>
        <p:cNvGrpSpPr/>
        <p:nvPr/>
      </p:nvGrpSpPr>
      <p:grpSpPr>
        <a:xfrm>
          <a:off x="0" y="0"/>
          <a:ext cx="0" cy="0"/>
          <a:chOff x="0" y="0"/>
          <a:chExt cx="0" cy="0"/>
        </a:xfrm>
      </p:grpSpPr>
      <p:sp>
        <p:nvSpPr>
          <p:cNvPr id="2" name="Text 0"/>
          <p:cNvSpPr/>
          <p:nvPr/>
        </p:nvSpPr>
        <p:spPr>
          <a:xfrm>
            <a:off x="685800" y="822960"/>
            <a:ext cx="10972800" cy="274320"/>
          </a:xfrm>
          <a:prstGeom prst="rect">
            <a:avLst/>
          </a:prstGeom>
          <a:noFill/>
          <a:ln/>
        </p:spPr>
        <p:txBody>
          <a:bodyPr wrap="square" lIns="0" tIns="0" rIns="0" bIns="0" rtlCol="0" anchor="ctr"/>
          <a:lstStyle/>
          <a:p>
            <a:pPr indent="0" marL="0">
              <a:buNone/>
            </a:pPr>
            <a:r>
              <a:rPr lang="en-US" sz="1100" b="1" spc="300" kern="0" dirty="0">
                <a:solidFill>
                  <a:srgbClr val="95AB9B"/>
                </a:solidFill>
                <a:latin typeface="Calibri" pitchFamily="34" charset="0"/>
                <a:ea typeface="Calibri" pitchFamily="34" charset="-122"/>
                <a:cs typeface="Calibri" pitchFamily="34" charset="-120"/>
              </a:rPr>
              <a:t>WHY THE SEQUENCE WORKS</a:t>
            </a:r>
            <a:endParaRPr lang="en-US" sz="1100" dirty="0"/>
          </a:p>
        </p:txBody>
      </p:sp>
      <p:sp>
        <p:nvSpPr>
          <p:cNvPr id="3" name="Text 1"/>
          <p:cNvSpPr/>
          <p:nvPr/>
        </p:nvSpPr>
        <p:spPr>
          <a:xfrm>
            <a:off x="685800" y="1280160"/>
            <a:ext cx="10515600" cy="1005840"/>
          </a:xfrm>
          <a:prstGeom prst="rect">
            <a:avLst/>
          </a:prstGeom>
          <a:noFill/>
          <a:ln/>
        </p:spPr>
        <p:txBody>
          <a:bodyPr wrap="square" lIns="0" tIns="0" rIns="0" bIns="0" rtlCol="0" anchor="ctr"/>
          <a:lstStyle/>
          <a:p>
            <a:pPr indent="0" marL="0">
              <a:lnSpc>
                <a:spcPct val="98000"/>
              </a:lnSpc>
              <a:buNone/>
            </a:pPr>
            <a:r>
              <a:rPr lang="en-US" sz="3000" b="1" dirty="0">
                <a:solidFill>
                  <a:srgbClr val="FFFFFF"/>
                </a:solidFill>
                <a:latin typeface="Cambria" pitchFamily="34" charset="0"/>
                <a:ea typeface="Cambria" pitchFamily="34" charset="-122"/>
                <a:cs typeface="Cambria" pitchFamily="34" charset="-120"/>
              </a:rPr>
              <a:t>Each phase makes the next one inevitable.</a:t>
            </a:r>
            <a:endParaRPr lang="en-US" sz="3000" dirty="0"/>
          </a:p>
        </p:txBody>
      </p:sp>
      <p:sp>
        <p:nvSpPr>
          <p:cNvPr id="4" name="Shape 2"/>
          <p:cNvSpPr/>
          <p:nvPr/>
        </p:nvSpPr>
        <p:spPr>
          <a:xfrm>
            <a:off x="685800" y="2468880"/>
            <a:ext cx="457200" cy="457200"/>
          </a:xfrm>
          <a:prstGeom prst="ellipse">
            <a:avLst/>
          </a:prstGeom>
          <a:solidFill>
            <a:srgbClr val="C9A24B"/>
          </a:solidFill>
          <a:ln/>
        </p:spPr>
      </p:sp>
      <p:sp>
        <p:nvSpPr>
          <p:cNvPr id="5" name="Text 3"/>
          <p:cNvSpPr/>
          <p:nvPr/>
        </p:nvSpPr>
        <p:spPr>
          <a:xfrm>
            <a:off x="685800" y="2468880"/>
            <a:ext cx="457200" cy="457200"/>
          </a:xfrm>
          <a:prstGeom prst="rect">
            <a:avLst/>
          </a:prstGeom>
          <a:noFill/>
          <a:ln/>
        </p:spPr>
        <p:txBody>
          <a:bodyPr wrap="square" lIns="0" tIns="0" rIns="0" bIns="0" rtlCol="0" anchor="ctr"/>
          <a:lstStyle/>
          <a:p>
            <a:pPr algn="ctr" indent="0" marL="0">
              <a:buNone/>
            </a:pPr>
            <a:r>
              <a:rPr lang="en-US" sz="1800" b="1" dirty="0">
                <a:solidFill>
                  <a:srgbClr val="1B2623"/>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344168" y="2432304"/>
            <a:ext cx="10058400" cy="548640"/>
          </a:xfrm>
          <a:prstGeom prst="rect">
            <a:avLst/>
          </a:prstGeom>
          <a:noFill/>
          <a:ln/>
        </p:spPr>
        <p:txBody>
          <a:bodyPr wrap="square" lIns="0" tIns="0" rIns="0" bIns="0" rtlCol="0" anchor="ctr"/>
          <a:lstStyle/>
          <a:p>
            <a:pPr indent="0" marL="0">
              <a:buNone/>
            </a:pPr>
            <a:r>
              <a:rPr lang="en-US" sz="1400" dirty="0">
                <a:solidFill>
                  <a:srgbClr val="EAF0EC"/>
                </a:solidFill>
                <a:latin typeface="Calibri" pitchFamily="34" charset="0"/>
                <a:ea typeface="Calibri" pitchFamily="34" charset="-122"/>
                <a:cs typeface="Calibri" pitchFamily="34" charset="-120"/>
              </a:rPr>
              <a:t>Intake earns the firms and the data.</a:t>
            </a:r>
            <a:endParaRPr lang="en-US" sz="1400" dirty="0"/>
          </a:p>
        </p:txBody>
      </p:sp>
      <p:sp>
        <p:nvSpPr>
          <p:cNvPr id="7" name="Shape 5"/>
          <p:cNvSpPr/>
          <p:nvPr/>
        </p:nvSpPr>
        <p:spPr>
          <a:xfrm>
            <a:off x="685800" y="3154680"/>
            <a:ext cx="457200" cy="457200"/>
          </a:xfrm>
          <a:prstGeom prst="ellipse">
            <a:avLst/>
          </a:prstGeom>
          <a:solidFill>
            <a:srgbClr val="42574E"/>
          </a:solidFill>
          <a:ln/>
        </p:spPr>
      </p:sp>
      <p:sp>
        <p:nvSpPr>
          <p:cNvPr id="8" name="Text 6"/>
          <p:cNvSpPr/>
          <p:nvPr/>
        </p:nvSpPr>
        <p:spPr>
          <a:xfrm>
            <a:off x="685800" y="31546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344168" y="3118104"/>
            <a:ext cx="10058400" cy="548640"/>
          </a:xfrm>
          <a:prstGeom prst="rect">
            <a:avLst/>
          </a:prstGeom>
          <a:noFill/>
          <a:ln/>
        </p:spPr>
        <p:txBody>
          <a:bodyPr wrap="square" lIns="0" tIns="0" rIns="0" bIns="0" rtlCol="0" anchor="ctr"/>
          <a:lstStyle/>
          <a:p>
            <a:pPr indent="0" marL="0">
              <a:buNone/>
            </a:pPr>
            <a:r>
              <a:rPr lang="en-US" sz="1400" dirty="0">
                <a:solidFill>
                  <a:srgbClr val="EAF0EC"/>
                </a:solidFill>
                <a:latin typeface="Calibri" pitchFamily="34" charset="0"/>
                <a:ea typeface="Calibri" pitchFamily="34" charset="-122"/>
                <a:cs typeface="Calibri" pitchFamily="34" charset="-120"/>
              </a:rPr>
              <a:t>The data + a personal-touch objection make Teleprompt obvious.</a:t>
            </a:r>
            <a:endParaRPr lang="en-US" sz="1400" dirty="0"/>
          </a:p>
        </p:txBody>
      </p:sp>
      <p:sp>
        <p:nvSpPr>
          <p:cNvPr id="10" name="Shape 8"/>
          <p:cNvSpPr/>
          <p:nvPr/>
        </p:nvSpPr>
        <p:spPr>
          <a:xfrm>
            <a:off x="685800" y="3840480"/>
            <a:ext cx="457200" cy="457200"/>
          </a:xfrm>
          <a:prstGeom prst="ellipse">
            <a:avLst/>
          </a:prstGeom>
          <a:solidFill>
            <a:srgbClr val="42574E"/>
          </a:solidFill>
          <a:ln/>
        </p:spPr>
      </p:sp>
      <p:sp>
        <p:nvSpPr>
          <p:cNvPr id="11" name="Text 9"/>
          <p:cNvSpPr/>
          <p:nvPr/>
        </p:nvSpPr>
        <p:spPr>
          <a:xfrm>
            <a:off x="685800" y="38404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344168" y="3803904"/>
            <a:ext cx="10058400" cy="548640"/>
          </a:xfrm>
          <a:prstGeom prst="rect">
            <a:avLst/>
          </a:prstGeom>
          <a:noFill/>
          <a:ln/>
        </p:spPr>
        <p:txBody>
          <a:bodyPr wrap="square" lIns="0" tIns="0" rIns="0" bIns="0" rtlCol="0" anchor="ctr"/>
          <a:lstStyle/>
          <a:p>
            <a:pPr indent="0" marL="0">
              <a:buNone/>
            </a:pPr>
            <a:r>
              <a:rPr lang="en-US" sz="1400" dirty="0">
                <a:solidFill>
                  <a:srgbClr val="EAF0EC"/>
                </a:solidFill>
                <a:latin typeface="Calibri" pitchFamily="34" charset="0"/>
                <a:ea typeface="Calibri" pitchFamily="34" charset="-122"/>
                <a:cs typeface="Calibri" pitchFamily="34" charset="-120"/>
              </a:rPr>
              <a:t>Teleprompt volume makes the Portable Record valuable.</a:t>
            </a:r>
            <a:endParaRPr lang="en-US" sz="1400" dirty="0"/>
          </a:p>
        </p:txBody>
      </p:sp>
      <p:sp>
        <p:nvSpPr>
          <p:cNvPr id="13" name="Shape 11"/>
          <p:cNvSpPr/>
          <p:nvPr/>
        </p:nvSpPr>
        <p:spPr>
          <a:xfrm>
            <a:off x="685800" y="4526280"/>
            <a:ext cx="457200" cy="457200"/>
          </a:xfrm>
          <a:prstGeom prst="ellipse">
            <a:avLst/>
          </a:prstGeom>
          <a:solidFill>
            <a:srgbClr val="42574E"/>
          </a:solidFill>
          <a:ln/>
        </p:spPr>
      </p:sp>
      <p:sp>
        <p:nvSpPr>
          <p:cNvPr id="14" name="Text 12"/>
          <p:cNvSpPr/>
          <p:nvPr/>
        </p:nvSpPr>
        <p:spPr>
          <a:xfrm>
            <a:off x="685800" y="45262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5" name="Text 13"/>
          <p:cNvSpPr/>
          <p:nvPr/>
        </p:nvSpPr>
        <p:spPr>
          <a:xfrm>
            <a:off x="1344168" y="4489704"/>
            <a:ext cx="10058400" cy="548640"/>
          </a:xfrm>
          <a:prstGeom prst="rect">
            <a:avLst/>
          </a:prstGeom>
          <a:noFill/>
          <a:ln/>
        </p:spPr>
        <p:txBody>
          <a:bodyPr wrap="square" lIns="0" tIns="0" rIns="0" bIns="0" rtlCol="0" anchor="ctr"/>
          <a:lstStyle/>
          <a:p>
            <a:pPr indent="0" marL="0">
              <a:buNone/>
            </a:pPr>
            <a:r>
              <a:rPr lang="en-US" sz="1400" dirty="0">
                <a:solidFill>
                  <a:srgbClr val="EAF0EC"/>
                </a:solidFill>
                <a:latin typeface="Calibri" pitchFamily="34" charset="0"/>
                <a:ea typeface="Calibri" pitchFamily="34" charset="-122"/>
                <a:cs typeface="Calibri" pitchFamily="34" charset="-120"/>
              </a:rPr>
              <a:t>The Portable Record makes matters fundable — and re-rates the company.</a:t>
            </a:r>
            <a:endParaRPr lang="en-US" sz="1400" dirty="0"/>
          </a:p>
        </p:txBody>
      </p:sp>
      <p:sp>
        <p:nvSpPr>
          <p:cNvPr id="16" name="Shape 14"/>
          <p:cNvSpPr/>
          <p:nvPr/>
        </p:nvSpPr>
        <p:spPr>
          <a:xfrm>
            <a:off x="685800" y="5212080"/>
            <a:ext cx="457200" cy="457200"/>
          </a:xfrm>
          <a:prstGeom prst="ellipse">
            <a:avLst/>
          </a:prstGeom>
          <a:solidFill>
            <a:srgbClr val="42574E"/>
          </a:solidFill>
          <a:ln/>
        </p:spPr>
      </p:sp>
      <p:sp>
        <p:nvSpPr>
          <p:cNvPr id="17" name="Text 15"/>
          <p:cNvSpPr/>
          <p:nvPr/>
        </p:nvSpPr>
        <p:spPr>
          <a:xfrm>
            <a:off x="685800" y="5212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18" name="Text 16"/>
          <p:cNvSpPr/>
          <p:nvPr/>
        </p:nvSpPr>
        <p:spPr>
          <a:xfrm>
            <a:off x="1344168" y="5175504"/>
            <a:ext cx="10058400" cy="548640"/>
          </a:xfrm>
          <a:prstGeom prst="rect">
            <a:avLst/>
          </a:prstGeom>
          <a:noFill/>
          <a:ln/>
        </p:spPr>
        <p:txBody>
          <a:bodyPr wrap="square" lIns="0" tIns="0" rIns="0" bIns="0" rtlCol="0" anchor="ctr"/>
          <a:lstStyle/>
          <a:p>
            <a:pPr indent="0" marL="0">
              <a:buNone/>
            </a:pPr>
            <a:r>
              <a:rPr lang="en-US" sz="1400" dirty="0">
                <a:solidFill>
                  <a:srgbClr val="EAF0EC"/>
                </a:solidFill>
                <a:latin typeface="Calibri" pitchFamily="34" charset="0"/>
                <a:ea typeface="Calibri" pitchFamily="34" charset="-122"/>
                <a:cs typeface="Calibri" pitchFamily="34" charset="-120"/>
              </a:rPr>
              <a:t>A proven engine makes every new vertical cheap to win.</a:t>
            </a:r>
            <a:endParaRPr lang="en-US" sz="1400" dirty="0"/>
          </a:p>
        </p:txBody>
      </p:sp>
      <p:sp>
        <p:nvSpPr>
          <p:cNvPr id="19" name="Text 17"/>
          <p:cNvSpPr/>
          <p:nvPr/>
        </p:nvSpPr>
        <p:spPr>
          <a:xfrm>
            <a:off x="685800" y="6172200"/>
            <a:ext cx="10058400" cy="365760"/>
          </a:xfrm>
          <a:prstGeom prst="rect">
            <a:avLst/>
          </a:prstGeom>
          <a:noFill/>
          <a:ln/>
        </p:spPr>
        <p:txBody>
          <a:bodyPr wrap="square" lIns="0" tIns="0" rIns="0" bIns="0" rtlCol="0" anchor="ctr"/>
          <a:lstStyle/>
          <a:p>
            <a:pPr indent="0" marL="0">
              <a:buNone/>
            </a:pPr>
            <a:r>
              <a:rPr lang="en-US" sz="1500" i="1" dirty="0">
                <a:solidFill>
                  <a:srgbClr val="95AB9B"/>
                </a:solidFill>
                <a:latin typeface="Cambria" pitchFamily="34" charset="0"/>
                <a:ea typeface="Cambria" pitchFamily="34" charset="-122"/>
                <a:cs typeface="Cambria" pitchFamily="34" charset="-120"/>
              </a:rPr>
              <a:t>Gated, earned, compounding. That’s the journey.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one3seven</dc:creator>
  <cp:lastModifiedBy>one3seven</cp:lastModifiedBy>
  <cp:revision>1</cp:revision>
  <dcterms:created xsi:type="dcterms:W3CDTF">2026-07-19T01:13:50Z</dcterms:created>
  <dcterms:modified xsi:type="dcterms:W3CDTF">2026-07-19T01:13:50Z</dcterms:modified>
</cp:coreProperties>
</file>