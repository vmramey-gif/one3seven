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217920" cy="621792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383280"/>
            <a:ext cx="3657600" cy="3657600"/>
          </a:xfrm>
          <a:prstGeom prst="ellipse">
            <a:avLst/>
          </a:prstGeom>
          <a:solidFill>
            <a:srgbClr val="3C4E4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63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BUILDS IT — PHASE BY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 &amp; Hiring Roadmap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roles, the officers, and the projected headcount needed through all five phases.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against gates — lean until each phase earns the next.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2E3D3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5760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projection — ranges, not commitments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0" y="5806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against gates — and close the one real gap first.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95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when the phase funds 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7980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is added when its phase opens and pays for it. No headcount ahead of revenue.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219456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395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Fractional before full-time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7980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Counsel, finance, and design start fractional/contract, then convert to FTE as a phase justifies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56616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67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is a hire, not a hope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1696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20% recurring commission is retention-tied — so Customer Success is an early, deliberate hire.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56616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767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Officers follow the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16966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officer is added where the next phase concentrates risk — engineering, then compliance, then finance.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5074920"/>
            <a:ext cx="10835640" cy="1143000"/>
          </a:xfrm>
          <a:prstGeom prst="roundRect">
            <a:avLst>
              <a:gd name="adj" fmla="val 9600"/>
            </a:avLst>
          </a:prstGeom>
          <a:solidFill>
            <a:srgbClr val="F3E9C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30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7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#1 GAP TODAY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5532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sales-strong but the founder is the sole builder.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founding/lead engineer is the single most important near-term hire — Victoria cannot both scale the product through Phase 2 and run the company. This is the first dollar of the raise.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Org &amp; hiring roadmap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OFFICERS — WHO LEADS, AND WHEN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 added where the next phase concentrates risk.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ECF1ED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5000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585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2551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Ramey — Product, vision, fundraising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236829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368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971800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ECF1ED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17296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081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Co-Founder · Head of Sales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33741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Tadmor Russell — Founding-firm sales motion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319125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1912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794760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ECF1ED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99592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9044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Dir. Sales &amp; Marketing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41970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 — Sales &amp; marketing engine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401421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40142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81888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727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CTO / VP Engineering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7280" y="5020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— Phase 1→2 — Owns the build; frees the founder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483717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8371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5440680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64184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5E7268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55504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of Product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97280" y="5843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— Phase 2 — Litigation Ops + Teleprompt delivery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566013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7D2CB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56601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2148840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235000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5E7268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22585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83680" y="2551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— Phase 3 — Marketplace + portable-record operations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149840" y="236829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7D2CB"/>
          </a:solidFill>
          <a:ln/>
        </p:spPr>
      </p:sp>
      <p:sp>
        <p:nvSpPr>
          <p:cNvPr id="39" name="Text 37"/>
          <p:cNvSpPr/>
          <p:nvPr/>
        </p:nvSpPr>
        <p:spPr>
          <a:xfrm>
            <a:off x="10149840" y="2368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2971800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317296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5E7268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3081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Counsel / CCO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83680" y="33741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— Phase 4 — Funding compliance (TPLF, §6155)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149840" y="319125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7D2CB"/>
          </a:solidFill>
          <a:ln/>
        </p:spPr>
      </p:sp>
      <p:sp>
        <p:nvSpPr>
          <p:cNvPr id="45" name="Text 43"/>
          <p:cNvSpPr/>
          <p:nvPr/>
        </p:nvSpPr>
        <p:spPr>
          <a:xfrm>
            <a:off x="10149840" y="31912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3794760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399592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5E7268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39044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CFO / VP Finance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583680" y="41970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— Phase 4 — Multi-line revenue + the raise after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149840" y="401421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7D2CB"/>
          </a:solidFill>
          <a:ln/>
        </p:spPr>
      </p:sp>
      <p:sp>
        <p:nvSpPr>
          <p:cNvPr id="51" name="Text 49"/>
          <p:cNvSpPr/>
          <p:nvPr/>
        </p:nvSpPr>
        <p:spPr>
          <a:xfrm>
            <a:off x="10149840" y="40142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72200" y="4617720"/>
            <a:ext cx="5257800" cy="731520"/>
          </a:xfrm>
          <a:prstGeom prst="roundRect">
            <a:avLst>
              <a:gd name="adj" fmla="val 15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481888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5E7268"/>
          </a:solidFill>
          <a:ln/>
        </p:spPr>
      </p:sp>
      <p:sp>
        <p:nvSpPr>
          <p:cNvPr id="54" name="Text 52"/>
          <p:cNvSpPr/>
          <p:nvPr/>
        </p:nvSpPr>
        <p:spPr>
          <a:xfrm>
            <a:off x="6583680" y="4727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583680" y="5020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— Phase 5 — Scaled revenue across verticals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149840" y="483717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7D2CB"/>
          </a:solidFill>
          <a:ln/>
        </p:spPr>
      </p:sp>
      <p:sp>
        <p:nvSpPr>
          <p:cNvPr id="57" name="Text 55"/>
          <p:cNvSpPr/>
          <p:nvPr/>
        </p:nvSpPr>
        <p:spPr>
          <a:xfrm>
            <a:off x="10149840" y="48371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Org &amp; hiring roadmap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many, and who, at each phase.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· funding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776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hires added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officer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298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team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807208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ECF1ED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072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Intake (now) · pre-seed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77640" y="280720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 · CS/onboarding · +1 sales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0" y="280720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29800" y="280720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465576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6557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Lit Ops + Teleprompt · seed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77640" y="346557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eng · CS lead · product/design · +1–2 sales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80960" y="346557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Head of Product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29800" y="346557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123944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2394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Marketplace + Record · seed/A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77640" y="412394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ops · data/security eng · +eng · +CS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80960" y="412394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29800" y="412394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~18–28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782312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8231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Funding Facilitation · Series 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77640" y="478231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partnerships/BD · finance lead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80960" y="478231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GC/CCO · CFO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29800" y="478231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~28–45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5440680"/>
            <a:ext cx="10835640" cy="603504"/>
          </a:xfrm>
          <a:prstGeom prst="roundRect">
            <a:avLst>
              <a:gd name="adj" fmla="val 1060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4406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Expansion · A/B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77640" y="54406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GMs · marketing team · scaled sales/CS/eng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80960" y="54406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829800" y="544068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~55–120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58064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team counts include founders, officers, and contractors converting to FTE. Ranges widen with fundraising outcomes.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Org &amp; hiring roadmap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FUNCTION, ACROSS THE PHASES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people go — function by function.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8932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0664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2396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487168"/>
            <a:ext cx="10835640" cy="402336"/>
          </a:xfrm>
          <a:prstGeom prst="roundRect">
            <a:avLst>
              <a:gd name="adj" fmla="val 13636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871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487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9320" y="2487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2487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23960" y="2487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0" y="24871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2944368"/>
            <a:ext cx="10835640" cy="402336"/>
          </a:xfrm>
          <a:prstGeom prst="roundRect">
            <a:avLst>
              <a:gd name="adj" fmla="val 13636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443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/ Design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2944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2944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2944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23960" y="2944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0" y="29443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3401568"/>
            <a:ext cx="10835640" cy="402336"/>
          </a:xfrm>
          <a:prstGeom prst="roundRect">
            <a:avLst>
              <a:gd name="adj" fmla="val 13636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01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0" y="3401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3401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3401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23960" y="3401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0" y="34015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3858768"/>
            <a:ext cx="10835640" cy="402336"/>
          </a:xfrm>
          <a:prstGeom prst="roundRect">
            <a:avLst>
              <a:gd name="adj" fmla="val 13636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8587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Success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8932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2396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241280" y="38587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" y="4315968"/>
            <a:ext cx="10835640" cy="402336"/>
          </a:xfrm>
          <a:prstGeom prst="roundRect">
            <a:avLst>
              <a:gd name="adj" fmla="val 13636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3159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0" y="43159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89320" y="43159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06640" y="43159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23960" y="43159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241280" y="43159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" y="4773168"/>
            <a:ext cx="10835640" cy="402336"/>
          </a:xfrm>
          <a:prstGeom prst="roundRect">
            <a:avLst>
              <a:gd name="adj" fmla="val 13636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7731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/ Marketplace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0" y="4773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89320" y="4773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06640" y="4773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823960" y="4773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241280" y="47731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5800" y="5230368"/>
            <a:ext cx="10835640" cy="402336"/>
          </a:xfrm>
          <a:prstGeom prst="roundRect">
            <a:avLst>
              <a:gd name="adj" fmla="val 13636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52303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/ Compliance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572000" y="5230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89320" y="5230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06640" y="5230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823960" y="5230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241280" y="52303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5800" y="5687568"/>
            <a:ext cx="10835640" cy="402336"/>
          </a:xfrm>
          <a:prstGeom prst="roundRect">
            <a:avLst>
              <a:gd name="adj" fmla="val 13636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" y="5687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/ Admin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4572000" y="5687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989320" y="5687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406640" y="5687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823960" y="5687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241280" y="56875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85800" y="63093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“frac” = fractional / contract before a full-time hire.  P1 = now.  Figures are illustrative planning ranges.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Org &amp; hiring roadmap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377440"/>
            <a:ext cx="5486400" cy="54864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731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 TERM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three hires that matter.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/ Lead Engineer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7706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hire. Frees the founder from sole-builder duty and carries the product through Litigation Ops + Teleprompt. First dollar of the raise.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Success / Onboarding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95935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the business model — the 20% commission is retention-tied. Someone owns firm activation and keeping firms live.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800600"/>
            <a:ext cx="502920" cy="50292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Fractional bench — counsel, finance, design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51480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full-time yet: outside counsel (founder + IP agreement, UPL, entity), a bookkeeper, and part-time design. Convert to FTE as phases fund them.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Lean, sequenced, and gated — the same discipline as the product roadmap.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one3seven</dc:creator>
  <cp:lastModifiedBy>one3seven</cp:lastModifiedBy>
  <cp:revision>1</cp:revision>
  <dcterms:created xsi:type="dcterms:W3CDTF">2026-07-16T20:37:15Z</dcterms:created>
  <dcterms:modified xsi:type="dcterms:W3CDTF">2026-07-16T20:37:15Z</dcterms:modified>
</cp:coreProperties>
</file>