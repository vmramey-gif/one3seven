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291840"/>
            <a:ext cx="3840480" cy="3840480"/>
          </a:xfrm>
          <a:prstGeom prst="ellipse">
            <a:avLst/>
          </a:prstGeom>
          <a:solidFill>
            <a:srgbClr val="3C4E4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63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MONEY WORKS · CALIFORNIA EMPLOYMENT FIRMS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Commissions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firm pays, how Stripe works, where the money goes, and how pricing evolves.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subscription — never per-case, never per-lead, never a share of a legal fee.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reference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0" y="5943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FIRM PAYS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software subscription — like Clio, not a lead fee.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</a:t>
            </a:r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intakes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813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1970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monthly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214884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$549</a:t>
            </a:r>
            <a:pPr indent="0" marL="0">
              <a:buNone/>
            </a:pPr>
            <a:r>
              <a:rPr lang="en-US" sz="13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45152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60 intakes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5152" y="3813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seats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45152" y="41970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5152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monthly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64424" y="214884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84464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$1,490</a:t>
            </a:r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84464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intakes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84464" y="3813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84464" y="41970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84464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annually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394960"/>
            <a:ext cx="10835640" cy="685800"/>
          </a:xfrm>
          <a:prstGeom prst="roundRect">
            <a:avLst>
              <a:gd name="adj" fmla="val 16000"/>
            </a:avLst>
          </a:prstGeom>
          <a:solidFill>
            <a:srgbClr val="E7EDE8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3949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firm starts free:  </a:t>
            </a:r>
            <a:pPr indent="0" marL="0">
              <a:buNone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7-day pilot, no card required. The core feature — organizing a worker’s records into a review-ready intake — is never gated. Tiers buy volume, not the fundamental value.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Billing &amp; commissions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STRIPE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 handles the card. We never touch card data.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206654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picks a plan   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 admin selects Practice, Firm, or Surge in the app and clicks upgrade.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816352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77977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opens   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create-checkout-session function opens Stripe’s hosted, PCI-compliant checkout page. The firm enters its card there — never in our app.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29584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4930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charges the card   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success, Stripe processes the payment and sends a secure webhook back to one3seven.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242816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206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unlocks instantly   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webhook maps the Stripe price to our plan_id and flips the firm’s subscription to “active.” Features unlock the moment that row updates.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956048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9194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Auto-renews each cycle   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re-charges automatically every cycle. A failed card is retried and marked past-due; if never recovered, the plan lapses.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715000"/>
            <a:ext cx="10835640" cy="566928"/>
          </a:xfrm>
          <a:prstGeom prst="roundRect">
            <a:avLst>
              <a:gd name="adj" fmla="val 19355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7150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flow:  </a:t>
            </a:r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firm’s payment lands in one3seven’s Stripe account first. Reps are paid out of that revenue — never by the firm directly, and never as a split of any legal fee.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Billing &amp; commissions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$549 Firm plan, broken down.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6035040" cy="448056"/>
          </a:xfrm>
          <a:prstGeom prst="roundRect">
            <a:avLst>
              <a:gd name="adj" fmla="val 142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51760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 pays (gross)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06240" y="2651760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$549.00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6035040" cy="448056"/>
          </a:xfrm>
          <a:prstGeom prst="roundRect">
            <a:avLst>
              <a:gd name="adj" fmla="val 142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54680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Stripe processing (2.9% + $0.30)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06240" y="3154680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~$16.22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657600"/>
            <a:ext cx="6035040" cy="448056"/>
          </a:xfrm>
          <a:prstGeom prst="roundRect">
            <a:avLst>
              <a:gd name="adj" fmla="val 142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57600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Rep commission (20%, recurring)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0" y="3657600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$109.80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160520"/>
            <a:ext cx="6035040" cy="448056"/>
          </a:xfrm>
          <a:prstGeom prst="roundRect">
            <a:avLst>
              <a:gd name="adj" fmla="val 142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60520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AI + infrastructure (estimate)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06240" y="4160520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~$30–60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663440"/>
            <a:ext cx="6035040" cy="448056"/>
          </a:xfrm>
          <a:prstGeom prst="roundRect">
            <a:avLst>
              <a:gd name="adj" fmla="val 14286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663440"/>
            <a:ext cx="3383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Company contribution margin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06240" y="4663440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~$363–393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257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66–72% of gross stays with the company.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148840"/>
            <a:ext cx="4572000" cy="3931920"/>
          </a:xfrm>
          <a:prstGeom prst="roundRect">
            <a:avLst>
              <a:gd name="adj" fmla="val 279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OF THE SPLIT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23760" y="2788920"/>
            <a:ext cx="4069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earn 20% recurring — every month the firm stays active. No base, no draw. Income is tied to retention.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paid during the free 7-day pilot. Commission starts when the firm converts to paid.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/ charged-back payments that aren’t recovered: that month’s commission isn’t paid.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and co-founder take no per-transaction cut — their upside is equity, not commission.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are independent contractors of One3Seven Ventures LLC; a written agreement is signed before any selling.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Billing &amp; commissions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CYCLE &amp; SPECIAL PRICING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they pay — and how to bend it.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CYCLE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28346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Firm — billed monthly, on each firm’s signup-date anchor. Stripe re-charges every cycle automatically.</a:t>
            </a:r>
            <a:endParaRPr lang="en-US" sz="11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— billed annually; one payment covers 12 months. The annual commitment is what justifies unlimited volume.</a:t>
            </a:r>
            <a:endParaRPr lang="en-US" sz="11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commissions — calculated per active firm each billing month, paid on one3seven’s payout schedule.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/ DELAYED PRICING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7-day pilot — every firm’s default entry. No card; converts to paid at day 7.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Founding-firm rate — lock in a discounted price for early firms as a thank-you for being first.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start — onboard now, begin billing later (extended pilot) so a firm can trial a full intake cycle.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prepay discount — reward yearly payers; trivially added as a second Stripe price.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37960" y="5486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firm’s rate is just a plan_id on its row — grant one firm a special price without touching anyone else.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Billing &amp; commissions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THROUGH THE PHASES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Subscription-anchored — each phase adds a line, never fee-splits.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5486400" cy="384048"/>
          </a:xfrm>
          <a:prstGeom prst="roundRect">
            <a:avLst>
              <a:gd name="adj" fmla="val 50000"/>
            </a:avLst>
          </a:prstGeom>
          <a:solidFill>
            <a:srgbClr val="E7C15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727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= live pricing · Phases 2–5 = illustrative planned targets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2103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(per firm / per matter)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20840" y="2103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10835640" cy="475488"/>
          </a:xfrm>
          <a:prstGeom prst="roundRect">
            <a:avLst>
              <a:gd name="adj" fmla="val 1346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334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Intake (now)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63347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 / $549 / $1,490 /mo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26334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subscriptions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0" y="263347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163824"/>
            <a:ext cx="10835640" cy="475488"/>
          </a:xfrm>
          <a:prstGeom prst="roundRect">
            <a:avLst>
              <a:gd name="adj" fmla="val 1346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6382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Litigation Ops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16382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~$249/mo add-on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316382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revenue per firm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316382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694176"/>
            <a:ext cx="10835640" cy="475488"/>
          </a:xfrm>
          <a:prstGeom prst="roundRect">
            <a:avLst>
              <a:gd name="adj" fmla="val 1346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9417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Expert Marketplace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69417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facilitation fee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369417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Take-rate on expert services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369417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Counsel-gated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224528"/>
            <a:ext cx="10835640" cy="475488"/>
          </a:xfrm>
          <a:prstGeom prst="roundRect">
            <a:avLst>
              <a:gd name="adj" fmla="val 1346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2245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Funding Facilitation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2245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~1–2% referral fee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422452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funder — never lender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0" y="42245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Regulation-gated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4754880"/>
            <a:ext cx="10835640" cy="475488"/>
          </a:xfrm>
          <a:prstGeom prst="roundRect">
            <a:avLst>
              <a:gd name="adj" fmla="val 1346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7548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Expansion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47548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 / $549 / $1,490 × vertical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475488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Multiplied subscription 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0" y="475488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5468112"/>
            <a:ext cx="10835640" cy="822960"/>
          </a:xfrm>
          <a:prstGeom prst="roundRect">
            <a:avLst>
              <a:gd name="adj" fmla="val 13333"/>
            </a:avLst>
          </a:prstGeom>
          <a:solidFill>
            <a:srgbClr val="E7EDE8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46811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numbers:  </a:t>
            </a:r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~15% on a $3K expert ≈ $450/matter · P4 ~1–2% on $50K funded ≈ $500–1,000/matter · both counsel-/regulation-gated and dark until cleared. Holds across every phase: core value never gated · no fee-splitting ever · referrer, never lender, never counsel.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Billing &amp; commissions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5486400" cy="54864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GOES LIVE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lock in.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02920" cy="50292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Stripe products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7249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tiers need real Stripe price IDs wired into checkout. Operator work in the Stripe dashboard.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502920" cy="50292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the commission basis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8679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 the written rep agreement whether 20% is on gross ($549) or net-of-Stripe. This ref assumes gross.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663440"/>
            <a:ext cx="502920" cy="50292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the COGS estimate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50109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~$30–60/firm AI + infra figure is modeled — confirm it from the first paying firms’ real usage.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Billing &amp; commissions reference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one3seven</dc:creator>
  <cp:lastModifiedBy>one3seven</cp:lastModifiedBy>
  <cp:revision>1</cp:revision>
  <dcterms:created xsi:type="dcterms:W3CDTF">2026-07-16T18:33:25Z</dcterms:created>
  <dcterms:modified xsi:type="dcterms:W3CDTF">2026-07-16T18:33:25Z</dcterms:modified>
</cp:coreProperties>
</file>