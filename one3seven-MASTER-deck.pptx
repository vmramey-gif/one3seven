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EXECUTION SCENARIOS, NOT A PROMISE. Reality today: pre-pilot, zero paying firms — first pilots target Aug 3. Expect the diligence question “what’s your ARR, retention, and CAC right now?” — the honest answer is “we launch Aug 3.” The Base case is deliberately anchored to the funnel (~350 CELA firms, ~11% conversion, blended ~$420/mo ≈ $210K ARR yr-1 → ~$1.5M ARR yr-3 → 10–15×). If you can’t defend that arithmetic in one breath, cut this slide to an appendix and open on team + wedge + early signal instead — seed investors weight those over TAM math. The bear case includes failure; most startups return $0. “Today (invest-at)” = the SAFE cap an investor prices, NOT an outright sale. BIGGER RISK THAN ANY SLIDE WORDING: the unpapered founders’ agreement + IP assignment with Tad and the operating agreement. A serious investor asks about the cap table and founder docs BEFORE your Bull case — get all three signed before serious investor conversations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PREREQUISITE: sign the founder + IP-assignment agreement with Tad and clean the cap table BEFORE taking outside money — investors require it in diligence. Leilani invests on the same SAFE at arm’s length. Raise number and use-of-funds are a recommendation — adjust to your real hiring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840480" cy="3840480"/>
          </a:xfrm>
          <a:prstGeom prst="ellipse">
            <a:avLst/>
          </a:prstGeom>
          <a:solidFill>
            <a:srgbClr val="3C4E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CALIFORNIA EMPLOYMENT FIRMS · WORKER-FIRST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organized-intake layer for plaintiff-side firms.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“Judgment deserves an organized record.”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partner overview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0" y="5943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wronged worker arrives with a shoebox.</a:t>
            </a:r>
            <a:endParaRPr lang="en-US" sz="3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has to rebuild the record first.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324612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24612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stubs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904488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termination letter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04488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4562856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628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562856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5628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half-remembered dates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931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720840" y="2651760"/>
            <a:ext cx="4800600" cy="3200400"/>
          </a:xfrm>
          <a:prstGeom prst="roundRect">
            <a:avLst>
              <a:gd name="adj" fmla="val 342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246120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34473F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2461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9 — Concern raised with HR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3904488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34473F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90448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 — Written warning issued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562856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34473F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45628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10 — Employment terminated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links back to its source document.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became unavoidable — so restraint became a feature.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10835640" cy="1005840"/>
          </a:xfrm>
          <a:prstGeom prst="roundRect">
            <a:avLst>
              <a:gd name="adj" fmla="val 9091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61518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entering law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34840" y="2468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will adopt AI whether they invite it or not — they need a way to do it without the hallucination + UPL risk.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10835640" cy="1005840"/>
          </a:xfrm>
          <a:prstGeom prst="roundRect">
            <a:avLst>
              <a:gd name="adj" fmla="val 9091"/>
            </a:avLst>
          </a:prstGeom>
          <a:solidFill>
            <a:srgbClr val="27332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75818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 316 (California)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3611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“the AI acted on its own” defense. Attorneys now need traceable, source-linked output to protect themselves — exactly our design.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754880"/>
            <a:ext cx="10835640" cy="1005840"/>
          </a:xfrm>
          <a:prstGeom prst="roundRect">
            <a:avLst>
              <a:gd name="adj" fmla="val 9091"/>
            </a:avLst>
          </a:prstGeom>
          <a:solidFill>
            <a:srgbClr val="27332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90118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worker-protective state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4754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has the highest intake volume and the most time-sensitive deadlines — the pain is sharpest here, first.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60350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316 = California AI-accountability law (2025)  ·  UPL = Unauthorized Practice of Law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concentrated wedge into a platform-sized market.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— bottom-up, to be validated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01568" cy="3108960"/>
          </a:xfrm>
          <a:prstGeom prst="roundRect">
            <a:avLst>
              <a:gd name="adj" fmla="val 352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0604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1,000–3,000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plaintiff-employment firms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CELA has ~1,400+ plaintiff-side employment attorneys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2286000"/>
            <a:ext cx="3401568" cy="3108960"/>
          </a:xfrm>
          <a:prstGeom prst="roundRect">
            <a:avLst>
              <a:gd name="adj" fmla="val 352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0604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500K+ / yr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81728" y="35204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workers with a potential issue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4206240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 ~20K+ complaints · Labor Comm’r ~30K+ wage claims · + EEOC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9016" y="2286000"/>
            <a:ext cx="3401568" cy="3108960"/>
          </a:xfrm>
          <a:prstGeom prst="roundRect">
            <a:avLst>
              <a:gd name="adj" fmla="val 352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260604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$10–15M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03336" y="352044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 intake-software SAM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3336" y="4206240"/>
            <a:ext cx="2852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$150M+ national plaintiff-employment → $B platform TAM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60350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= Total / Serviceable Addressable Market  ·  CELA = CA Employment Lawyers Assn  ·  CRD = CA Civil Rights Dept  ·  EEOC = Equal Employment Opportunity Commission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source-linked intake packet —</a:t>
            </a:r>
            <a:endParaRPr lang="en-US" sz="3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before the first call.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worker's own account, preserved word-for-word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timeline of what happened, in order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grouped and labeled by type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surfaced for the attorney to review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clickable back to its source page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INTAKE PACKET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3524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Rivera · Pacific Ridge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35240" y="3246120"/>
            <a:ext cx="3520440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34290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complaint filed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35240" y="408736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4087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warning (11 days later)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474573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7457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— “performance”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524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Source: hr-complaint.pdf · p.1 · view source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steps. No prompts, no chatbot.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78892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uploads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 + their story, in their own 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3048" y="278892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3813048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67328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 organizes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67328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dated, source-linked timeline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0216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0256" y="278892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6620256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4536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is preserved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4536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grouped, every fact traced to its origin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07424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27464" y="2788920"/>
            <a:ext cx="640080" cy="64008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21" name="Text 19"/>
          <p:cNvSpPr/>
          <p:nvPr/>
        </p:nvSpPr>
        <p:spPr>
          <a:xfrm>
            <a:off x="9427464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81744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Attorney reviews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1744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clean file and decides — the judgment is theirs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· WHAT A FIRM RECEIVES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source-linked packet. Everything organized.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060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timeline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309067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source-linked sequence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07408" y="237744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26060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Extracted facts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81728" y="309067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straight from the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9016" y="237744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03336" y="26060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03336" y="309067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vs. worker-reported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251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questions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ask, ready to go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7408" y="402336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251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Wage-exposure estimate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81728" y="47365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Records-based arithmetic · premium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9016" y="402336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3336" y="4251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prompts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03336" y="47365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missing, so it self-completes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organizes and reflects.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concludes.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restraint is the product — and the legal moat. one3seven deliberately does NOT: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or rank a case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80760" y="320040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3200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outcomes or settlements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160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or select attorneys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0760" y="416052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4160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legal advice, ever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that draft, score, or predict edge toward the UPL line. Our refusal is why an attorney can safely adopt 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60350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 = Unauthorized Practice of Law — giving legal advice without a license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WORKER-FIRST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owns the record — start to finish.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5176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81912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Owns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1912" y="3063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words belong to them — never sold, never taken over.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3317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265176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22592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sharing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30632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a firm until they choose. Their employer is never notified.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52628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81912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locked 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1912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— the same record can go to more than one firm.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20624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52628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22592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Deletes anytime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93776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their account and their decision, start to finish.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category of one — the pre-client intake layer.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80360" y="233172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Plaintiff-side AI that drafts &amp; analyzes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233172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toward drafting/analysis — closer to the UPL line. We’re organize-only and pre-client.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10712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410712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341071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practice-management incumbent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410712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ops after someone’s a client. We’re the intake layer that comes before it — we feed Clio.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489704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89704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4489704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directory + marketing + listings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4489704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directory/marketing play (referral-adjacent). Not intake organization at all.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is the only worker-first, organize-never-conclude, source-linked pre-client intake layer.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subscriptions. Core value on every tier.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01568" cy="2377440"/>
          </a:xfrm>
          <a:prstGeom prst="roundRect">
            <a:avLst>
              <a:gd name="adj" fmla="val 461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$249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05840" y="3566160"/>
            <a:ext cx="2761488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70332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intakes · 2 seats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2194560"/>
            <a:ext cx="3401568" cy="2377440"/>
          </a:xfrm>
          <a:prstGeom prst="roundRect">
            <a:avLst>
              <a:gd name="adj" fmla="val 4615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23774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18304" y="274320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$549</a:t>
            </a:r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718304" y="3566160"/>
            <a:ext cx="2761488" cy="0"/>
          </a:xfrm>
          <a:prstGeom prst="line">
            <a:avLst/>
          </a:prstGeom>
          <a:noFill/>
          <a:ln w="12700">
            <a:solidFill>
              <a:srgbClr val="3447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70332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intakes · 5 seats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0728" y="2194560"/>
            <a:ext cx="3401568" cy="2377440"/>
          </a:xfrm>
          <a:prstGeom prst="roundRect">
            <a:avLst>
              <a:gd name="adj" fmla="val 4615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3774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30768" y="274320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$1,490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 · annual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430768" y="3566160"/>
            <a:ext cx="2761488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370332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dedicated onboarding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7223760" cy="1143000"/>
          </a:xfrm>
          <a:prstGeom prst="roundRect">
            <a:avLst>
              <a:gd name="adj" fmla="val 9600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920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tier: </a:t>
            </a:r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organized, source-linked packet. Workers always free. No per-client fees, no fee-splitting.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4892040"/>
            <a:ext cx="3383280" cy="1143000"/>
          </a:xfrm>
          <a:prstGeom prst="roundRect">
            <a:avLst>
              <a:gd name="adj" fmla="val 9600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4892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add-on
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Wage-exposure estimate (Firm+ / Enterprise).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GROSS SALES (ILLUSTRATIVE)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first-year gross sales could look like.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1208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swap in your close-rate + tier mix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233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firms · M12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 · 12 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run-rate (ARR)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898648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986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8986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8986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~$37K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0" y="2898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~$96K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57016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570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55701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55701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~$85K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0" y="35570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~$210K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215384"/>
            <a:ext cx="10835640" cy="603504"/>
          </a:xfrm>
          <a:prstGeom prst="roundRect">
            <a:avLst>
              <a:gd name="adj" fmla="val 12121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153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42153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2153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421538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~$380K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investors: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exit run-rate and slope — year-one gross is small by design for recurring revenue.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</a:t>
            </a:r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~$420/mo · workers free · ~1-mo ramp to paid (7-day pilot + onboarding) · rep commission ≈ 20% of gross.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60350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= Annual Recurring Revenue  ·  exit run-rate = current monthly revenue × 12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(ILLUSTRATIVE)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SaaS shape once the motion is proven.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~$500–1,500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firm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time + 20% commission + marketing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237744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2733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~$10–13K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~$420/mo × a 2–3 year firm lifetime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2733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~8–20×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3× SaaS benchmark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16052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2733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~75–85%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minus Claude inference + storage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60350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= Customer Acquisition Cost  ·  LTV = Lifetime Value  ·  SaaS = Software-as-a-Service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· WHERE WE ARE TODAY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live, and pointed at first revenue.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is LIVE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8163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intake + worker dashboard + firm dashboard, all live.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60604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demos live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81635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see the product without an account (/demo).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84048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in place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0507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Ventures LLC formed · EIN.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52044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built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40507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91-firm California plaintiff-employment prospect list in the CRM.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5488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07492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revenue imminent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8523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pilot underway — target: first 3 paying firms.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754880"/>
            <a:ext cx="5120640" cy="109728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Founder-validated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528523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ran the method on her own claim — validation #1.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organized record — a platform in phases.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Intake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source-linked intake. The worker owns it and chooses their own attorney.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718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Litigation Ops + Teleprompt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case file + Teleprompt — an AI-guided human coordinator, never the worker. The sticky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947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+ Portable Record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1148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experts briefed from the record, plus a worker-owned portable record.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370332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Anti-kickback · gate: 3–5 paying firms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6177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Facilitation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9377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firms to litigation funders — referral only, never the lender.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5262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8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TPLF regulated — verify CA · N.D.Cal Rule 3-15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534924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4406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7607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Multi-state, then multi-category (insurance · toxic-tort).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30936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participating-firms network unlocks only with State Bar referral-service certification (§6155).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SEQUENCE — AND 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is powered by the one before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· Intake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201168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now: AI + AB 316 make firms need a safe way to adopt AI. Example: a firm opens an organized file instead of running a 90-minute intake meeting.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34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· Litigation Ops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8346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firms trust you with intake — extending into their case workflow is natural and hard to leave. Example: the same intake becomes the trial notebook.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· Marketplace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65760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you hold organized records + firm relationships — experts get briefed in minutes. Example: a vocational expert, briefed straight from the record.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805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· Funding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448056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you have data signal + firm trust — you refer firms to funders (never lend). Example: a documented case portfolio matched to a funder for cash flow.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303520"/>
            <a:ext cx="10835640" cy="749808"/>
          </a:xfrm>
          <a:prstGeom prst="roundRect">
            <a:avLst>
              <a:gd name="adj" fmla="val 10976"/>
            </a:avLst>
          </a:prstGeom>
          <a:solidFill>
            <a:srgbClr val="2733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3035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· Expansion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530352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the California engine is proven — replicate the playbook. Example: the same intake engine mapped to insurance claims.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organized record is the asset that compounds — each phase monetizes what the last one built.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18 months, by date.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2331720"/>
            <a:ext cx="0" cy="3474720"/>
          </a:xfrm>
          <a:prstGeom prst="line">
            <a:avLst/>
          </a:prstGeom>
          <a:noFill/>
          <a:ln w="25400">
            <a:solidFill>
              <a:srgbClr val="4257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331720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1F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2286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paying pilot firms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965960" y="3044952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1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9992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 firms · founder+IP agreement done · close pre-seed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965960" y="3758184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1F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124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2027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7124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~30–40 firms · ~$250K ARR · worker-acquisition engine live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965960" y="4471416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1F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425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44256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~50+ firms · litigation-ops layer · retention proven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965960" y="5184648"/>
            <a:ext cx="274320" cy="274320"/>
          </a:xfrm>
          <a:prstGeom prst="ellipse">
            <a:avLst/>
          </a:prstGeom>
          <a:solidFill>
            <a:srgbClr val="42574E"/>
          </a:solidFill>
          <a:ln w="25400">
            <a:solidFill>
              <a:srgbClr val="F1F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38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E7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51389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Expert-marketplace validation · multi-state prep · seed round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COULD BE WORTH (ILLUSTRATIVE)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potential — bear, base, and bull.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scenarios — not a forecast or a promise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06440" y="162763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Pre-pilot today: zero paying firms. First pilots target Aug 3 — this is what execution could produce.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835640" cy="402336"/>
          </a:xfrm>
          <a:prstGeom prst="roundRect">
            <a:avLst>
              <a:gd name="adj" fmla="val 1590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060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(invest-at)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$3–6M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0" y="26060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10835640" cy="402336"/>
          </a:xfrm>
          <a:prstGeom prst="roundRect">
            <a:avLst>
              <a:gd name="adj" fmla="val 1590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632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months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$2–4M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$4–8M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0" y="30632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$8–15M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520440"/>
            <a:ext cx="10835640" cy="402336"/>
          </a:xfrm>
          <a:prstGeom prst="roundRect">
            <a:avLst>
              <a:gd name="adj" fmla="val 1590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204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years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$4–8M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6656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$12–25M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0" y="35204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$30–60M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3977640"/>
            <a:ext cx="10835640" cy="402336"/>
          </a:xfrm>
          <a:prstGeom prst="roundRect">
            <a:avLst>
              <a:gd name="adj" fmla="val 1590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776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years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891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$15–30M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$60–120M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0" y="39776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$150–300M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" y="4434840"/>
            <a:ext cx="10835640" cy="402336"/>
          </a:xfrm>
          <a:prstGeom prst="roundRect">
            <a:avLst>
              <a:gd name="adj" fmla="val 1590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348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years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3891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6656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$400–800M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44000" y="44348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4864608"/>
            <a:ext cx="10835640" cy="1170432"/>
          </a:xfrm>
          <a:prstGeom prst="roundRect">
            <a:avLst>
              <a:gd name="adj" fmla="val 9375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992624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defended:  </a:t>
            </a:r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of ~350 CELA firms convert at a blended ~$420/mo ≈ $210K ARR in year 1, scaling toward ~$1.5M ARR by year 3 — valued at ~10–15× ARR. That arithmetic, not the headline number, is the case.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55412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Clio, a legal-software company in this category, makes ~$200M/yr and is worth ~$3B — proof the ceiling is real at scale.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WORTH THAT MUCH — IN PLAIN ENGLISH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= the repeating money you’ll make × a multiplier.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304288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2402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company’s worth isn’t the cash in its bank — it’s how much money people believe it will make.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081528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subscription software, take the money that repeats every year (ARR) and multiply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858768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7947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+ growing fast = a huge multiplier (20–40×). Bigger + proven = a normal one (8–10×) on much larger revenue. Both climb.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636008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5720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$8M/yr that repeats × ~10× ≈ $80M. Bigger revenue, same math, is how you reach a billion.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413248"/>
            <a:ext cx="411480" cy="41148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413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349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it’s real: Clio makes ~$200M/yr and is worth ~$3B — the same category.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603504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= Annual Recurring Revenue (money that repeats each year)  ·  SAFE = a simple contract: invest now, get shares later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Founder-market fit — lived, not researched.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 was built by someone who lived the problem — who organized her own scattered records into the exact source-linked file this product now produces.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290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74904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Lived 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was proven on the founder’s own claim before it was ever a product.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34290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374904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Founder-built &amp; live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44805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 is already shipped — not a concept on a slide.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64424" y="34290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374904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&amp; sales-led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84464" y="44805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team pointed at first revenue, not headcount.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~$650K pre-seed — 18 months of runway.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SAFE. Enough to reach ~30–50 paying firms and prove the model before a seed 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374A4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9443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88920" y="27432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storage / infra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374A4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9443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comp + commissions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374A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361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88920" y="41605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(worker + firm)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41605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374A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3616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41605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legal &amp; buffer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founder + IP-assignment agreement signed and a clean cap table before outside capital.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built one3seven after living the problem myself — more than once.”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organized my own scattered records into a clear, source-linked file and gave it to my attorneys. I saw first-hand what a clean record does for a professional’s time. That is the entire product — the tool I wished I’d had.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founder, one3seven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108960"/>
            <a:ext cx="5486400" cy="54864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file. Decide in minutes.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organized-intake layer for California employment firms — worker-first, and built to keep the judgment where it belongs.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548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03320" y="475488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374A42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4754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victoria@one3seven.com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GLOSSARY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Terms &amp; acronyms, defined.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2194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Practice of Law — legal advice without a license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27157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 316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7157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law removing the “the AI acted on its own” defense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23697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32369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Civil Rights Department (formerly DFEH)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7581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EEOC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375818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Equal Employment Opportunity Commission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279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42793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Employment Lawyers Association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/ SAM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4800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Serviceable Addressable Market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3218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/ MRR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53218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/ Monthly Recurring Revenue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58430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58430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21945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2194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of a customer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271576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27157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Software-as-a-Service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323697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2369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Agreement for Future Equity (early-stage investment)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37581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375818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startup funding stage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4279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TPLF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42793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Litigation Funding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48006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§6155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4800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law governing lawyer referral services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53218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N.D. Cal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53218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District Court, Northern District of California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58430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/ LLC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58430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 ID / Limited Liability Company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BILLING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firm pays — and where $549 goes.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FIRM PAYS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subscription — never per-case, per-lead, or a share of a legal fee.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$249/mo · Firm $549/mo · Surge $1,490/mo (annual).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charges the card; a webhook flips the plan to active.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7-day pilot for every firm; core value is never gated (tiers buy volume).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earn 20% recurring — every month the firm stays active.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03520" cy="3977640"/>
          </a:xfrm>
          <a:prstGeom prst="roundRect">
            <a:avLst>
              <a:gd name="adj" fmla="val 275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$549 FIRM PLAN GOES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pays (gross)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82980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$549.00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3310128"/>
            <a:ext cx="4754880" cy="0"/>
          </a:xfrm>
          <a:prstGeom prst="line">
            <a:avLst/>
          </a:prstGeom>
          <a:noFill/>
          <a:ln w="9525">
            <a:solidFill>
              <a:srgbClr val="4E61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015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Stripe (2.9% + $0.30)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829800" y="3401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~$16.22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3877056"/>
            <a:ext cx="4754880" cy="0"/>
          </a:xfrm>
          <a:prstGeom prst="line">
            <a:avLst/>
          </a:prstGeom>
          <a:noFill/>
          <a:ln w="9525">
            <a:solidFill>
              <a:srgbClr val="4E61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68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Rep commission (20%)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29800" y="3968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$109.80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4443984"/>
            <a:ext cx="4754880" cy="0"/>
          </a:xfrm>
          <a:prstGeom prst="line">
            <a:avLst/>
          </a:prstGeom>
          <a:noFill/>
          <a:ln w="9525">
            <a:solidFill>
              <a:srgbClr val="4E61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535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AI + infra (estimate)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29800" y="45354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~$30–60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5010912"/>
            <a:ext cx="4754880" cy="0"/>
          </a:xfrm>
          <a:prstGeom prst="line">
            <a:avLst/>
          </a:prstGeom>
          <a:noFill/>
          <a:ln w="9525">
            <a:solidFill>
              <a:srgbClr val="4E61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5102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Company margin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5102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~$363–393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5715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66–72% of gross stays with the company.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PRICING THROUGH THE PHASES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phase adds a revenue line — never a fee-split.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48640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727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= live pricing · Phases 2–5 = illustrative planned targets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103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(per firm / per matter)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20840" y="2103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2103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Intake (now)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63347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 / $549 / $1,490 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6334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subscriptions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26334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163824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638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Litigation 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16382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~$249/mo add-on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16382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revenue per firm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316382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94176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9417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Expert Marketplace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69417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facilitation fee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369417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Take-rate on expert services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36941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Counsel-gated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24528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245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Funding Facilitation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2245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~1–2% referral fee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422452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funder — never lender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0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Reg-gated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4754880"/>
            <a:ext cx="10835640" cy="475488"/>
          </a:xfrm>
          <a:prstGeom prst="roundRect">
            <a:avLst>
              <a:gd name="adj" fmla="val 13462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5488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Expansion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7548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 / $549 / $1,490 × vertical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47548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Multiplied subscription 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475488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" y="5468112"/>
            <a:ext cx="10835640" cy="822960"/>
          </a:xfrm>
          <a:prstGeom prst="roundRect">
            <a:avLst>
              <a:gd name="adj" fmla="val 13333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46811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numbers:  </a:t>
            </a:r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~15% on a $3K expert ≈ $450/matter · P4 ~1–2% on $50K funded ≈ $500–1,000/matter — both stay dark until counsel/regulatory sign-off. Every line is for software or facilitation, never a share of a legal fee.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ORG &amp; HIRING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team through the phases.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ranges · hire against gates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· funding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7764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hires added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officer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10412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10835640" cy="585216"/>
          </a:xfrm>
          <a:prstGeom prst="roundRect">
            <a:avLst>
              <a:gd name="adj" fmla="val 10938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3464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Intake (now) · pre-seed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77640" y="28346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 · CS/onboarding · +1 sales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283464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04120" y="283464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10835640" cy="585216"/>
          </a:xfrm>
          <a:prstGeom prst="roundRect">
            <a:avLst>
              <a:gd name="adj" fmla="val 10938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747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Lit Ops + Teleprompt · seed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640" y="34747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eng · CS lead · product/design · +1–2 sales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34747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Head of Product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104120" y="347472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114800"/>
            <a:ext cx="10835640" cy="585216"/>
          </a:xfrm>
          <a:prstGeom prst="roundRect">
            <a:avLst>
              <a:gd name="adj" fmla="val 10938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1480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Marketplace + Record · seed/A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77640" y="411480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ops · data/security eng · +eng · +CS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0" y="411480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04120" y="411480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~18–28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754880"/>
            <a:ext cx="10835640" cy="585216"/>
          </a:xfrm>
          <a:prstGeom prst="roundRect">
            <a:avLst>
              <a:gd name="adj" fmla="val 10938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548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Funding Facilitation · Series 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77640" y="47548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partnerships/BD · finance lead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GC/CCO · CFO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104120" y="475488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~28–45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394960"/>
            <a:ext cx="10835640" cy="585216"/>
          </a:xfrm>
          <a:prstGeom prst="roundRect">
            <a:avLst>
              <a:gd name="adj" fmla="val 10938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39496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Expansion · A/B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977640" y="539496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GMs · marketing · scaled sales/CS/eng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539496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04120" y="539496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~55–120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gap: the founder is the sole builder — a lead engineer is the first hire of the raise.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486400" cy="54864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MANDATORY IMMEDIATE HIRES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must put in place now — non-negotiable.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0835640" cy="822960"/>
          </a:xfrm>
          <a:prstGeom prst="roundRect">
            <a:avLst>
              <a:gd name="adj" fmla="val 11111"/>
            </a:avLst>
          </a:prstGeom>
          <a:solidFill>
            <a:srgbClr val="34473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59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/ Lead Engineer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2807208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07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· FTE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2331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cannot both scale the product and run the company. First dollar of the raise.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264408"/>
            <a:ext cx="10835640" cy="822960"/>
          </a:xfrm>
          <a:prstGeom prst="roundRect">
            <a:avLst>
              <a:gd name="adj" fmla="val 11111"/>
            </a:avLst>
          </a:prstGeom>
          <a:solidFill>
            <a:srgbClr val="3447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92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Success / Onboarding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739896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39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· FTE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32644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retention-tied (20% recurring commission). Someone must own activation and keeping firms live.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197096"/>
            <a:ext cx="10835640" cy="822960"/>
          </a:xfrm>
          <a:prstGeom prst="roundRect">
            <a:avLst>
              <a:gd name="adj" fmla="val 11111"/>
            </a:avLst>
          </a:prstGeom>
          <a:solidFill>
            <a:srgbClr val="34473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25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 counsel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4672584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2E3D3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6725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· FRACTIONAL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419709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+ IP-assignment agreement, entity clean-up, UPL review — must clear before outside capital.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129784"/>
            <a:ext cx="10835640" cy="822960"/>
          </a:xfrm>
          <a:prstGeom prst="roundRect">
            <a:avLst>
              <a:gd name="adj" fmla="val 11111"/>
            </a:avLst>
          </a:prstGeom>
          <a:solidFill>
            <a:srgbClr val="3447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Bookkeeper / fractional finance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05840" y="560527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2E3D3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605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· FRACTIONAL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512978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books and a cap table an investor can diligence.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four gate the raise and Phase 2 — everything later is sequenced behind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2026-07-18T20:01:21Z</dcterms:created>
  <dcterms:modified xsi:type="dcterms:W3CDTF">2026-07-18T20:01:21Z</dcterms:modified>
</cp:coreProperties>
</file>